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 that is what 'local' and 'edge' mean for the next forty minutes. Then set the map in one breath, reading the line at the bottom of the slide: 'By the end you'll be able to model an agent's state as documents, index for the questions the agent actually asks, and decide what memory reacts, expires and can explain itself.' That is the whole talk in a sentence; slide 8 repeats it as three promises and slide 21 closes on it. Don't say the word database yet. The reveal that this is a data-modelling problem comes about five minutes 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One line on the badges row, no more: 'I did two of MongoDB's own skill badges while preparing this — Building AI Agents with MongoDB, and AI and Innovation: How MongoDB Enables a Resilient AI Strategy — so where the talk uses MongoDB's terms, that is where they come from. Schema Design Patterns is the one I'm on now; it is the badge this talk recommends.' Point at the QR: the SimCity model is open if they want to follow the database side live.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 you return to them at 'Where does this live?' and at 'What to take back'. The panel should say the problem out loud before you name it. TRANSITION: 'Hold those answers. Let me show you where mine came from.'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 not one endpoint, the whole workflow: projects, data, DSP blocks, training jobs, results. Five evenings. Built off the public Postman collection so no source left the laptop. Low-level tools stayed close to the REST API; skills on top for the things agents keep trying to do — train, wait, tune, compare. The sentence that made it feel real: 'Train this project, optimise for accuracy under constraints, and tell me what changed.' Edge context in one line: this is a platform that puts ML on devices the size of a coin —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 MongoDB now ships the same idea for its own database as Agent Skills, which comes back on the where-to-go-next slide. DROP IN: the MCP server response screenshot from the blog post. ONE LINE for the LangChain crowd, no more in a two-minute slot: 'If you know LangChain tools —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 this is you telling a story about your own evenings. The key wasn't MCP, it was engineering discipline so the agent couldn't bluff its way through. Three moves. One: walk the API and stub everything — a mock server so I could shape the tool surface without hammering real jobs. Two: tests for every tool — happy path, failure path, missing params, weird edge cases. That was the biggest unlock: without tests the agent happily moves forward on assumptions; with them I could tell whether a failure was my wrapper, the endpoint, or the agent being silly. Three: agent-friendly helpers — waiting and polling on long jobs, clear org-vs-project scoping, stricter validation. Flag the third one: 'remember those three helpers — they are the whole second half of this talk.' DROP IN: the testing-framework screenshot from the blog post.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 they were plumbing. Straight from the logs: IDs everywhere — block IDs, project IDs, org numbers — and the agent had to be told them or go and discover them before doing anything destructive. Job timing — training takes minutes, so wait / status / retry, and if the process died in between, the job was orphaned. State management —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 works until the context fills or the process restarts; a file — one agent, one machine; a cache —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Three promises, not five. Say them as promises and return to them at the end as the takeaways. TRANSITION: 'Objective one — modelling the state. And the odd thing about modelling in a document database is that you don't start with the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 and then pick it apart.'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 job events, training logs, artifacts. And a third column people forget: the append-only log — actions, status transitions, approvals — because the question 'why did it do that?' is a history question. Q&amp;A fodder: the 16 MB limit, unbounded arrays, the subset pattern, duplication versus a second read. ANALOGY: embedding is a passport with your photo printed in it — everything you need in one read. Referencing is a reference number to a file held somewhere else — a second lookup, but the file can grow and be shared. TRANSITION: 'That's objective one done — we have a shape. Objective two: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 let them argue it.) ANALOGY: an index is the index at the back of a textbook — you build it for the questions readers actually ask, and every page you add means updating it. TRANSITION: 'Reads sorted. Now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 the database rings when the thing you care about changes. TRANSITION: 'Objective three starts here: deciding what memory actually means. First question —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 fine for scratch data, which is the point; nothing with a correctness requirement should rely on it. ANALOGY: expiresAt is a best-before date stamped when the milk is bottled —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 same staff directory, different question. TRANSITION: 'Last piece of memory: not what the agent knows, but what it was allowed to do.'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 that's the audit collection. It's a field, not a feature.'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 start with the questions. Index for the questions — every index is a trade. Treat AI memory as data — persist what matters, expire what doesn't, make actions explainable.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 sixty to ninety minutes each with a Credly badge; AI Agents with MongoDB and Schema Design Patterns follow this talk directly — and the book: From Systems of Record to Agentic Systems of Action, Packt 2026, written by MongoDB practitioners; it covers exactly this ground at enterprise scale — agent memory and working state, event-driven sync, controlled writeback, human oversight, auditability. Ask: the Community Forums, where the engineering team answers, and the docs — the four pages behind this talk are on the corner QRs; the docs assistant answers most 'how do I' questions directly. Build: MongoDB Agent Skills —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 it's to leave you knowing where the answer lives.'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 in LangGraph the checkpointer, keyed by thread_id, which is exactly our runId. Long-term memory is what the agent learned across runs — the Store, namespaced by project. Both are collections; both get indexes, TTL and audit like everything else. If they raise LangChain tools versus my MCP tools: same contract to the model, different home —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 runs that derived from runs, a device's deployments —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 when does it stop working? read pattern first; unbounded growth; 16 MB is the symptom, the hot cache page is the disease; split runs out, keep a summary in the project. (2) change-stream consumer down for an hour — resume token; oplog window; past it, re-scan by updatedAt since last processed; idempotent handler either way. (3) two agents pick up the same approved action — the approval record is the lock: conditional update approved→executing with the agent id, one wins, the other matches zero. (4) why not Postgres JSONB — it works; depends whether hot queries are over the document shape or across it; be honest, then name what you'd lose: change streams, per-document TTL, vector index beside the document. (5) what's wrong with your index —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 the MongoDB MCP Server gives a coding agent the live database, so it reads real schemas and indexes instead of guessing. Agent-friendly helpers → Agent Skills: a Schema Design skill (embed vs reference, validation), a Query Optimizer (checks the index actually serves the query —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Screen-share only, never read from the slide. Two moments: on slide 14, twenty seconds with the workload on OLTP, point at the particles leaving the oplog district toward the consumer, that is the change stream; in Q&amp;A for the cache question, the WiredTiger district with dirty pages in orange and the eviction thresholds in the settings. Set the workload to 'Vector search, agent RAG' if asked about slide 17: mongot sits beside the cache, same documents. Keep it under a minute each time; the model is a visual aid, not a second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5074920"/>
            <a:ext cx="7589520" cy="68580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model agent state as documents  ·  index for the questions the agent asks  ·  decide what memory reacts, expires and can explain itself</a:t>
            </a:r>
            <a:endParaRPr lang="en-US" sz="1400" dirty="0"/>
          </a:p>
        </p:txBody>
      </p:sp>
      <p:pic>
        <p:nvPicPr>
          <p:cNvPr id="6" name="drawio-s01-motif" descr="s01-motif.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txBody>
          <a:bodyPr/>
          <a:p/>
        </p:txBody>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txBody>
          <a:bodyPr/>
          <a:p/>
        </p:txBody>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txBody>
          <a:bodyPr/>
          <a:p/>
        </p:txBody>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on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txBody>
          <a:bodyPr/>
          <a:p/>
        </p:txBody>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6" name="label-badges-k"/>
          <p:cNvSpPr txBox="1"/>
          <p:nvPr/>
        </p:nvSpPr>
        <p:spPr>
          <a:xfrm>
            <a:off x="960120" y="605332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Badges</a:t>
            </a:r>
            <a:endParaRPr lang="en-US" sz="1500" dirty="0"/>
          </a:p>
        </p:txBody>
      </p:sp>
      <p:sp>
        <p:nvSpPr>
          <p:cNvPr id="17" name="label-badges"/>
          <p:cNvSpPr txBox="1"/>
          <p:nvPr/>
        </p:nvSpPr>
        <p:spPr>
          <a:xfrm>
            <a:off x="2286000" y="6053328"/>
            <a:ext cx="5486400" cy="640080"/>
          </a:xfrm>
          <a:prstGeom prst="rect">
            <a:avLst/>
          </a:prstGeom>
          <a:noFill/>
          <a:ln/>
        </p:spPr>
        <p:txBody>
          <a:bodyPr wrap="square" lIns="0" tIns="0" rIns="0" bIns="0" rtlCol="0" anchor="t"/>
          <a:lstStyle/>
          <a:p>
            <a:pPr algn="l" indent="0" marL="0">
              <a:buNone/>
            </a:pPr>
            <a:r>
              <a:rPr lang="en-US" sz="13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15" name="dot-badges"/>
          <p:cNvSpPr/>
          <p:nvPr/>
        </p:nvSpPr>
        <p:spPr>
          <a:xfrm>
            <a:off x="685800" y="6144768"/>
            <a:ext cx="146304" cy="146304"/>
          </a:xfrm>
          <a:prstGeom prst="ellipse">
            <a:avLst/>
          </a:prstGeom>
          <a:solidFill>
            <a:schemeClr val="accent2"/>
          </a:solidFill>
          <a:ln w="12700">
            <a:solidFill>
              <a:schemeClr val="accent2"/>
            </a:solidFill>
            <a:prstDash val="solid"/>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drawio-s04-pipeline" descr="s04-pipeline.png"/>
          <p:cNvPicPr>
            <a:picLocks noChangeAspect="1"/>
          </p:cNvPicPr>
          <p:nvPr/>
        </p:nvPicPr>
        <p:blipFill>
          <a:blip r:embed="rId6"/>
          <a:stretch>
            <a:fillRect/>
          </a:stretch>
        </p:blipFill>
        <p:spPr>
          <a:xfrm>
            <a:off x="640080" y="1828800"/>
            <a:ext cx="10881360" cy="122686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4"/>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s07-wher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a:t>
            </a:r>
            <a:endParaRPr lang="en-US" sz="3200" dirty="0"/>
          </a:p>
        </p:txBody>
      </p:sp>
      <p:sp>
        <p:nvSpPr>
          <p:cNvPr id="4" name="num-114"/>
          <p:cNvSpPr txBox="1"/>
          <p:nvPr/>
        </p:nvSpPr>
        <p:spPr>
          <a:xfrm>
            <a:off x="822960" y="173736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164592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the state</a:t>
            </a:r>
            <a:endParaRPr lang="en-US" sz="2600" dirty="0"/>
          </a:p>
        </p:txBody>
      </p:sp>
      <p:sp>
        <p:nvSpPr>
          <p:cNvPr id="6" name="label-116"/>
          <p:cNvSpPr txBox="1"/>
          <p:nvPr/>
        </p:nvSpPr>
        <p:spPr>
          <a:xfrm>
            <a:off x="1645920" y="219456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 multi-step agent workflow as documents the agent can read in one go</a:t>
            </a:r>
            <a:endParaRPr lang="en-US" sz="1600" dirty="0"/>
          </a:p>
        </p:txBody>
      </p:sp>
      <p:sp>
        <p:nvSpPr>
          <p:cNvPr id="7" name="num-117"/>
          <p:cNvSpPr txBox="1"/>
          <p:nvPr/>
        </p:nvSpPr>
        <p:spPr>
          <a:xfrm>
            <a:off x="822960" y="31546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06324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Design for the questions</a:t>
            </a:r>
            <a:endParaRPr lang="en-US" sz="2600" dirty="0"/>
          </a:p>
        </p:txBody>
      </p:sp>
      <p:sp>
        <p:nvSpPr>
          <p:cNvPr id="9" name="label-119"/>
          <p:cNvSpPr txBox="1"/>
          <p:nvPr/>
        </p:nvSpPr>
        <p:spPr>
          <a:xfrm>
            <a:off x="1645920" y="361188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decide what to embed, what to reference, and which index each question needs</a:t>
            </a:r>
            <a:endParaRPr lang="en-US" sz="1600" dirty="0"/>
          </a:p>
        </p:txBody>
      </p:sp>
      <p:sp>
        <p:nvSpPr>
          <p:cNvPr id="10" name="num-120"/>
          <p:cNvSpPr txBox="1"/>
          <p:nvPr/>
        </p:nvSpPr>
        <p:spPr>
          <a:xfrm>
            <a:off x="822960" y="457200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121"/>
          <p:cNvSpPr txBox="1"/>
          <p:nvPr/>
        </p:nvSpPr>
        <p:spPr>
          <a:xfrm>
            <a:off x="1645920" y="448056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12" name="label-122"/>
          <p:cNvSpPr txBox="1"/>
          <p:nvPr/>
        </p:nvSpPr>
        <p:spPr>
          <a:xfrm>
            <a:off x="1645920" y="502920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s11-columns.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s12-index.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4"/>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s14-doorbell.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s15-halflif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drawio-s17-semantic" descr="s17-semantic.png"/>
          <p:cNvPicPr>
            <a:picLocks noChangeAspect="1"/>
          </p:cNvPicPr>
          <p:nvPr/>
        </p:nvPicPr>
        <p:blipFill>
          <a:blip r:embed="rId5"/>
          <a:stretch>
            <a:fillRect/>
          </a:stretch>
        </p:blipFill>
        <p:spPr>
          <a:xfrm>
            <a:off x="975360" y="1417320"/>
            <a:ext cx="10241280" cy="310309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drawio-s18-guardrails" descr="s18-guardrails.png"/>
          <p:cNvPicPr>
            <a:picLocks noChangeAspect="1"/>
          </p:cNvPicPr>
          <p:nvPr/>
        </p:nvPicPr>
        <p:blipFill>
          <a:blip r:embed="rId6"/>
          <a:stretch>
            <a:fillRect/>
          </a:stretch>
        </p:blipFill>
        <p:spPr>
          <a:xfrm>
            <a:off x="640080" y="1325880"/>
            <a:ext cx="10972800" cy="686387"/>
          </a:xfrm>
          <a:prstGeom prst="rect">
            <a:avLst/>
          </a:prstGeom>
        </p:spPr>
      </p:pic>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4"/>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 Replace your polling loop with a change stream this week.</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 Decide embed vs reference by read pattern, not by habit.</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 Keep audit and approvals out of the expiry list.</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 If the answer isn't a collection, it isn't ready.</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s31-server.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