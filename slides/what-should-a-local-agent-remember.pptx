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88" r:id="rId39"/>
    <p:sldId id="266" r:id="rId12"/>
    <p:sldId id="267" r:id="rId13"/>
    <p:sldId id="268" r:id="rId14"/>
    <p:sldId id="269" r:id="rId15"/>
    <p:sldId id="292" r:id="rId43"/>
    <p:sldId id="293" r:id="rId44"/>
    <p:sldId id="270" r:id="rId16"/>
    <p:sldId id="290" r:id="rId41"/>
    <p:sldId id="271" r:id="rId17"/>
    <p:sldId id="272" r:id="rId18"/>
    <p:sldId id="273" r:id="rId19"/>
    <p:sldId id="291" r:id="rId42"/>
    <p:sldId id="274" r:id="rId20"/>
    <p:sldId id="275" r:id="rId21"/>
    <p:sldId id="276" r:id="rId22"/>
    <p:sldId id="277" r:id="rId23"/>
    <p:sldId id="278" r:id="rId24"/>
    <p:sldId id="279" r:id="rId25"/>
    <p:sldId id="280" r:id="rId26"/>
    <p:sldId id="281" r:id="rId27"/>
    <p:sldId id="283" r:id="rId29"/>
    <p:sldId id="285" r:id="rId31"/>
    <p:sldId id="286" r:id="rId32"/>
    <p:sldId id="294" r:id="rId40"/>
    <p:sldId id="287" r:id="rId33"/>
    <p:sldId id="295" r:id="rId45"/>
    <p:sldId id="296" r:id="rId46"/>
    <p:sldId id="297" r:id="rId47"/>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8.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26.xml"/><Relationship Id="rId23" Type="http://schemas.openxmlformats.org/officeDocument/2006/relationships/slide" Target="slides/slide27.xml"/><Relationship Id="rId24" Type="http://schemas.openxmlformats.org/officeDocument/2006/relationships/slide" Target="slides/slide28.xml"/><Relationship Id="rId25" Type="http://schemas.openxmlformats.org/officeDocument/2006/relationships/slide" Target="slides/slide29.xml"/><Relationship Id="rId26" Type="http://schemas.openxmlformats.org/officeDocument/2006/relationships/slide" Target="slides/slide30.xml"/><Relationship Id="rId27" Type="http://schemas.openxmlformats.org/officeDocument/2006/relationships/slide" Target="slides/slide31.xml"/><Relationship Id="rId29"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6.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11.xml"/><Relationship Id="rId40" Type="http://schemas.openxmlformats.org/officeDocument/2006/relationships/slide" Target="slides/slide35.xml"/><Relationship Id="rId41" Type="http://schemas.openxmlformats.org/officeDocument/2006/relationships/slide" Target="slides/slide19.xml"/><Relationship Id="rId42" Type="http://schemas.openxmlformats.org/officeDocument/2006/relationships/slide" Target="slides/slide23.xml"/><Relationship Id="rId43" Type="http://schemas.openxmlformats.org/officeDocument/2006/relationships/slide" Target="slides/slide16.xml"/><Relationship Id="rId44" Type="http://schemas.openxmlformats.org/officeDocument/2006/relationships/slide" Target="slides/slide17.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 Id="rId7" Type="http://schemas.openxmlformats.org/officeDocument/2006/relationships/image" Target="../media/image40.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 Id="rId5" Type="http://schemas.openxmlformats.org/officeDocument/2006/relationships/image" Target="../media/image4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 Id="rId5" Type="http://schemas.openxmlformats.org/officeDocument/2006/relationships/image" Target="../media/image45.png"/></Relationships>
</file>

<file path=ppt/slides/_rels/slide1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18.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 Id="rId6" Type="http://schemas.openxmlformats.org/officeDocument/2006/relationships/image" Target="../media/image41.gif"/></Relationships>
</file>

<file path=ppt/slides/_rels/slide22.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 Id="rId5" Type="http://schemas.openxmlformats.org/officeDocument/2006/relationships/image" Target="../media/image4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7.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4800600"/>
            <a:ext cx="7589520" cy="105156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1 · model and index the state of an agent workflow as documents the agent can read in one go   2 · decide what the agent remembers: what reacts to change, what expires, and what it must be able to explain</a:t>
            </a:r>
            <a:endParaRPr lang="en-US" sz="1400" dirty="0"/>
          </a:p>
        </p:txBody>
      </p:sp>
      <p:pic>
        <p:nvPicPr>
          <p:cNvPr id="6" name="drawio-s01-motif" descr="image.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After this session you will be able to</a:t>
            </a:r>
            <a:endParaRPr lang="en-US" sz="3200" dirty="0"/>
          </a:p>
        </p:txBody>
      </p:sp>
      <p:sp>
        <p:nvSpPr>
          <p:cNvPr id="4" name="label-9"/>
          <p:cNvSpPr txBox="1"/>
          <p:nvPr/>
        </p:nvSpPr>
        <p:spPr>
          <a:xfrm>
            <a:off x="822960" y="4937760"/>
            <a:ext cx="7680960" cy="365760"/>
          </a:xfrm>
          <a:prstGeom prst="rect">
            <a:avLst/>
          </a:prstGeom>
          <a:noFill/>
          <a:ln/>
        </p:spPr>
        <p:txBody>
          <a:bodyPr wrap="square" lIns="0" tIns="0" rIns="0" bIns="0" rtlCol="0" anchor="t"/>
          <a:lstStyle/>
          <a:p>
            <a:pPr algn="l" indent="0" marL="0">
              <a:buNone/>
            </a:pPr>
            <a:r>
              <a:rPr lang="en-US" sz="1600" b="1" dirty="0">
                <a:solidFill>
                  <a:srgbClr val="1A1A1A"/>
                </a:solidFill>
              </a:rPr>
              <a:t>Eoin Jordan</a:t>
            </a:r>
            <a:endParaRPr lang="en-US" sz="2800" dirty="0"/>
          </a:p>
        </p:txBody>
      </p:sp>
      <p:sp>
        <p:nvSpPr>
          <p:cNvPr id="5" name="label-10"/>
          <p:cNvSpPr txBox="1"/>
          <p:nvPr/>
        </p:nvSpPr>
        <p:spPr>
          <a:xfrm>
            <a:off x="822960" y="5230368"/>
            <a:ext cx="7680960" cy="274320"/>
          </a:xfrm>
          <a:prstGeom prst="rect">
            <a:avLst/>
          </a:prstGeom>
          <a:noFill/>
          <a:ln/>
        </p:spPr>
        <p:txBody>
          <a:bodyPr wrap="square" lIns="0" tIns="0" rIns="0" bIns="0" rtlCol="0" anchor="t"/>
          <a:lstStyle/>
          <a:p>
            <a:pPr algn="l" indent="0" marL="0">
              <a:buNone/>
            </a:pPr>
            <a:r>
              <a:rPr lang="en-US" sz="1100" dirty="0">
                <a:solidFill>
                  <a:srgbClr val="5C6670"/>
                </a:solidFill>
              </a:rPr>
              <a:t>Developer Relations, Edge Impulse / Qualcomm · eight years at IBM Galway · PhD, University of Galway</a:t>
            </a:r>
            <a:endParaRPr lang="en-US" sz="16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235440" y="1463040"/>
            <a:ext cx="1645920" cy="1645920"/>
          </a:xfrm>
          <a:prstGeom prst="rect">
            <a:avLst/>
          </a:prstGeom>
        </p:spPr>
      </p:pic>
      <p:sp>
        <p:nvSpPr>
          <p:cNvPr id="20" name="label-25"/>
          <p:cNvSpPr txBox="1"/>
          <p:nvPr/>
        </p:nvSpPr>
        <p:spPr>
          <a:xfrm>
            <a:off x="8778240" y="320040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778240" y="356616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778240" y="443484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7" name="label-badges"/>
          <p:cNvSpPr txBox="1"/>
          <p:nvPr/>
        </p:nvSpPr>
        <p:spPr>
          <a:xfrm>
            <a:off x="822960" y="5596128"/>
            <a:ext cx="7680960" cy="960120"/>
          </a:xfrm>
          <a:prstGeom prst="rect">
            <a:avLst/>
          </a:prstGeom>
          <a:noFill/>
          <a:ln/>
        </p:spPr>
        <p:txBody>
          <a:bodyPr wrap="square" lIns="0" tIns="0" rIns="0" bIns="0" rtlCol="0" anchor="t"/>
          <a:lstStyle/>
          <a:p>
            <a:pPr algn="l" indent="0" marL="0">
              <a:spcAft>
                <a:spcPts val="300"/>
              </a:spcAft>
              <a:buNone/>
            </a:pPr>
            <a:r>
              <a:rPr sz="1100" b="1">
                <a:solidFill>
                  <a:srgbClr val="5C6670"/>
                </a:solidFill>
              </a:rPr>
              <a:t>Full disclosure. </a:t>
            </a:r>
            <a:r>
              <a:rPr sz="1100" b="0">
                <a:solidFill>
                  <a:srgbClr val="5C6670"/>
                </a:solidFill>
              </a:rPr>
              <a:t>Known for years: agents and tools, MCP servers, edge ML on Qualcomm silicon, distributed systems. New in the last three weeks: mongosh, PyMongo, time series and TTL, change streams in anger, the LangGraph checkpointer. The two MongoDB skill badges are from this month.</a:t>
            </a:r>
            <a:endParaRPr lang="en-US" sz="1300" dirty="0"/>
          </a:p>
          <a:p>
            <a:pPr>
              <a:spcAft>
                <a:spcPts val="300"/>
              </a:spcAft>
            </a:pPr>
            <a:r>
              <a:rPr sz="1100" b="1">
                <a:solidFill>
                  <a:srgbClr val="5C6670"/>
                </a:solidFill>
              </a:rPr>
              <a:t>Why this talk: </a:t>
            </a:r>
            <a:r>
              <a:rPr sz="1100" b="0">
                <a:solidFill>
                  <a:srgbClr val="5C6670"/>
                </a:solidFill>
              </a:rPr>
              <a:t>a teaching exercise built on one real problem, to show MongoDB doing the job of an agent's memory with features you already run. One board, not a fleet; where that matters I say so.</a:t>
            </a:r>
          </a:p>
        </p:txBody>
      </p:sp>
      <p:sp>
        <p:nvSpPr>
          <p:cNvPr id="4" name="obj-num-1"/>
          <p:cNvSpPr txBox="1"/>
          <p:nvPr/>
        </p:nvSpPr>
        <p:spPr>
          <a:xfrm>
            <a:off x="822960" y="14630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6" name="obj-head-1"/>
          <p:cNvSpPr txBox="1"/>
          <p:nvPr/>
        </p:nvSpPr>
        <p:spPr>
          <a:xfrm>
            <a:off x="1600200" y="1417320"/>
            <a:ext cx="7315200" cy="502920"/>
          </a:xfrm>
          <a:prstGeom prst="rect">
            <a:avLst/>
          </a:prstGeom>
          <a:noFill/>
        </p:spPr>
        <p:txBody>
          <a:bodyPr wrap="square">
            <a:spAutoFit/>
          </a:bodyPr>
          <a:lstStyle/>
          <a:p>
            <a:r>
              <a:rPr sz="2200" b="1" i="0">
                <a:solidFill>
                  <a:srgbClr val="1A1A1A"/>
                </a:solidFill>
              </a:rPr>
              <a:t>Model and index the state of a workflow</a:t>
            </a:r>
          </a:p>
        </p:txBody>
      </p:sp>
      <p:sp>
        <p:nvSpPr>
          <p:cNvPr id="27" name="obj-desc-1"/>
          <p:cNvSpPr txBox="1"/>
          <p:nvPr/>
        </p:nvSpPr>
        <p:spPr>
          <a:xfrm>
            <a:off x="1600200" y="1965960"/>
            <a:ext cx="6949440" cy="548640"/>
          </a:xfrm>
          <a:prstGeom prst="rect">
            <a:avLst/>
          </a:prstGeom>
          <a:noFill/>
        </p:spPr>
        <p:txBody>
          <a:bodyPr wrap="square">
            <a:spAutoFit/>
          </a:bodyPr>
          <a:lstStyle/>
          <a:p>
            <a:r>
              <a:rPr sz="1600" b="0" i="0">
                <a:solidFill>
                  <a:srgbClr val="5C6670"/>
                </a:solidFill>
              </a:rPr>
              <a:t>as documents the agent can read in one go, with the index each question needs</a:t>
            </a:r>
          </a:p>
        </p:txBody>
      </p:sp>
      <p:sp>
        <p:nvSpPr>
          <p:cNvPr id="4" name="obj-num-2"/>
          <p:cNvSpPr txBox="1"/>
          <p:nvPr/>
        </p:nvSpPr>
        <p:spPr>
          <a:xfrm>
            <a:off x="822960" y="27889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obj-head-2"/>
          <p:cNvSpPr txBox="1"/>
          <p:nvPr/>
        </p:nvSpPr>
        <p:spPr>
          <a:xfrm>
            <a:off x="1600200" y="2743200"/>
            <a:ext cx="7315200" cy="502920"/>
          </a:xfrm>
          <a:prstGeom prst="rect">
            <a:avLst/>
          </a:prstGeom>
          <a:noFill/>
        </p:spPr>
        <p:txBody>
          <a:bodyPr wrap="square">
            <a:spAutoFit/>
          </a:bodyPr>
          <a:lstStyle/>
          <a:p>
            <a:r>
              <a:rPr sz="2200" b="1" i="0">
                <a:solidFill>
                  <a:srgbClr val="1A1A1A"/>
                </a:solidFill>
              </a:rPr>
              <a:t>Decide what the agent remembers</a:t>
            </a:r>
          </a:p>
        </p:txBody>
      </p:sp>
      <p:sp>
        <p:nvSpPr>
          <p:cNvPr id="29" name="obj-desc-2"/>
          <p:cNvSpPr txBox="1"/>
          <p:nvPr/>
        </p:nvSpPr>
        <p:spPr>
          <a:xfrm>
            <a:off x="1600200" y="3291840"/>
            <a:ext cx="6949440" cy="548640"/>
          </a:xfrm>
          <a:prstGeom prst="rect">
            <a:avLst/>
          </a:prstGeom>
          <a:noFill/>
        </p:spPr>
        <p:txBody>
          <a:bodyPr wrap="square">
            <a:spAutoFit/>
          </a:bodyPr>
          <a:lstStyle/>
          <a:p>
            <a:r>
              <a:rPr sz="1600" b="0" i="0">
                <a:solidFill>
                  <a:srgbClr val="5C6670"/>
                </a:solidFill>
              </a:rPr>
              <a:t>what reacts to change, what expires, and what it must be able to explain</a:t>
            </a:r>
          </a:p>
        </p:txBody>
      </p:sp>
      <p:sp>
        <p:nvSpPr>
          <p:cNvPr id="30" name="label-audience"/>
          <p:cNvSpPr txBox="1"/>
          <p:nvPr/>
        </p:nvSpPr>
        <p:spPr>
          <a:xfrm>
            <a:off x="822960" y="4160520"/>
            <a:ext cx="7726679" cy="731520"/>
          </a:xfrm>
          <a:prstGeom prst="rect">
            <a:avLst/>
          </a:prstGeom>
          <a:noFill/>
        </p:spPr>
        <p:txBody>
          <a:bodyPr wrap="square">
            <a:spAutoFit/>
          </a:bodyPr>
          <a:lstStyle/>
          <a:p>
            <a:r>
              <a:rPr sz="1600" b="0" i="1">
                <a:solidFill>
                  <a:srgbClr val="00684A"/>
                </a:solidFill>
              </a:rPr>
              <a:t>For experienced engineers who know documents, indexes and change streams, and have not yet built an agent that has to survive a restart.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anim-loop" descr="loop.gif"/>
          <p:cNvPicPr>
            <a:picLocks noChangeAspect="1"/>
          </p:cNvPicPr>
          <p:nvPr/>
        </p:nvPicPr>
        <p:blipFill>
          <a:blip r:embed="rId7"/>
          <a:stretch>
            <a:fillRect/>
          </a:stretch>
        </p:blipFill>
        <p:spPr>
          <a:xfrm>
            <a:off x="640080" y="1828800"/>
            <a:ext cx="8595360" cy="17129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
        <p:nvSpPr>
          <p:cNvPr id="528" name="lead-5"/>
          <p:cNvSpPr txBox="1"/>
          <p:nvPr/>
        </p:nvSpPr>
        <p:spPr>
          <a:xfrm>
            <a:off x="640080" y="1216152"/>
            <a:ext cx="5669280" cy="292608"/>
          </a:xfrm>
          <a:prstGeom prst="rect">
            <a:avLst/>
          </a:prstGeom>
          <a:noFill/>
        </p:spPr>
        <p:txBody>
          <a:bodyPr wrap="square">
            <a:spAutoFit/>
          </a:bodyPr>
          <a:lstStyle/>
          <a:p>
            <a:r>
              <a:rPr sz="1400" b="0" i="0">
                <a:solidFill>
                  <a:srgbClr val="5C6670"/>
                </a:solidFill>
              </a:rPr>
              <a:t>Three moves, before any database was involved: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5"/>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imag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 two objectives</a:t>
            </a:r>
            <a:endParaRPr lang="en-US" sz="3200" dirty="0"/>
          </a:p>
        </p:txBody>
      </p:sp>
      <p:sp>
        <p:nvSpPr>
          <p:cNvPr id="4" name="num-114"/>
          <p:cNvSpPr txBox="1"/>
          <p:nvPr/>
        </p:nvSpPr>
        <p:spPr>
          <a:xfrm>
            <a:off x="822960" y="21488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205740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and index the state</a:t>
            </a:r>
            <a:endParaRPr lang="en-US" sz="2600" dirty="0"/>
          </a:p>
        </p:txBody>
      </p:sp>
      <p:sp>
        <p:nvSpPr>
          <p:cNvPr id="6" name="label-116"/>
          <p:cNvSpPr txBox="1"/>
          <p:nvPr/>
        </p:nvSpPr>
        <p:spPr>
          <a:xfrm>
            <a:off x="1645920" y="260604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an agent workflow as documents the agent can read in one go, with the index each question needs</a:t>
            </a:r>
            <a:endParaRPr lang="en-US" sz="1600" dirty="0"/>
          </a:p>
        </p:txBody>
      </p:sp>
      <p:sp>
        <p:nvSpPr>
          <p:cNvPr id="7" name="num-117"/>
          <p:cNvSpPr txBox="1"/>
          <p:nvPr/>
        </p:nvSpPr>
        <p:spPr>
          <a:xfrm>
            <a:off x="822960" y="37033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61188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9" name="label-119"/>
          <p:cNvSpPr txBox="1"/>
          <p:nvPr/>
        </p:nvSpPr>
        <p:spPr>
          <a:xfrm>
            <a:off x="1645920" y="416052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
        <p:nvSpPr>
          <p:cNvPr id="26" name="label-bridge"/>
          <p:cNvSpPr txBox="1"/>
          <p:nvPr/>
        </p:nvSpPr>
        <p:spPr>
          <a:xfrm>
            <a:off x="822960" y="1280160"/>
            <a:ext cx="10515600" cy="457200"/>
          </a:xfrm>
          <a:prstGeom prst="rect">
            <a:avLst/>
          </a:prstGeom>
          <a:noFill/>
        </p:spPr>
        <p:txBody>
          <a:bodyPr wrap="square">
            <a:spAutoFit/>
          </a:bodyPr>
          <a:lstStyle/>
          <a:p>
            <a:r>
              <a:rPr sz="1600" b="0" i="0">
                <a:solidFill>
                  <a:srgbClr val="5C6670"/>
                </a:solidFill>
              </a:rPr>
              <a:t>You already know documents, indexes and change streams. New today: using them as an agent's memory.</a:t>
            </a:r>
          </a:p>
        </p:txBody>
      </p:sp>
      <p:sp>
        <p:nvSpPr>
          <p:cNvPr id="27" name="label-parts"/>
          <p:cNvSpPr txBox="1"/>
          <p:nvPr/>
        </p:nvSpPr>
        <p:spPr>
          <a:xfrm>
            <a:off x="1645920" y="4983480"/>
            <a:ext cx="9601200" cy="457200"/>
          </a:xfrm>
          <a:prstGeom prst="rect">
            <a:avLst/>
          </a:prstGeom>
          <a:noFill/>
        </p:spPr>
        <p:txBody>
          <a:bodyPr wrap="square">
            <a:spAutoFit/>
          </a:bodyPr>
          <a:lstStyle/>
          <a:p>
            <a:r>
              <a:rPr sz="1500" b="0" i="0">
                <a:solidFill>
                  <a:srgbClr val="5C6670"/>
                </a:solidFill>
              </a:rPr>
              <a:t>Three parts: the document and its indexes  ·  reacting to change  ·  what to keep, what to expire, what to explain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the Pi is offline: the first document and its indexes, live</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slide-13 questions with explain(): each hits its index, one key examined.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image.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image.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5"/>
          <a:stretch>
            <a:fillRect/>
          </a:stretch>
        </p:blipFill>
        <p:spPr>
          <a:xfrm>
            <a:off x="1097280" y="1828800"/>
            <a:ext cx="9966960" cy="200037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image.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the Pi is offline: from polling to events, live</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the Pi is offline: the consumer survives a restart</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imag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the Pi is offline: memory has a half-life, live</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slide-21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
        <p:nvSpPr>
          <p:cNvPr id="5" name="lead-16"/>
          <p:cNvSpPr txBox="1"/>
          <p:nvPr/>
        </p:nvSpPr>
        <p:spPr>
          <a:xfrm>
            <a:off x="822960" y="3401568"/>
            <a:ext cx="10515600" cy="457200"/>
          </a:xfrm>
          <a:prstGeom prst="rect">
            <a:avLst/>
          </a:prstGeom>
          <a:noFill/>
        </p:spPr>
        <p:txBody>
          <a:bodyPr wrap="square">
            <a:spAutoFit/>
          </a:bodyPr>
          <a:lstStyle/>
          <a:p>
            <a:r>
              <a:rPr sz="1800" b="0" i="0">
                <a:solidFill>
                  <a:srgbClr val="5C6670"/>
                </a:solidFill>
              </a:rPr>
              <a:t>Everything the agent wrote this week, in one list. Which of these has to live?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anim-semantic" descr="semantic.gif"/>
          <p:cNvPicPr>
            <a:picLocks noChangeAspect="1"/>
          </p:cNvPicPr>
          <p:nvPr/>
        </p:nvPicPr>
        <p:blipFill>
          <a:blip r:embed="rId6"/>
          <a:stretch>
            <a:fillRect/>
          </a:stretch>
        </p:blipFill>
        <p:spPr>
          <a:xfrm>
            <a:off x="1981200" y="1371600"/>
            <a:ext cx="8229600" cy="338001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pic>
        <p:nvPicPr>
          <p:cNvPr id="29" name="drawio-s18-guardrails" descr="image.png"/>
          <p:cNvPicPr>
            <a:picLocks noChangeAspect="1"/>
          </p:cNvPicPr>
          <p:nvPr/>
        </p:nvPicPr>
        <p:blipFill>
          <a:blip r:embed="rId6"/>
          <a:stretch>
            <a:fillRect/>
          </a:stretch>
        </p:blipFill>
        <p:spPr>
          <a:xfrm>
            <a:off x="640080" y="1325880"/>
            <a:ext cx="10972800" cy="686387"/>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the Pi is offline: guardrails are data, live</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5"/>
          <a:stretch>
            <a:fillRect/>
          </a:stretch>
        </p:blipFill>
        <p:spPr>
          <a:xfrm>
            <a:off x="609600" y="1371600"/>
            <a:ext cx="10972800" cy="3290987"/>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
        <p:nvSpPr>
          <p:cNvPr id="26" name="lead-20"/>
          <p:cNvSpPr txBox="1"/>
          <p:nvPr/>
        </p:nvSpPr>
        <p:spPr>
          <a:xfrm>
            <a:off x="914400" y="1069848"/>
            <a:ext cx="10332720" cy="292608"/>
          </a:xfrm>
          <a:prstGeom prst="rect">
            <a:avLst/>
          </a:prstGeom>
          <a:noFill/>
        </p:spPr>
        <p:txBody>
          <a:bodyPr wrap="square">
            <a:spAutoFit/>
          </a:bodyPr>
          <a:lstStyle/>
          <a:p>
            <a:r>
              <a:rPr sz="1400" b="0" i="0">
                <a:solidFill>
                  <a:srgbClr val="5C6670"/>
                </a:solidFill>
              </a:rPr>
              <a:t>One Monday-morning action for each of you:</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
        <p:nvSpPr>
          <p:cNvPr id="48" name="lead-22"/>
          <p:cNvSpPr txBox="1"/>
          <p:nvPr/>
        </p:nvSpPr>
        <p:spPr>
          <a:xfrm>
            <a:off x="658368" y="1024128"/>
            <a:ext cx="10515600" cy="292608"/>
          </a:xfrm>
          <a:prstGeom prst="rect">
            <a:avLst/>
          </a:prstGeom>
          <a:noFill/>
        </p:spPr>
        <p:txBody>
          <a:bodyPr wrap="square">
            <a:spAutoFit/>
          </a:bodyPr>
          <a:lstStyle/>
          <a:p>
            <a:r>
              <a:rPr sz="1400" b="0" i="0">
                <a:solidFill>
                  <a:srgbClr val="5C6670"/>
                </a:solidFill>
              </a:rPr>
              <a:t>Routed by what you need next, one QR each: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image.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toolbox, learned for this talk</a:t>
            </a:r>
            <a:endParaRPr lang="en-US" sz="3200" dirty="0"/>
          </a:p>
        </p:txBody>
      </p:sp>
      <p:sp>
        <p:nvSpPr>
          <p:cNvPr id="3" name="card-mongosh,"/>
          <p:cNvSpPr/>
          <p:nvPr/>
        </p:nvSpPr>
        <p:spPr>
          <a:xfrm>
            <a:off x="64008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mongosh,"/>
          <p:cNvSpPr txBox="1"/>
          <p:nvPr/>
        </p:nvSpPr>
        <p:spPr>
          <a:xfrm>
            <a:off x="822960" y="1508760"/>
            <a:ext cx="3246120" cy="411480"/>
          </a:xfrm>
          <a:prstGeom prst="rect">
            <a:avLst/>
          </a:prstGeom>
          <a:noFill/>
        </p:spPr>
        <p:txBody>
          <a:bodyPr wrap="none">
            <a:spAutoFit/>
          </a:bodyPr>
          <a:lstStyle/>
          <a:p>
            <a:r>
              <a:rPr sz="1600" b="1">
                <a:solidFill>
                  <a:srgbClr val="00684A"/>
                </a:solidFill>
              </a:rPr>
              <a:t>mongosh, the shell</a:t>
            </a:r>
          </a:p>
        </p:txBody>
      </p:sp>
      <p:sp>
        <p:nvSpPr>
          <p:cNvPr id="5" name="lines-mongosh,"/>
          <p:cNvSpPr txBox="1"/>
          <p:nvPr/>
        </p:nvSpPr>
        <p:spPr>
          <a:xfrm>
            <a:off x="822960" y="2011680"/>
            <a:ext cx="3246120" cy="3474720"/>
          </a:xfrm>
          <a:prstGeom prst="rect">
            <a:avLst/>
          </a:prstGeom>
          <a:noFill/>
        </p:spPr>
        <p:txBody>
          <a:bodyPr wrap="square">
            <a:spAutoFit/>
          </a:bodyPr>
          <a:lstStyle/>
          <a:p>
            <a:pPr>
              <a:spcAft>
                <a:spcPts val="400"/>
              </a:spcAft>
            </a:pPr>
            <a:r>
              <a:rPr sz="1100">
                <a:solidFill>
                  <a:srgbClr val="1A1A1A"/>
                </a:solidFill>
                <a:latin typeface="Consolas"/>
              </a:rPr>
              <a:t>db.runs.findOne({ runId })</a:t>
            </a:r>
          </a:p>
          <a:p>
            <a:pPr>
              <a:spcAft>
                <a:spcPts val="400"/>
              </a:spcAft>
            </a:pPr>
            <a:r>
              <a:rPr sz="1100">
                <a:solidFill>
                  <a:srgbClr val="1A1A1A"/>
                </a:solidFill>
                <a:latin typeface="Consolas"/>
              </a:rPr>
              <a:t>createIndex({ projectId: 1, status: 1 })</a:t>
            </a:r>
          </a:p>
          <a:p>
            <a:pPr>
              <a:spcAft>
                <a:spcPts val="400"/>
              </a:spcAft>
            </a:pPr>
            <a:r>
              <a:rPr sz="1100">
                <a:solidFill>
                  <a:srgbClr val="1A1A1A"/>
                </a:solidFill>
                <a:latin typeface="Consolas"/>
              </a:rPr>
              <a:t>find(...).explain("executionStats")</a:t>
            </a:r>
          </a:p>
          <a:p>
            <a:pPr>
              <a:spcAft>
                <a:spcPts val="400"/>
              </a:spcAft>
            </a:pPr>
            <a:r>
              <a:rPr sz="1100">
                <a:solidFill>
                  <a:srgbClr val="1A1A1A"/>
                </a:solidFill>
                <a:latin typeface="Consolas"/>
              </a:rPr>
              <a:t>updateOne({ _id }, { $set: { status } })</a:t>
            </a:r>
          </a:p>
          <a:p>
            <a:pPr>
              <a:spcAft>
                <a:spcPts val="400"/>
              </a:spcAft>
            </a:pPr>
            <a:r>
              <a:rPr sz="1100">
                <a:solidFill>
                  <a:srgbClr val="1A1A1A"/>
                </a:solidFill>
                <a:latin typeface="Consolas"/>
              </a:rPr>
              <a:t>createCollection + expireAfterSeconds</a:t>
            </a:r>
          </a:p>
          <a:p>
            <a:pPr>
              <a:spcAft>
                <a:spcPts val="400"/>
              </a:spcAft>
            </a:pPr>
            <a:r>
              <a:rPr sz="1100">
                <a:solidFill>
                  <a:srgbClr val="1A1A1A"/>
                </a:solidFill>
                <a:latin typeface="Consolas"/>
              </a:rPr>
              <a:t>runs.watch([{ $match: ... }])</a:t>
            </a:r>
          </a:p>
          <a:p>
            <a:pPr>
              <a:spcAft>
                <a:spcPts val="400"/>
              </a:spcAft>
            </a:pPr>
            <a:r>
              <a:rPr sz="1100">
                <a:solidFill>
                  <a:srgbClr val="1A1A1A"/>
                </a:solidFill>
                <a:latin typeface="Consolas"/>
              </a:rPr>
              <a:t>aggregate([...]) over stored vectors</a:t>
            </a:r>
          </a:p>
        </p:txBody>
      </p:sp>
      <p:sp>
        <p:nvSpPr>
          <p:cNvPr id="6" name="card-python"/>
          <p:cNvSpPr/>
          <p:nvPr/>
        </p:nvSpPr>
        <p:spPr>
          <a:xfrm>
            <a:off x="438912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python"/>
          <p:cNvSpPr txBox="1"/>
          <p:nvPr/>
        </p:nvSpPr>
        <p:spPr>
          <a:xfrm>
            <a:off x="4572000" y="1508760"/>
            <a:ext cx="3246120" cy="411480"/>
          </a:xfrm>
          <a:prstGeom prst="rect">
            <a:avLst/>
          </a:prstGeom>
          <a:noFill/>
        </p:spPr>
        <p:txBody>
          <a:bodyPr wrap="none">
            <a:spAutoFit/>
          </a:bodyPr>
          <a:lstStyle/>
          <a:p>
            <a:r>
              <a:rPr sz="1600" b="1">
                <a:solidFill>
                  <a:srgbClr val="00684A"/>
                </a:solidFill>
              </a:rPr>
              <a:t>Python</a:t>
            </a:r>
          </a:p>
        </p:txBody>
      </p:sp>
      <p:sp>
        <p:nvSpPr>
          <p:cNvPr id="8" name="lines-python"/>
          <p:cNvSpPr txBox="1"/>
          <p:nvPr/>
        </p:nvSpPr>
        <p:spPr>
          <a:xfrm>
            <a:off x="4572000" y="2011680"/>
            <a:ext cx="3246120" cy="3474720"/>
          </a:xfrm>
          <a:prstGeom prst="rect">
            <a:avLst/>
          </a:prstGeom>
          <a:noFill/>
        </p:spPr>
        <p:txBody>
          <a:bodyPr wrap="square">
            <a:spAutoFit/>
          </a:bodyPr>
          <a:lstStyle/>
          <a:p>
            <a:pPr>
              <a:spcAft>
                <a:spcPts val="400"/>
              </a:spcAft>
            </a:pPr>
            <a:r>
              <a:rPr sz="1100">
                <a:solidFill>
                  <a:srgbClr val="1A1A1A"/>
                </a:solidFill>
                <a:latin typeface="Consolas"/>
              </a:rPr>
              <a:t>pymongo: MongoClient, find_one, insert_one, update_one</a:t>
            </a:r>
          </a:p>
          <a:p>
            <a:pPr>
              <a:spcAft>
                <a:spcPts val="400"/>
              </a:spcAft>
            </a:pPr>
            <a:r>
              <a:rPr sz="1100">
                <a:solidFill>
                  <a:srgbClr val="1A1A1A"/>
                </a:solidFill>
                <a:latin typeface="Consolas"/>
              </a:rPr>
              <a:t>watch(pipeline, full_document="updateLookup",</a:t>
            </a:r>
          </a:p>
          <a:p>
            <a:pPr>
              <a:spcAft>
                <a:spcPts val="400"/>
              </a:spcAft>
            </a:pPr>
            <a:r>
              <a:rPr sz="1100">
                <a:solidFill>
                  <a:srgbClr val="1A1A1A"/>
                </a:solidFill>
                <a:latin typeface="Consolas"/>
              </a:rPr>
              <a:t>      resume_after=token)</a:t>
            </a:r>
          </a:p>
          <a:p>
            <a:pPr>
              <a:spcAft>
                <a:spcPts val="400"/>
              </a:spcAft>
            </a:pPr>
            <a:r>
              <a:rPr sz="1100">
                <a:solidFill>
                  <a:srgbClr val="1A1A1A"/>
                </a:solidFill>
                <a:latin typeface="Consolas"/>
              </a:rPr>
              <a:t>DuplicateKeyError as the idempotency check</a:t>
            </a:r>
          </a:p>
          <a:p>
            <a:pPr>
              <a:spcAft>
                <a:spcPts val="400"/>
              </a:spcAft>
            </a:pPr>
            <a:r>
              <a:rPr sz="1100">
                <a:solidFill>
                  <a:srgbClr val="1A1A1A"/>
                </a:solidFill>
                <a:latin typeface="Consolas"/>
              </a:rPr>
              <a:t>langgraph-checkpoint-mongodb: MongoDBSaver(thread_id),</a:t>
            </a:r>
          </a:p>
          <a:p>
            <a:pPr>
              <a:spcAft>
                <a:spcPts val="400"/>
              </a:spcAft>
            </a:pPr>
            <a:r>
              <a:rPr sz="1100">
                <a:solidFill>
                  <a:srgbClr val="1A1A1A"/>
                </a:solidFill>
                <a:latin typeface="Consolas"/>
              </a:rPr>
              <a:t>      MongoDBStore(namespace)</a:t>
            </a:r>
          </a:p>
          <a:p>
            <a:pPr>
              <a:spcAft>
                <a:spcPts val="400"/>
              </a:spcAft>
            </a:pPr>
            <a:r>
              <a:rPr sz="1100">
                <a:solidFill>
                  <a:srgbClr val="1A1A1A"/>
                </a:solidFill>
                <a:latin typeface="Consolas"/>
              </a:rPr>
              <a:t>langchain_openai: ChatOpenAI(base_url=local server)</a:t>
            </a:r>
          </a:p>
          <a:p>
            <a:pPr>
              <a:spcAft>
                <a:spcPts val="400"/>
              </a:spcAft>
            </a:pPr>
            <a:r>
              <a:rPr sz="1100">
                <a:solidFill>
                  <a:srgbClr val="1A1A1A"/>
                </a:solidFill>
                <a:latin typeface="Consolas"/>
              </a:rPr>
              <a:t>embeddings: voyage-3-lite, or bge-small on the Pi</a:t>
            </a:r>
          </a:p>
        </p:txBody>
      </p:sp>
      <p:sp>
        <p:nvSpPr>
          <p:cNvPr id="9" name="card-around"/>
          <p:cNvSpPr/>
          <p:nvPr/>
        </p:nvSpPr>
        <p:spPr>
          <a:xfrm>
            <a:off x="813816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around"/>
          <p:cNvSpPr txBox="1"/>
          <p:nvPr/>
        </p:nvSpPr>
        <p:spPr>
          <a:xfrm>
            <a:off x="8321040" y="1508760"/>
            <a:ext cx="3246120" cy="411480"/>
          </a:xfrm>
          <a:prstGeom prst="rect">
            <a:avLst/>
          </a:prstGeom>
          <a:noFill/>
        </p:spPr>
        <p:txBody>
          <a:bodyPr wrap="none">
            <a:spAutoFit/>
          </a:bodyPr>
          <a:lstStyle/>
          <a:p>
            <a:r>
              <a:rPr sz="1600" b="1">
                <a:solidFill>
                  <a:srgbClr val="00684A"/>
                </a:solidFill>
              </a:rPr>
              <a:t>Around it</a:t>
            </a:r>
          </a:p>
        </p:txBody>
      </p:sp>
      <p:sp>
        <p:nvSpPr>
          <p:cNvPr id="11" name="lines-around"/>
          <p:cNvSpPr txBox="1"/>
          <p:nvPr/>
        </p:nvSpPr>
        <p:spPr>
          <a:xfrm>
            <a:off x="8321040" y="2011680"/>
            <a:ext cx="3246120" cy="3474720"/>
          </a:xfrm>
          <a:prstGeom prst="rect">
            <a:avLst/>
          </a:prstGeom>
          <a:noFill/>
        </p:spPr>
        <p:txBody>
          <a:bodyPr wrap="square">
            <a:spAutoFit/>
          </a:bodyPr>
          <a:lstStyle/>
          <a:p>
            <a:pPr>
              <a:spcAft>
                <a:spcPts val="400"/>
              </a:spcAft>
            </a:pPr>
            <a:r>
              <a:rPr sz="1200">
                <a:solidFill>
                  <a:srgbClr val="1A1A1A"/>
                </a:solidFill>
              </a:rPr>
              <a:t>MongoDB MCP server + Agent Skills</a:t>
            </a:r>
          </a:p>
          <a:p>
            <a:pPr>
              <a:spcAft>
                <a:spcPts val="400"/>
              </a:spcAft>
            </a:pPr>
            <a:r>
              <a:rPr sz="1200">
                <a:solidFill>
                  <a:srgbClr val="1A1A1A"/>
                </a:solidFill>
              </a:rPr>
              <a:t>      npx skills add mongodb/agent-skills</a:t>
            </a:r>
          </a:p>
          <a:p>
            <a:pPr>
              <a:spcAft>
                <a:spcPts val="400"/>
              </a:spcAft>
            </a:pPr>
            <a:r>
              <a:rPr sz="1200">
                <a:solidFill>
                  <a:srgbClr val="1A1A1A"/>
                </a:solidFill>
              </a:rPr>
              <a:t>llama.cpp server on the Pi: OpenAI-compatible,</a:t>
            </a:r>
          </a:p>
          <a:p>
            <a:pPr>
              <a:spcAft>
                <a:spcPts val="400"/>
              </a:spcAft>
            </a:pPr>
            <a:r>
              <a:rPr sz="1200">
                <a:solidFill>
                  <a:srgbClr val="1A1A1A"/>
                </a:solidFill>
              </a:rPr>
              <a:t>      json_schema responses</a:t>
            </a:r>
          </a:p>
          <a:p>
            <a:pPr>
              <a:spcAft>
                <a:spcPts val="400"/>
              </a:spcAft>
            </a:pPr>
            <a:r>
              <a:rPr sz="1200">
                <a:solidFill>
                  <a:srgbClr val="1A1A1A"/>
                </a:solidFill>
              </a:rPr>
              <a:t>MongoDBSimCity: what the server does underneath</a:t>
            </a:r>
          </a:p>
          <a:p>
            <a:pPr>
              <a:spcAft>
                <a:spcPts val="400"/>
              </a:spcAft>
            </a:pPr>
            <a:r>
              <a:rPr sz="1200">
                <a:solidFill>
                  <a:srgbClr val="1A1A1A"/>
                </a:solidFill>
              </a:rPr>
              <a:t>mongosh scripts in demo/, Python consumers beside them</a:t>
            </a:r>
          </a:p>
        </p:txBody>
      </p:sp>
      <p:sp>
        <p:nvSpPr>
          <p:cNvPr id="12" name="label-foot"/>
          <p:cNvSpPr txBox="1"/>
          <p:nvPr/>
        </p:nvSpPr>
        <p:spPr>
          <a:xfrm>
            <a:off x="640080" y="5715000"/>
            <a:ext cx="10881360" cy="548640"/>
          </a:xfrm>
          <a:prstGeom prst="rect">
            <a:avLst/>
          </a:prstGeom>
          <a:noFill/>
        </p:spPr>
        <p:txBody>
          <a:bodyPr wrap="square">
            <a:spAutoFit/>
          </a:bodyPr>
          <a:lstStyle/>
          <a:p>
            <a:r>
              <a:rPr sz="1300" i="1">
                <a:solidFill>
                  <a:srgbClr val="5C6670"/>
                </a:solidFill>
              </a:rPr>
              <a:t>New to me three weeks before this talk: mongosh, PyMongo, the LangGraph MongoDB checkpointer. Every demo is the first thing I wrote with each of them.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same design on a bottling line</a:t>
            </a:r>
            <a:endParaRPr lang="en-US" sz="3200" dirty="0"/>
          </a:p>
        </p:txBody>
      </p:sp>
      <p:pic>
        <p:nvPicPr>
          <p:cNvPr id="3" name="shot-factory-dashboard" descr="dashboard.png"/>
          <p:cNvPicPr>
            <a:picLocks noChangeAspect="1"/>
          </p:cNvPicPr>
          <p:nvPr/>
        </p:nvPicPr>
        <p:blipFill>
          <a:blip r:embed="rId2"/>
          <a:stretch>
            <a:fillRect/>
          </a:stretch>
        </p:blipFill>
        <p:spPr>
          <a:xfrm>
            <a:off x="640080" y="1325880"/>
            <a:ext cx="7589520" cy="3605022"/>
          </a:xfrm>
          <a:prstGeom prst="rect">
            <a:avLst/>
          </a:prstGeom>
        </p:spPr>
      </p:pic>
      <p:pic>
        <p:nvPicPr>
          <p:cNvPr id="4" name="shot-factory-belt" descr="unity-belt.png"/>
          <p:cNvPicPr>
            <a:picLocks noChangeAspect="1"/>
          </p:cNvPicPr>
          <p:nvPr/>
        </p:nvPicPr>
        <p:blipFill>
          <a:blip r:embed="rId3"/>
          <a:stretch>
            <a:fillRect/>
          </a:stretch>
        </p:blipFill>
        <p:spPr>
          <a:xfrm>
            <a:off x="8412480" y="1325880"/>
            <a:ext cx="3291840" cy="1851660"/>
          </a:xfrm>
          <a:prstGeom prst="rect">
            <a:avLst/>
          </a:prstGeom>
        </p:spPr>
      </p:pic>
      <p:sp>
        <p:nvSpPr>
          <p:cNvPr id="5" name="label-factory"/>
          <p:cNvSpPr txBox="1"/>
          <p:nvPr/>
        </p:nvSpPr>
        <p:spPr>
          <a:xfrm>
            <a:off x="8412480" y="3314700"/>
            <a:ext cx="3291840" cy="2194560"/>
          </a:xfrm>
          <a:prstGeom prst="rect">
            <a:avLst/>
          </a:prstGeom>
          <a:noFill/>
        </p:spPr>
        <p:txBody>
          <a:bodyPr wrap="square">
            <a:spAutoFit/>
          </a:bodyPr>
          <a:lstStyle/>
          <a:p>
            <a:pPr>
              <a:spcAft>
                <a:spcPts val="600"/>
              </a:spcAft>
            </a:pPr>
            <a:r>
              <a:rPr sz="1300">
                <a:solidFill>
                  <a:srgbClr val="1A1A1A"/>
                </a:solidFill>
              </a:rPr>
              <a:t>Camera and model write events. The agent proposes. The governor decides from the device's own evidence. The executor fires only on an approval.</a:t>
            </a:r>
          </a:p>
          <a:p>
            <a:pPr>
              <a:spcAft>
                <a:spcPts val="600"/>
              </a:spcAft>
            </a:pPr>
            <a:r>
              <a:rPr sz="1300">
                <a:solidFill>
                  <a:srgbClr val="1A1A1A"/>
                </a:solidFill>
              </a:rPr>
              <a:t>Same collections, same policy gate, hardware on the end: a reject gate instead of a training job.</a:t>
            </a:r>
          </a:p>
        </p:txBody>
      </p:sp>
      <p:sp>
        <p:nvSpPr>
          <p:cNvPr id="5" name="capture-marker"/>
          <p:cNvSpPr txBox="1"/>
          <p:nvPr/>
        </p:nvSpPr>
        <p:spPr>
          <a:xfrm>
            <a:off x="640080" y="5068062"/>
            <a:ext cx="10911840" cy="457200"/>
          </a:xfrm>
          <a:prstGeom prst="rect">
            <a:avLst/>
          </a:prstGeom>
          <a:noFill/>
        </p:spPr>
        <p:txBody>
          <a:bodyPr wrap="square">
            <a:spAutoFit/>
          </a:bodyPr>
          <a:lstStyle/>
          <a:p>
            <a:r>
              <a:rPr sz="1300"/>
              <a:t>The factory version of this talk, running on the same RUBIK Pi: bottles with a bad cap on the Unity factory-floor belt, a 3B model proposing, MongoDB deciding. Repo on request.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full disclosure</a:t>
            </a:r>
            <a:endParaRPr lang="en-US" sz="3200" dirty="0"/>
          </a:p>
        </p:txBody>
      </p:sp>
      <p:sp>
        <p:nvSpPr>
          <p:cNvPr id="3" name="card-what"/>
          <p:cNvSpPr/>
          <p:nvPr/>
        </p:nvSpPr>
        <p:spPr>
          <a:xfrm>
            <a:off x="64008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what"/>
          <p:cNvSpPr txBox="1"/>
          <p:nvPr/>
        </p:nvSpPr>
        <p:spPr>
          <a:xfrm>
            <a:off x="822960" y="1481328"/>
            <a:ext cx="3246120" cy="411480"/>
          </a:xfrm>
          <a:prstGeom prst="rect">
            <a:avLst/>
          </a:prstGeom>
          <a:noFill/>
        </p:spPr>
        <p:txBody>
          <a:bodyPr wrap="none">
            <a:spAutoFit/>
          </a:bodyPr>
          <a:lstStyle/>
          <a:p>
            <a:r>
              <a:rPr sz="1600" b="1">
                <a:solidFill>
                  <a:srgbClr val="00684A"/>
                </a:solidFill>
              </a:rPr>
              <a:t>What I know well</a:t>
            </a:r>
          </a:p>
        </p:txBody>
      </p:sp>
      <p:sp>
        <p:nvSpPr>
          <p:cNvPr id="5" name="lines-what"/>
          <p:cNvSpPr txBox="1"/>
          <p:nvPr/>
        </p:nvSpPr>
        <p:spPr>
          <a:xfrm>
            <a:off x="822960" y="1965960"/>
            <a:ext cx="3246120" cy="2926080"/>
          </a:xfrm>
          <a:prstGeom prst="rect">
            <a:avLst/>
          </a:prstGeom>
          <a:noFill/>
        </p:spPr>
        <p:txBody>
          <a:bodyPr wrap="square">
            <a:spAutoFit/>
          </a:bodyPr>
          <a:lstStyle/>
          <a:p>
            <a:pPr>
              <a:spcAft>
                <a:spcPts val="500"/>
              </a:spcAft>
            </a:pPr>
            <a:r>
              <a:rPr sz="1200">
                <a:solidFill>
                  <a:srgbClr val="1A1A1A"/>
                </a:solidFill>
              </a:rPr>
              <a:t>Agents that call tools, and MCP servers: the write-up this talk started from</a:t>
            </a:r>
          </a:p>
          <a:p>
            <a:pPr>
              <a:spcAft>
                <a:spcPts val="500"/>
              </a:spcAft>
            </a:pPr>
            <a:r>
              <a:rPr sz="1200">
                <a:solidFill>
                  <a:srgbClr val="1A1A1A"/>
                </a:solidFill>
              </a:rPr>
              <a:t>ML on small devices: four years at Edge Impulse, now Qualcomm, on this very board</a:t>
            </a:r>
          </a:p>
          <a:p>
            <a:pPr>
              <a:spcAft>
                <a:spcPts val="500"/>
              </a:spcAft>
            </a:pPr>
            <a:r>
              <a:rPr sz="1200">
                <a:solidFill>
                  <a:srgbClr val="1A1A1A"/>
                </a:solidFill>
              </a:rPr>
              <a:t>Distributed systems: eight years at IBM Galway, five as technical lead</a:t>
            </a:r>
          </a:p>
          <a:p>
            <a:pPr>
              <a:spcAft>
                <a:spcPts val="500"/>
              </a:spcAft>
            </a:pPr>
            <a:r>
              <a:rPr sz="1200">
                <a:solidFill>
                  <a:srgbClr val="1A1A1A"/>
                </a:solidFill>
              </a:rPr>
              <a:t>Semantics and knowledge graphs: the PhD, and why slide 17 matters to me</a:t>
            </a:r>
          </a:p>
        </p:txBody>
      </p:sp>
      <p:sp>
        <p:nvSpPr>
          <p:cNvPr id="6" name="card-three"/>
          <p:cNvSpPr/>
          <p:nvPr/>
        </p:nvSpPr>
        <p:spPr>
          <a:xfrm>
            <a:off x="438912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three"/>
          <p:cNvSpPr txBox="1"/>
          <p:nvPr/>
        </p:nvSpPr>
        <p:spPr>
          <a:xfrm>
            <a:off x="4572000" y="1481328"/>
            <a:ext cx="3246120" cy="411480"/>
          </a:xfrm>
          <a:prstGeom prst="rect">
            <a:avLst/>
          </a:prstGeom>
          <a:noFill/>
        </p:spPr>
        <p:txBody>
          <a:bodyPr wrap="none">
            <a:spAutoFit/>
          </a:bodyPr>
          <a:lstStyle/>
          <a:p>
            <a:r>
              <a:rPr sz="1600" b="1">
                <a:solidFill>
                  <a:srgbClr val="00684A"/>
                </a:solidFill>
              </a:rPr>
              <a:t>Three weeks old</a:t>
            </a:r>
          </a:p>
        </p:txBody>
      </p:sp>
      <p:sp>
        <p:nvSpPr>
          <p:cNvPr id="8" name="lines-three"/>
          <p:cNvSpPr txBox="1"/>
          <p:nvPr/>
        </p:nvSpPr>
        <p:spPr>
          <a:xfrm>
            <a:off x="4572000" y="1965960"/>
            <a:ext cx="3246120" cy="2926080"/>
          </a:xfrm>
          <a:prstGeom prst="rect">
            <a:avLst/>
          </a:prstGeom>
          <a:noFill/>
        </p:spPr>
        <p:txBody>
          <a:bodyPr wrap="square">
            <a:spAutoFit/>
          </a:bodyPr>
          <a:lstStyle/>
          <a:p>
            <a:pPr>
              <a:spcAft>
                <a:spcPts val="500"/>
              </a:spcAft>
            </a:pPr>
            <a:r>
              <a:rPr sz="1200">
                <a:solidFill>
                  <a:srgbClr val="1A1A1A"/>
                </a:solidFill>
              </a:rPr>
              <a:t>mongosh and PyMongo, first used for this talk</a:t>
            </a:r>
          </a:p>
          <a:p>
            <a:pPr>
              <a:spcAft>
                <a:spcPts val="500"/>
              </a:spcAft>
            </a:pPr>
            <a:r>
              <a:rPr sz="1200">
                <a:solidFill>
                  <a:srgbClr val="1A1A1A"/>
                </a:solidFill>
              </a:rPr>
              <a:t>Change streams with resume tokens, in anger rather than in the docs</a:t>
            </a:r>
          </a:p>
          <a:p>
            <a:pPr>
              <a:spcAft>
                <a:spcPts val="500"/>
              </a:spcAft>
            </a:pPr>
            <a:r>
              <a:rPr sz="1200">
                <a:solidFill>
                  <a:srgbClr val="1A1A1A"/>
                </a:solidFill>
              </a:rPr>
              <a:t>Time series, TTL, schema validation and roles as a working set</a:t>
            </a:r>
          </a:p>
          <a:p>
            <a:pPr>
              <a:spcAft>
                <a:spcPts val="500"/>
              </a:spcAft>
            </a:pPr>
            <a:r>
              <a:rPr sz="1200">
                <a:solidFill>
                  <a:srgbClr val="1A1A1A"/>
                </a:solidFill>
              </a:rPr>
              <a:t>The LangGraph MongoDB checkpointer and store</a:t>
            </a:r>
          </a:p>
          <a:p>
            <a:pPr>
              <a:spcAft>
                <a:spcPts val="500"/>
              </a:spcAft>
            </a:pPr>
            <a:r>
              <a:rPr sz="1200">
                <a:solidFill>
                  <a:srgbClr val="1A1A1A"/>
                </a:solidFill>
              </a:rPr>
              <a:t>Two skill badges this month; Schema Design Patterns in progress</a:t>
            </a:r>
          </a:p>
        </p:txBody>
      </p:sp>
      <p:sp>
        <p:nvSpPr>
          <p:cNvPr id="9" name="card-what"/>
          <p:cNvSpPr/>
          <p:nvPr/>
        </p:nvSpPr>
        <p:spPr>
          <a:xfrm>
            <a:off x="813816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what"/>
          <p:cNvSpPr txBox="1"/>
          <p:nvPr/>
        </p:nvSpPr>
        <p:spPr>
          <a:xfrm>
            <a:off x="8321040" y="1481328"/>
            <a:ext cx="3246120" cy="411480"/>
          </a:xfrm>
          <a:prstGeom prst="rect">
            <a:avLst/>
          </a:prstGeom>
          <a:noFill/>
        </p:spPr>
        <p:txBody>
          <a:bodyPr wrap="none">
            <a:spAutoFit/>
          </a:bodyPr>
          <a:lstStyle/>
          <a:p>
            <a:r>
              <a:rPr sz="1600" b="1">
                <a:solidFill>
                  <a:srgbClr val="00684A"/>
                </a:solidFill>
              </a:rPr>
              <a:t>What I have not done</a:t>
            </a:r>
          </a:p>
        </p:txBody>
      </p:sp>
      <p:sp>
        <p:nvSpPr>
          <p:cNvPr id="11" name="lines-what"/>
          <p:cNvSpPr txBox="1"/>
          <p:nvPr/>
        </p:nvSpPr>
        <p:spPr>
          <a:xfrm>
            <a:off x="8321040" y="1965960"/>
            <a:ext cx="3246120" cy="2926080"/>
          </a:xfrm>
          <a:prstGeom prst="rect">
            <a:avLst/>
          </a:prstGeom>
          <a:noFill/>
        </p:spPr>
        <p:txBody>
          <a:bodyPr wrap="square">
            <a:spAutoFit/>
          </a:bodyPr>
          <a:lstStyle/>
          <a:p>
            <a:pPr>
              <a:spcAft>
                <a:spcPts val="500"/>
              </a:spcAft>
            </a:pPr>
            <a:r>
              <a:rPr sz="1200">
                <a:solidFill>
                  <a:srgbClr val="1A1A1A"/>
                </a:solidFill>
              </a:rPr>
              <a:t>Run this beyond one board: no fleet, no sharded cluster in production</a:t>
            </a:r>
          </a:p>
          <a:p>
            <a:pPr>
              <a:spcAft>
                <a:spcPts val="500"/>
              </a:spcAft>
            </a:pPr>
            <a:r>
              <a:rPr sz="1200">
                <a:solidFill>
                  <a:srgbClr val="1A1A1A"/>
                </a:solidFill>
              </a:rPr>
              <a:t>Atlas Vector Search with mongot; on the Pi similarity is an aggregation</a:t>
            </a:r>
          </a:p>
          <a:p>
            <a:pPr>
              <a:spcAft>
                <a:spcPts val="500"/>
              </a:spcAft>
            </a:pPr>
            <a:r>
              <a:rPr sz="1200">
                <a:solidFill>
                  <a:srgbClr val="1A1A1A"/>
                </a:solidFill>
              </a:rPr>
              <a:t>Tuned WiredTiger for real load; SimCity is a model, not a benchmark</a:t>
            </a:r>
          </a:p>
          <a:p>
            <a:pPr>
              <a:spcAft>
                <a:spcPts val="500"/>
              </a:spcAft>
            </a:pPr>
            <a:r>
              <a:rPr sz="1200">
                <a:solidFill>
                  <a:srgbClr val="1A1A1A"/>
                </a:solidFill>
              </a:rPr>
              <a:t>Where any of this matters to your question, I will say so</a:t>
            </a:r>
          </a:p>
        </p:txBody>
      </p:sp>
      <p:sp>
        <p:nvSpPr>
          <p:cNvPr id="12" name="label-purpose"/>
          <p:cNvSpPr txBox="1"/>
          <p:nvPr/>
        </p:nvSpPr>
        <p:spPr>
          <a:xfrm>
            <a:off x="640080" y="5120640"/>
            <a:ext cx="10881360" cy="1097280"/>
          </a:xfrm>
          <a:prstGeom prst="rect">
            <a:avLst/>
          </a:prstGeom>
          <a:noFill/>
        </p:spPr>
        <p:txBody>
          <a:bodyPr wrap="square">
            <a:spAutoFit/>
          </a:bodyPr>
          <a:lstStyle/>
          <a:p>
            <a:pPr>
              <a:spcAft>
                <a:spcPts val="300"/>
              </a:spcAft>
            </a:pPr>
            <a:r>
              <a:rPr sz="1300" b="1">
                <a:solidFill>
                  <a:srgbClr val="5C6670"/>
                </a:solidFill>
              </a:rPr>
              <a:t>Why this exercise: </a:t>
            </a:r>
            <a:r>
              <a:rPr sz="1300" b="0">
                <a:solidFill>
                  <a:srgbClr val="5C6670"/>
                </a:solidFill>
              </a:rPr>
              <a:t>the brief asked for a teaching session on an advanced database topic, connected to MongoDB, for engineers new to it. I picked the problem I actually hit, an agent that could not say what it did five minutes ago, and learned the MongoDB side to answer it. Everything shown runs on the Pi on the desk and is in the repo; the claims are the ones I could test.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