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94" r:id="rId40"/>
    <p:sldId id="287" r:id="rId33"/>
    <p:sldId id="288" r:id="rId39"/>
    <p:sldId id="292" r:id="rId43"/>
    <p:sldId id="293" r:id="rId44"/>
    <p:sldId id="290" r:id="rId41"/>
    <p:sldId id="291" r:id="rId42"/>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4.xml"/><Relationship Id="rId40" Type="http://schemas.openxmlformats.org/officeDocument/2006/relationships/slide" Target="slides/slide32.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5.xml"/><Relationship Id="rId44"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'That question came out of a demo. The demo wasn't the hard part. Reliability was.' Say where everything runs, once, pointing at the footer: a RUBIK Pi on the desk, Qualcomm silicon, Ubuntu, MongoDB Community, no cloud behind it, that is what 'local' and 'edge' mean for the next forty minutes. Slide 8 repeats the two objectives and slide 21 closes on them. Don't say the word database yet. The reveal that this is a data-modelling problem comes about five minutes in.</a:t>
            </a:r>
          </a:p>
          <a:p/>
          <a:p>
            <a:r>
              <a:t>Then set the map in one breath, to the lens, not to the slide: 'By the end you'll be able to do two things: model and index the state of an agent workflow as documents the agent can read in one go, and decide what the agent remembers: what reacts to change, what expires, and what it must be able to explain. Those are the two learning objectives; everything else today serves them.'</a:t>
            </a:r>
          </a:p>
          <a:p/>
          <a:p>
            <a:r>
              <a:t>TRANSITION: 'Quick word on who's talking, then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not inside the 40.] Forty-five seconds. Credibility for the story, not a CV: eight years building distributed systems at IBM, four years at Edge Impulse putting ML on small devices through the Qualcomm acquisition, and a PhD on how distributed intelligent systems share meaning. 'Everything in this talk comes from trying to make an agent drive that platform reliably.' One line on the badges row, no more: 'I did two of MongoDB's own skill badges while preparing this, Building AI Agents with MongoDB, and AI and Innovation: How MongoDB Enables a Resilient AI Strategy, so where the talk uses MongoDB's terms, that is where they come from. Schema Design Patterns is the one I'm on now; it is the badge this talk recommends.' Point at the QR: the SimCity model is open if they want to follow the database side live.</a:t>
            </a:r>
          </a:p>
          <a:p/>
          <a:p>
            <a:r>
              <a:t>TRANSITION: 'Before we start, three questions for you.'</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you return to them at 'Where does this live?' and at 'What to take back'. The panel should say the problem out loud before you name it. TRANSITION: 'Hold those answers. Let me show you where mine came from.'</a:t>
            </a:r>
          </a:p>
          <a:p/>
          <a:p>
            <a:r>
              <a:t>Who is in the room: engineers who know documents, indexes and change streams and have not built an agent's memory. Every section bridges from the first to the second: the familiar MongoDB feature first, then what it becomes when an agent is the client. Any term that might be new is defined before its mechanism.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not one endpoint, the whole workflow: projects, data, DSP blocks, training jobs, results. Five evenings. Built off the public Postman collection so no source left the laptop. Low-level tools stayed close to the REST API; skills on top for the things agents keep trying to do, train, wait, tune, compare. The sentence that made it feel real: 'Train this project, optimise for accuracy under constraints, and tell me what changed.' Edge context in one line: this is a platform that puts ML on devices the size of a coin,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MongoDB now ships the same idea for its own database as Agent Skills, which comes back on the where-to-go-next slide. DROP IN: the MCP server response screenshot from the blog post. ONE LINE for the LangChain crowd, no more in a two-minute slot: 'If you know LangChain tools,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a:p/>
          <a:p>
            <a:r>
              <a:t>The loop draws itself when the slide opens, left to right: prompt, agent, MCP server, API, training job, result, then the iterate arrow back to the agent. Say each box as it appears; the MCP server is the highlighted one, because that is the natural-language control plane: the agent never sees the API, only tools. Pause on 'iterate': that loop is where state has to live.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this is you telling a story about your own evenings. The key wasn't MCP, it was engineering discipline so the agent couldn't bluff its way through. Three moves. One: walk the API and stub everything, a mock server so I could shape the tool surface without hammering real jobs. Two: tests for every tool, happy path, failure path, missing params, weird edge cases. That was the biggest unlock: without tests the agent happily moves forward on assumptions; with them I could tell whether a failure was my wrapper, the endpoint, or the agent being silly. Three: agent-friendly helpers, waiting and polling on long jobs, clear org-vs-project scoping, stricter validation. Flag the third one: 'remember those three helpers, they are the whole second half of this talk.' DROP IN: the testing-framework screenshot from the blog post.</a:t>
            </a:r>
          </a:p>
          <a:p/>
          <a:p>
            <a:r>
              <a:t>TRANSITION: 'And then it started leaking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they were plumbing. Straight from the logs: IDs everywhere, block IDs, project IDs, org numbers, and the agent had to be told them or go and discover them before doing anything destructive. Job timing, training takes minutes, so wait / status / retry, and if the process died in between, the job was orphaned. State management,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works until the context fills or the process restarts; a file, one agent, one machine; a cache,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Two objectives, not five. Say them as promises and return to them at the end as the takeaways. TRANSITION: 'Objective one, modelling the state. And the odd thing about modelling in a document database is that you don't start with the data.'</a:t>
            </a:r>
          </a:p>
          <a:p/>
          <a:p>
            <a:r>
              <a:t>Say the word: 'Two objectives, in three parts.' Point at the bridge line first: they already know the features; the new thing is using them as memory.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and then pick it apart.'</a:t>
            </a:r>
          </a:p>
          <a:p/>
          <a:p>
            <a:r>
              <a:t>Application, twenty seconds: 'What is the sixth question your operator asks when something goes wrong? Type it.' Read one back by name. If it fits, it becomes the index example on slide 12: the question creates the index.</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job events, training logs, artifacts. And a third column people forget: the append-only log, actions, status transitions, approvals, because the question 'why did it do that?' is a history question. Q&amp;A fodder: the 16 MB limit, unbounded arrays, the subset pattern, duplication versus a second read. ANALOGY: embedding is a passport with your photo printed in it, everything you need in one read. Referencing is a reference number to a file held somewhere else, a second lookup, but the file can grow and be shared. TRANSITION: 'That's objective one done, we have a shape. Objective one, second half: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let them argue it.) ANALOGY: an index is the index at the back of a textbook, you build it for the questions readers actually ask, and every page you add means updating it. TRANSITION: 'Reads sorted. That's objective one done: a shape, and the index for each question. Objective two, what the agent should remember, starts with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the database rings when the thing you care about changes. TRANSITION: 'Objective two, second part: what expires. First question,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fine for scratch data, which is the point; nothing with a correctness requirement should rely on it. ANALOGY: expiresAt is a best-before date stamped when the milk is bottled,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the database should make it cheap to change your mind. TRANSITION: 'So far every question has had an exact answer. Not every question does.'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same staff directory, different question. TRANSITION: 'Last piece of memory: not what the agent knows, but what it was allowed to do.'</a:t>
            </a:r>
          </a:p>
          <a:p/>
          <a:p>
            <a:r>
              <a:t>The animation draws the two queries one after the other, then the arrows meet on one box. Left first: the exact question, a find with three fields. Then the right: the same collection, one aggregation stage, a vector. Wait for the box before the next sentence: one collection, one document, two query modes.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that's the audit collection. It's a field, not a feature.'</a:t>
            </a:r>
          </a:p>
          <a:p/>
          <a:p>
            <a:r>
              <a:t>The cards carry one line each; say the second half of each: Replace your polling loop with a change stream this week. Decide embed versus reference by read pattern, not by habit. Keep audit and approvals out of the expiry list. If the answer isn't a collection, it isn't ready.</a:t>
            </a:r>
          </a:p>
          <a:p/>
          <a:p>
            <a:r>
              <a:t>TRANSITION: 'Three things I want you to remember.'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start with the questions. Index for the questions, every index is a trade. Treat AI memory as data, persist what matters, expire what doesn't, make actions explainable.</a:t>
            </a:r>
          </a:p>
          <a:p/>
          <a:p>
            <a:r>
              <a:t>Reflection, ten seconds of silence after the third line: 'Which of the three would have saved you a restart last quarter?' Nobody answers aloud; that is the point. Then move on.</a:t>
            </a:r>
          </a:p>
          <a:p/>
          <a:p>
            <a:r>
              <a:t>TRANSITION: 'Where to go next, routed by what you need.'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sixty to ninety minutes each with a Credly badge; AI Agents with MongoDB and Schema Design Patterns follow this talk directly, and the book: From Systems of Record to Agentic Systems of Action, Packt 2026, written by MongoDB practitioners; it covers exactly this ground at enterprise scale, agent memory and working state, event-driven sync, controlled writeback, human oversight, auditability. Ask: the Community Forums, where the engineering team answers, and the docs, the four pages behind this talk are on the corner QRs; the docs assistant answers most 'how do I' questions directly. Build: MongoDB Agent Skills,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it's to leave you knowing where the answer lives.'</a:t>
            </a:r>
          </a:p>
          <a:p/>
          <a:p>
            <a:r>
              <a:t>TRANSITION: 'Thank you. The Pi is on the desk;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a:p/>
          <a:p>
            <a:r>
              <a:t>If asked how the lab is paced: diminishing coaching. Step 1 is fully worked on the slide-10 document, steps 2 and 3 give the shape and ask for the index, steps 4 and 5 are open. Varied problems: the same five steps on their own workflow log, not mine.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in LangGraph the checkpointer, keyed by thread_id, which is exactly our runId. Long-term memory is what the agent learned across runs, the Store, namespaced by project. Both are collections; both get indexes, TTL and audit like everything else. If they raise LangChain tools versus my MCP tools: same contract to the model, different home,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runs that derived from runs, a device's deployments,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when does it stop working? read pattern first; unbounded growth; 16 MB is the symptom, the hot cache page is the disease; split runs out, keep a summary in the project. (2) change-stream consumer down for an hour, resume token; oplog window; past it, re-scan by updatedAt since last processed; idempotent handler either way. (3) two agents pick up the same approved action, the approval record is the lock: conditional update approved→executing with the agent id, one wins, the other matches zero. (4) why not Postgres JSONB, it works; depends whether hot queries are over the document shape or across it; be honest, then name what you'd lose: change streams, per-document TTL, vector index beside the document. (5) what's wrong with your index,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 the MongoDB MCP Server gives a coding agent the live database, so it reads real schemas and indexes instead of guessing. Agent-friendly helpers → Agent Skills: a Schema Design skill (embed vs reference, validation), a Query Optimizer (checks the index actually serves the query,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sources here so the main deck never reads like documentation.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 Id="rId6" Type="http://schemas.openxmlformats.org/officeDocument/2006/relationships/image" Target="../media/image28.png"/><Relationship Id="rId7" Type="http://schemas.openxmlformats.org/officeDocument/2006/relationships/image" Target="../media/image40.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 Id="rId4"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 Id="rId5"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 Id="rId5"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 Id="rId5" Type="http://schemas.openxmlformats.org/officeDocument/2006/relationships/image" Target="../media/image36.png"/><Relationship Id="rId6" Type="http://schemas.openxmlformats.org/officeDocument/2006/relationships/image" Target="../media/image41.gif"/></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 Id="rId6"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5" name="label-map"/>
          <p:cNvSpPr txBox="1"/>
          <p:nvPr/>
        </p:nvSpPr>
        <p:spPr>
          <a:xfrm>
            <a:off x="822960" y="4800600"/>
            <a:ext cx="7589520" cy="105156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1 · model and index the state of an agent workflow as documents the agent can read in one go   2 · decide what the agent remembers: what reacts to change, what expires, and what it must be able to explain</a:t>
            </a:r>
            <a:endParaRPr lang="en-US" sz="1400" dirty="0"/>
          </a:p>
        </p:txBody>
      </p:sp>
      <p:pic>
        <p:nvPicPr>
          <p:cNvPr id="6" name="drawio-s01-motif" descr="s01-motif.png"/>
          <p:cNvPicPr>
            <a:picLocks noChangeAspect="1"/>
          </p:cNvPicPr>
          <p:nvPr/>
        </p:nvPicPr>
        <p:blipFill>
          <a:blip r:embed="rId3"/>
          <a:stretch>
            <a:fillRect/>
          </a:stretch>
        </p:blipFill>
        <p:spPr>
          <a:xfrm>
            <a:off x="8503920" y="5120640"/>
            <a:ext cx="3017520" cy="1136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Who's talking</a:t>
            </a:r>
            <a:endParaRPr lang="en-US" sz="3200" dirty="0"/>
          </a:p>
        </p:txBody>
      </p:sp>
      <p:sp>
        <p:nvSpPr>
          <p:cNvPr id="4" name="label-9"/>
          <p:cNvSpPr txBox="1"/>
          <p:nvPr/>
        </p:nvSpPr>
        <p:spPr>
          <a:xfrm>
            <a:off x="640080" y="1463040"/>
            <a:ext cx="6949440" cy="548640"/>
          </a:xfrm>
          <a:prstGeom prst="rect">
            <a:avLst/>
          </a:prstGeom>
          <a:noFill/>
          <a:ln/>
        </p:spPr>
        <p:txBody>
          <a:bodyPr wrap="square" lIns="0" tIns="0" rIns="0" bIns="0" rtlCol="0" anchor="t"/>
          <a:lstStyle/>
          <a:p>
            <a:pPr algn="l" indent="0" marL="0">
              <a:buNone/>
            </a:pPr>
            <a:r>
              <a:rPr lang="en-US" sz="2800" b="1" dirty="0">
                <a:solidFill>
                  <a:schemeClr val="tx1"/>
                </a:solidFill>
              </a:rPr>
              <a:t>Eoin Jordan</a:t>
            </a:r>
            <a:endParaRPr lang="en-US" sz="2800" dirty="0"/>
          </a:p>
        </p:txBody>
      </p:sp>
      <p:sp>
        <p:nvSpPr>
          <p:cNvPr id="5" name="label-10"/>
          <p:cNvSpPr txBox="1"/>
          <p:nvPr/>
        </p:nvSpPr>
        <p:spPr>
          <a:xfrm>
            <a:off x="640080" y="2011680"/>
            <a:ext cx="6949440" cy="457200"/>
          </a:xfrm>
          <a:prstGeom prst="rect">
            <a:avLst/>
          </a:prstGeom>
          <a:noFill/>
          <a:ln/>
        </p:spPr>
        <p:txBody>
          <a:bodyPr wrap="square" lIns="0" tIns="0" rIns="0" bIns="0" rtlCol="0" anchor="t"/>
          <a:lstStyle/>
          <a:p>
            <a:pPr algn="l" indent="0" marL="0">
              <a:buNone/>
            </a:pPr>
            <a:r>
              <a:rPr lang="en-US" sz="1600" dirty="0">
                <a:solidFill>
                  <a:schemeClr val="accent1"/>
                </a:solidFill>
              </a:rPr>
              <a:t>Senior Developer Relations Engineer, Edge Impulse / Qualcomm</a:t>
            </a:r>
            <a:endParaRPr lang="en-US" sz="1600" dirty="0"/>
          </a:p>
        </p:txBody>
      </p:sp>
      <p:sp>
        <p:nvSpPr>
          <p:cNvPr id="6" name="dot-11"/>
          <p:cNvSpPr/>
          <p:nvPr/>
        </p:nvSpPr>
        <p:spPr>
          <a:xfrm>
            <a:off x="685800" y="2834640"/>
            <a:ext cx="146304" cy="146304"/>
          </a:xfrm>
          <a:prstGeom prst="ellipse">
            <a:avLst/>
          </a:prstGeom>
          <a:solidFill>
            <a:schemeClr val="accent2"/>
          </a:solidFill>
          <a:ln w="12700">
            <a:solidFill>
              <a:schemeClr val="accent2"/>
            </a:solidFill>
            <a:prstDash val="solid"/>
          </a:ln>
        </p:spPr>
        <p:txBody>
          <a:bodyPr/>
          <a:p/>
        </p:txBody>
      </p:sp>
      <p:sp>
        <p:nvSpPr>
          <p:cNvPr id="7" name="label-12"/>
          <p:cNvSpPr txBox="1"/>
          <p:nvPr/>
        </p:nvSpPr>
        <p:spPr>
          <a:xfrm>
            <a:off x="960120" y="2743200"/>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Now</a:t>
            </a:r>
            <a:endParaRPr lang="en-US" sz="1500" dirty="0"/>
          </a:p>
        </p:txBody>
      </p:sp>
      <p:sp>
        <p:nvSpPr>
          <p:cNvPr id="8" name="label-13"/>
          <p:cNvSpPr txBox="1"/>
          <p:nvPr/>
        </p:nvSpPr>
        <p:spPr>
          <a:xfrm>
            <a:off x="2286000" y="2743200"/>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Four years putting ML on small devices at Edge Impulse: joined at Series B, stayed through the Qualcomm acquisition. Built the MCP server this talk is about.</a:t>
            </a:r>
            <a:endParaRPr lang="en-US" sz="1300" dirty="0"/>
          </a:p>
        </p:txBody>
      </p:sp>
      <p:sp>
        <p:nvSpPr>
          <p:cNvPr id="9" name="dot-14"/>
          <p:cNvSpPr/>
          <p:nvPr/>
        </p:nvSpPr>
        <p:spPr>
          <a:xfrm>
            <a:off x="685800" y="3675888"/>
            <a:ext cx="146304" cy="146304"/>
          </a:xfrm>
          <a:prstGeom prst="ellipse">
            <a:avLst/>
          </a:prstGeom>
          <a:solidFill>
            <a:schemeClr val="accent2"/>
          </a:solidFill>
          <a:ln w="12700">
            <a:solidFill>
              <a:schemeClr val="accent2"/>
            </a:solidFill>
            <a:prstDash val="solid"/>
          </a:ln>
        </p:spPr>
        <p:txBody>
          <a:bodyPr/>
          <a:p/>
        </p:txBody>
      </p:sp>
      <p:sp>
        <p:nvSpPr>
          <p:cNvPr id="10" name="label-15"/>
          <p:cNvSpPr txBox="1"/>
          <p:nvPr/>
        </p:nvSpPr>
        <p:spPr>
          <a:xfrm>
            <a:off x="960120" y="358444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Before</a:t>
            </a:r>
            <a:endParaRPr lang="en-US" sz="1500" dirty="0"/>
          </a:p>
        </p:txBody>
      </p:sp>
      <p:sp>
        <p:nvSpPr>
          <p:cNvPr id="11" name="label-16"/>
          <p:cNvSpPr txBox="1"/>
          <p:nvPr/>
        </p:nvSpPr>
        <p:spPr>
          <a:xfrm>
            <a:off x="2286000" y="3584448"/>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Eight years at IBM Galway, five as technical lead on distributed and cloud-native systems: Java, Kafka, Kubernetes, OpenShift.</a:t>
            </a:r>
            <a:endParaRPr lang="en-US" sz="1300" dirty="0"/>
          </a:p>
        </p:txBody>
      </p:sp>
      <p:sp>
        <p:nvSpPr>
          <p:cNvPr id="12" name="dot-17"/>
          <p:cNvSpPr/>
          <p:nvPr/>
        </p:nvSpPr>
        <p:spPr>
          <a:xfrm>
            <a:off x="685800" y="4517136"/>
            <a:ext cx="146304" cy="146304"/>
          </a:xfrm>
          <a:prstGeom prst="ellipse">
            <a:avLst/>
          </a:prstGeom>
          <a:solidFill>
            <a:schemeClr val="accent2"/>
          </a:solidFill>
          <a:ln w="12700">
            <a:solidFill>
              <a:schemeClr val="accent2"/>
            </a:solidFill>
            <a:prstDash val="solid"/>
          </a:ln>
        </p:spPr>
        <p:txBody>
          <a:bodyPr/>
          <a:p/>
        </p:txBody>
      </p:sp>
      <p:sp>
        <p:nvSpPr>
          <p:cNvPr id="13" name="label-18"/>
          <p:cNvSpPr txBox="1"/>
          <p:nvPr/>
        </p:nvSpPr>
        <p:spPr>
          <a:xfrm>
            <a:off x="960120" y="4425696"/>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Research</a:t>
            </a:r>
            <a:endParaRPr lang="en-US" sz="1500" dirty="0"/>
          </a:p>
        </p:txBody>
      </p:sp>
      <p:sp>
        <p:nvSpPr>
          <p:cNvPr id="14" name="label-19"/>
          <p:cNvSpPr txBox="1"/>
          <p:nvPr/>
        </p:nvSpPr>
        <p:spPr>
          <a:xfrm>
            <a:off x="2286000" y="4425696"/>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PhD at the Insight Centre for Data Analytics, University of Galway, on semantic interoperability for distributed intelligent systems.</a:t>
            </a:r>
            <a:endParaRPr lang="en-US" sz="1300" dirty="0"/>
          </a:p>
        </p:txBody>
      </p:sp>
      <p:sp>
        <p:nvSpPr>
          <p:cNvPr id="15" name="dot-20"/>
          <p:cNvSpPr/>
          <p:nvPr/>
        </p:nvSpPr>
        <p:spPr>
          <a:xfrm>
            <a:off x="685800" y="5358384"/>
            <a:ext cx="146304" cy="146304"/>
          </a:xfrm>
          <a:prstGeom prst="ellipse">
            <a:avLst/>
          </a:prstGeom>
          <a:solidFill>
            <a:schemeClr val="accent2"/>
          </a:solidFill>
          <a:ln w="12700">
            <a:solidFill>
              <a:schemeClr val="accent2"/>
            </a:solidFill>
            <a:prstDash val="solid"/>
          </a:ln>
        </p:spPr>
        <p:txBody>
          <a:bodyPr/>
          <a:p/>
        </p:txBody>
      </p:sp>
      <p:sp>
        <p:nvSpPr>
          <p:cNvPr id="16" name="label-21"/>
          <p:cNvSpPr txBox="1"/>
          <p:nvPr/>
        </p:nvSpPr>
        <p:spPr>
          <a:xfrm>
            <a:off x="960120" y="5266944"/>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On the side</a:t>
            </a:r>
            <a:endParaRPr lang="en-US" sz="1500" dirty="0"/>
          </a:p>
        </p:txBody>
      </p:sp>
      <p:sp>
        <p:nvSpPr>
          <p:cNvPr id="17" name="label-22"/>
          <p:cNvSpPr txBox="1"/>
          <p:nvPr/>
        </p:nvSpPr>
        <p:spPr>
          <a:xfrm>
            <a:off x="2286000" y="5266944"/>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MongoDBSimCity: an explorable 3D model of a mongod, measured against a real 9.0 server on a RUBIK Pi 3.</a:t>
            </a:r>
            <a:endParaRPr lang="en-US" sz="13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098280" y="1828800"/>
            <a:ext cx="1828800" cy="1828800"/>
          </a:xfrm>
          <a:prstGeom prst="rect">
            <a:avLst/>
          </a:prstGeom>
        </p:spPr>
      </p:pic>
      <p:sp>
        <p:nvSpPr>
          <p:cNvPr id="20" name="label-25"/>
          <p:cNvSpPr txBox="1"/>
          <p:nvPr/>
        </p:nvSpPr>
        <p:spPr>
          <a:xfrm>
            <a:off x="8595360" y="374904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595360" y="411480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walk through a MongoDB 9.0 server in your browser while we talk</a:t>
            </a:r>
            <a:endParaRPr lang="en-US" sz="1200" dirty="0"/>
          </a:p>
        </p:txBody>
      </p:sp>
      <p:sp>
        <p:nvSpPr>
          <p:cNvPr id="22" name="label-27"/>
          <p:cNvSpPr txBox="1"/>
          <p:nvPr/>
        </p:nvSpPr>
        <p:spPr>
          <a:xfrm>
            <a:off x="8595360" y="507492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
        <p:nvSpPr>
          <p:cNvPr id="16" name="label-badges-k"/>
          <p:cNvSpPr txBox="1"/>
          <p:nvPr/>
        </p:nvSpPr>
        <p:spPr>
          <a:xfrm>
            <a:off x="960120" y="605332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Badges</a:t>
            </a:r>
            <a:endParaRPr lang="en-US" sz="1500" dirty="0"/>
          </a:p>
        </p:txBody>
      </p:sp>
      <p:sp>
        <p:nvSpPr>
          <p:cNvPr id="17" name="label-badges"/>
          <p:cNvSpPr txBox="1"/>
          <p:nvPr/>
        </p:nvSpPr>
        <p:spPr>
          <a:xfrm>
            <a:off x="2286000" y="6053328"/>
            <a:ext cx="5486400" cy="640080"/>
          </a:xfrm>
          <a:prstGeom prst="rect">
            <a:avLst/>
          </a:prstGeom>
          <a:noFill/>
          <a:ln/>
        </p:spPr>
        <p:txBody>
          <a:bodyPr wrap="square" lIns="0" tIns="0" rIns="0" bIns="0" rtlCol="0" anchor="t"/>
          <a:lstStyle/>
          <a:p>
            <a:pPr algn="l" indent="0" marL="0">
              <a:buNone/>
            </a:pPr>
            <a:r>
              <a:rPr lang="en-US" sz="1300" dirty="0">
                <a:solidFill>
                  <a:schemeClr val="tx2"/>
                </a:solidFill>
              </a:rPr>
              <a:t>MongoDB skill badges, October 2026: Building AI Agents with MongoDB · AI and Innovation: How MongoDB Enables a Resilient AI Strategy · Schema Design Patterns (in progress)</a:t>
            </a:r>
            <a:endParaRPr lang="en-US" sz="1300" dirty="0"/>
          </a:p>
        </p:txBody>
      </p:sp>
      <p:sp>
        <p:nvSpPr>
          <p:cNvPr id="15" name="dot-badges"/>
          <p:cNvSpPr/>
          <p:nvPr/>
        </p:nvSpPr>
        <p:spPr>
          <a:xfrm>
            <a:off x="685800" y="6144768"/>
            <a:ext cx="146304" cy="146304"/>
          </a:xfrm>
          <a:prstGeom prst="ellipse">
            <a:avLst/>
          </a:prstGeom>
          <a:solidFill>
            <a:schemeClr val="accent2"/>
          </a:solidFill>
          <a:ln w="12700">
            <a:solidFill>
              <a:schemeClr val="accent2"/>
            </a:solidFill>
            <a:prstDash val="solid"/>
          </a:ln>
        </p:spPr>
        <p:txBody>
          <a:body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What came back: the same project, retrained by the agent under those constraints, 99.6% to 100%, with a summary of what it changed. (Screenshot from the blog post.)</a:t>
            </a:r>
            <a:endParaRPr lang="en-US" sz="1500" dirty="0"/>
          </a:p>
        </p:txBody>
      </p:sp>
      <p:pic>
        <p:nvPicPr>
          <p:cNvPr id="529" name="anim-loop" descr="loop.gif"/>
          <p:cNvPicPr>
            <a:picLocks noChangeAspect="1"/>
          </p:cNvPicPr>
          <p:nvPr/>
        </p:nvPicPr>
        <p:blipFill>
          <a:blip r:embed="rId7"/>
          <a:stretch>
            <a:fillRect/>
          </a:stretch>
        </p:blipFill>
        <p:spPr>
          <a:xfrm>
            <a:off x="640080" y="1828800"/>
            <a:ext cx="8595360" cy="17129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drawio-s06-leak" descr="s06-leak.png"/>
          <p:cNvPicPr>
            <a:picLocks noChangeAspect="1"/>
          </p:cNvPicPr>
          <p:nvPr/>
        </p:nvPicPr>
        <p:blipFill>
          <a:blip r:embed="rId4"/>
          <a:stretch>
            <a:fillRect/>
          </a:stretch>
        </p:blipFill>
        <p:spPr>
          <a:xfrm>
            <a:off x="3840480" y="1920240"/>
            <a:ext cx="7863840" cy="267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where"/>
          <p:cNvSpPr txBox="1"/>
          <p:nvPr/>
        </p:nvSpPr>
        <p:spPr>
          <a:xfrm>
            <a:off x="640080" y="1828800"/>
            <a:ext cx="10881360" cy="914400"/>
          </a:xfrm>
          <a:prstGeom prst="rect">
            <a:avLst/>
          </a:prstGeom>
          <a:noFill/>
        </p:spPr>
        <p:txBody>
          <a:bodyPr wrap="square">
            <a:spAutoFit/>
          </a:bodyPr>
          <a:lstStyle/>
          <a:p>
            <a:pPr algn="ctr">
              <a:lnSpc>
                <a:spcPct val="100000"/>
              </a:lnSpc>
            </a:pPr>
            <a:r>
              <a:rPr sz="4000" b="1">
                <a:solidFill>
                  <a:srgbClr val="001E2B"/>
                </a:solidFill>
              </a:rPr>
              <a:t>Where does this live?</a:t>
            </a:r>
          </a:p>
        </p:txBody>
      </p:sp>
      <p:pic>
        <p:nvPicPr>
          <p:cNvPr id="3" name="drawio-s07-where" descr="s07-where.png"/>
          <p:cNvPicPr>
            <a:picLocks noChangeAspect="1"/>
          </p:cNvPicPr>
          <p:nvPr/>
        </p:nvPicPr>
        <p:blipFill>
          <a:blip r:embed="rId4"/>
          <a:stretch>
            <a:fillRect/>
          </a:stretch>
        </p:blipFill>
        <p:spPr>
          <a:xfrm>
            <a:off x="1295400" y="3108960"/>
            <a:ext cx="9601200" cy="7879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 two objectives</a:t>
            </a:r>
            <a:endParaRPr lang="en-US" sz="3200" dirty="0"/>
          </a:p>
        </p:txBody>
      </p:sp>
      <p:sp>
        <p:nvSpPr>
          <p:cNvPr id="4" name="num-114"/>
          <p:cNvSpPr txBox="1"/>
          <p:nvPr/>
        </p:nvSpPr>
        <p:spPr>
          <a:xfrm>
            <a:off x="822960" y="214884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205740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and index the state</a:t>
            </a:r>
            <a:endParaRPr lang="en-US" sz="2600" dirty="0"/>
          </a:p>
        </p:txBody>
      </p:sp>
      <p:sp>
        <p:nvSpPr>
          <p:cNvPr id="6" name="label-116"/>
          <p:cNvSpPr txBox="1"/>
          <p:nvPr/>
        </p:nvSpPr>
        <p:spPr>
          <a:xfrm>
            <a:off x="1645920" y="260604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an agent workflow as documents the agent can read in one go, with the index each question needs</a:t>
            </a:r>
            <a:endParaRPr lang="en-US" sz="1600" dirty="0"/>
          </a:p>
        </p:txBody>
      </p:sp>
      <p:sp>
        <p:nvSpPr>
          <p:cNvPr id="7" name="num-117"/>
          <p:cNvSpPr txBox="1"/>
          <p:nvPr/>
        </p:nvSpPr>
        <p:spPr>
          <a:xfrm>
            <a:off x="822960" y="370332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61188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9" name="label-119"/>
          <p:cNvSpPr txBox="1"/>
          <p:nvPr/>
        </p:nvSpPr>
        <p:spPr>
          <a:xfrm>
            <a:off x="1645920" y="416052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Each idea is applied to the same running example, a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
        <p:nvSpPr>
          <p:cNvPr id="26" name="label-bridge"/>
          <p:cNvSpPr txBox="1"/>
          <p:nvPr/>
        </p:nvSpPr>
        <p:spPr>
          <a:xfrm>
            <a:off x="822960" y="1280160"/>
            <a:ext cx="10515600" cy="457200"/>
          </a:xfrm>
          <a:prstGeom prst="rect">
            <a:avLst/>
          </a:prstGeom>
          <a:noFill/>
        </p:spPr>
        <p:txBody>
          <a:bodyPr wrap="square">
            <a:spAutoFit/>
          </a:bodyPr>
          <a:lstStyle/>
          <a:p>
            <a:r>
              <a:rPr sz="1600" b="0" i="0">
                <a:solidFill>
                  <a:srgbClr val="5C6670"/>
                </a:solidFill>
              </a:rPr>
              <a:t>You already know documents, indexes and change streams. New today: using them as an agent's memory.</a:t>
            </a:r>
          </a:p>
        </p:txBody>
      </p:sp>
      <p:sp>
        <p:nvSpPr>
          <p:cNvPr id="27" name="label-parts"/>
          <p:cNvSpPr txBox="1"/>
          <p:nvPr/>
        </p:nvSpPr>
        <p:spPr>
          <a:xfrm>
            <a:off x="1645920" y="4983480"/>
            <a:ext cx="9601200" cy="457200"/>
          </a:xfrm>
          <a:prstGeom prst="rect">
            <a:avLst/>
          </a:prstGeom>
          <a:noFill/>
        </p:spPr>
        <p:txBody>
          <a:bodyPr wrap="square">
            <a:spAutoFit/>
          </a:bodyPr>
          <a:lstStyle/>
          <a:p>
            <a:r>
              <a:rPr sz="1500" b="0" i="0">
                <a:solidFill>
                  <a:srgbClr val="5C6670"/>
                </a:solidFill>
              </a:rPr>
              <a:t>Three parts: the document and its indexes  ·  reacting to change  ·  what to keep, what to expire, what to explain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Decide the questions first. The document's shape follows them.</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
        <p:nvSpPr>
          <p:cNvPr id="26" name="code-card"/>
          <p:cNvSpPr/>
          <p:nvPr/>
        </p:nvSpPr>
        <p:spPr>
          <a:xfrm>
            <a:off x="640080" y="1417320"/>
            <a:ext cx="6309360" cy="470916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de-run"/>
          <p:cNvSpPr txBox="1"/>
          <p:nvPr/>
        </p:nvSpPr>
        <p:spPr>
          <a:xfrm>
            <a:off x="777240" y="1508760"/>
            <a:ext cx="6035040" cy="457200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runId:      "run-1842",</a:t>
            </a:r>
          </a:p>
          <a:p>
            <a:pPr algn="l">
              <a:lnSpc>
                <a:spcPct val="100000"/>
              </a:lnSpc>
            </a:pPr>
            <a:r>
              <a:rPr sz="1250" b="0">
                <a:solidFill>
                  <a:srgbClr val="1A1A1A"/>
                </a:solidFill>
                <a:latin typeface="Consolas"/>
              </a:rPr>
              <a:t>  projectId:  "project-512482",</a:t>
            </a:r>
          </a:p>
          <a:p>
            <a:pPr algn="l">
              <a:lnSpc>
                <a:spcPct val="100000"/>
              </a:lnSpc>
            </a:pPr>
            <a:r>
              <a:rPr sz="1250" b="0">
                <a:solidFill>
                  <a:srgbClr val="1A1A1A"/>
                </a:solidFill>
                <a:latin typeface="Consolas"/>
              </a:rPr>
              <a:t>  orgId:      "org-71",</a:t>
            </a:r>
          </a:p>
          <a:p>
            <a:pPr algn="l">
              <a:lnSpc>
                <a:spcPct val="100000"/>
              </a:lnSpc>
            </a:pPr>
            <a:r>
              <a:rPr sz="1250" b="0">
                <a:solidFill>
                  <a:srgbClr val="1A1A1A"/>
                </a:solidFill>
                <a:latin typeface="Consolas"/>
              </a:rPr>
              <a:t>  objective:  { metric: "accuracy", target: 0.92 },</a:t>
            </a:r>
          </a:p>
          <a:p>
            <a:pPr algn="l">
              <a:lnSpc>
                <a:spcPct val="100000"/>
              </a:lnSpc>
            </a:pPr>
            <a:r>
              <a:rPr sz="1250" b="0">
                <a:solidFill>
                  <a:srgbClr val="1A1A1A"/>
                </a:solidFill>
                <a:latin typeface="Consolas"/>
              </a:rPr>
              <a:t>  status:     "training",</a:t>
            </a:r>
          </a:p>
          <a:p>
            <a:pPr algn="l">
              <a:lnSpc>
                <a:spcPct val="100000"/>
              </a:lnSpc>
            </a:pPr>
            <a:r>
              <a:rPr sz="1250" b="0">
                <a:solidFill>
                  <a:srgbClr val="1A1A1A"/>
                </a:solidFill>
                <a:latin typeface="Consolas"/>
              </a:rPr>
              <a:t>  configuration: { windowMs: 2000,</a:t>
            </a:r>
          </a:p>
          <a:p>
            <a:pPr algn="l">
              <a:lnSpc>
                <a:spcPct val="100000"/>
              </a:lnSpc>
            </a:pPr>
            <a:r>
              <a:rPr sz="1250" b="0">
                <a:solidFill>
                  <a:srgbClr val="1A1A1A"/>
                </a:solidFill>
                <a:latin typeface="Consolas"/>
              </a:rPr>
              <a:t>                   learningRate: 0.001 },</a:t>
            </a:r>
          </a:p>
          <a:p>
            <a:pPr algn="l">
              <a:lnSpc>
                <a:spcPct val="100000"/>
              </a:lnSpc>
            </a:pPr>
            <a:r>
              <a:rPr sz="1250" b="0">
                <a:solidFill>
                  <a:srgbClr val="1A1A1A"/>
                </a:solidFill>
                <a:latin typeface="Consolas"/>
              </a:rPr>
              <a:t>  jobs: [</a:t>
            </a:r>
          </a:p>
          <a:p>
            <a:pPr algn="l">
              <a:lnSpc>
                <a:spcPct val="100000"/>
              </a:lnSpc>
            </a:pPr>
            <a:r>
              <a:rPr sz="1250" b="0">
                <a:solidFill>
                  <a:srgbClr val="1A1A1A"/>
                </a:solidFill>
                <a:latin typeface="Consolas"/>
              </a:rPr>
              <a:t>    { jobId: "job-203", type: "training",</a:t>
            </a:r>
          </a:p>
          <a:p>
            <a:pPr algn="l">
              <a:lnSpc>
                <a:spcPct val="100000"/>
              </a:lnSpc>
            </a:pPr>
            <a:r>
              <a:rPr sz="1250" b="0">
                <a:solidFill>
                  <a:srgbClr val="1A1A1A"/>
                </a:solidFill>
                <a:latin typeface="Consolas"/>
              </a:rPr>
              <a:t>      status: "running", startedAt: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results:    { accuracy: 0.89, latencyMs: 14 },</a:t>
            </a:r>
          </a:p>
          <a:p>
            <a:pPr algn="l">
              <a:lnSpc>
                <a:spcPct val="100000"/>
              </a:lnSpc>
            </a:pPr>
            <a:r>
              <a:rPr sz="1250" b="0">
                <a:solidFill>
                  <a:srgbClr val="1A1A1A"/>
                </a:solidFill>
                <a:latin typeface="Consolas"/>
              </a:rPr>
              <a:t>  approvals: [</a:t>
            </a:r>
          </a:p>
          <a:p>
            <a:pPr algn="l">
              <a:lnSpc>
                <a:spcPct val="100000"/>
              </a:lnSpc>
            </a:pPr>
            <a:r>
              <a:rPr sz="1250" b="0">
                <a:solidFill>
                  <a:srgbClr val="1A1A1A"/>
                </a:solidFill>
                <a:latin typeface="Consolas"/>
              </a:rPr>
              <a:t>    { action: "train", by: "human", at: ... }</a:t>
            </a:r>
          </a:p>
          <a:p>
            <a:pPr algn="l">
              <a:lnSpc>
                <a:spcPct val="100000"/>
              </a:lnSpc>
            </a:pPr>
            <a:r>
              <a:rPr sz="1250" b="0">
                <a:solidFill>
                  <a:srgbClr val="1A1A1A"/>
                </a:solidFill>
                <a:latin typeface="Consolas"/>
              </a:rPr>
              <a:t>  ],</a:t>
            </a:r>
          </a:p>
          <a:p>
            <a:pPr algn="l">
              <a:lnSpc>
                <a:spcPct val="100000"/>
              </a:lnSpc>
            </a:pPr>
            <a:r>
              <a:rPr sz="1250" b="0">
                <a:solidFill>
                  <a:srgbClr val="1A1A1A"/>
                </a:solidFill>
                <a:latin typeface="Consolas"/>
              </a:rPr>
              <a:t>  createdAt:  ..., updatedAt: ...</a:t>
            </a:r>
          </a:p>
          <a:p>
            <a:pPr algn="l">
              <a:lnSpc>
                <a:spcPct val="100000"/>
              </a:lnSpc>
            </a:pPr>
            <a:r>
              <a:rPr sz="1250" b="0">
                <a:solidFill>
                  <a:srgbClr val="1A1A1A"/>
                </a:solidFill>
                <a:latin typeface="Consolas"/>
              </a:rPr>
              <a:t>}</a:t>
            </a:r>
          </a:p>
        </p:txBody>
      </p:sp>
      <p:sp>
        <p:nvSpPr>
          <p:cNvPr id="28" name="hl-status"/>
          <p:cNvSpPr/>
          <p:nvPr/>
        </p:nvSpPr>
        <p:spPr>
          <a:xfrm>
            <a:off x="731520" y="2470249"/>
            <a:ext cx="2286000" cy="227045"/>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hl-jobs"/>
          <p:cNvSpPr/>
          <p:nvPr/>
        </p:nvSpPr>
        <p:spPr>
          <a:xfrm>
            <a:off x="731520" y="3041656"/>
            <a:ext cx="3931920" cy="607983"/>
          </a:xfrm>
          <a:prstGeom prst="roundRect">
            <a:avLst/>
          </a:prstGeom>
          <a:noFill/>
          <a:ln w="19050">
            <a:solidFill>
              <a:srgbClr val="00684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label-139"/>
          <p:cNvSpPr txBox="1"/>
          <p:nvPr/>
        </p:nvSpPr>
        <p:spPr>
          <a:xfrm>
            <a:off x="7315200" y="1554480"/>
            <a:ext cx="4206240" cy="457200"/>
          </a:xfrm>
          <a:prstGeom prst="rect">
            <a:avLst/>
          </a:prstGeom>
          <a:noFill/>
        </p:spPr>
        <p:txBody>
          <a:bodyPr wrap="square">
            <a:spAutoFit/>
          </a:bodyPr>
          <a:lstStyle/>
          <a:p>
            <a:pPr algn="l">
              <a:lnSpc>
                <a:spcPct val="100000"/>
              </a:lnSpc>
            </a:pPr>
            <a:r>
              <a:rPr sz="2000" b="1">
                <a:solidFill>
                  <a:srgbClr val="00684A"/>
                </a:solidFill>
              </a:rPr>
              <a:t>What's wrong with it?</a:t>
            </a:r>
          </a:p>
        </p:txBody>
      </p:sp>
      <p:sp>
        <p:nvSpPr>
          <p:cNvPr id="31" name="label-140"/>
          <p:cNvSpPr txBox="1"/>
          <p:nvPr/>
        </p:nvSpPr>
        <p:spPr>
          <a:xfrm>
            <a:off x="7315200" y="2194560"/>
            <a:ext cx="4206240" cy="3108960"/>
          </a:xfrm>
          <a:prstGeom prst="rect">
            <a:avLst/>
          </a:prstGeom>
          <a:noFill/>
        </p:spPr>
        <p:txBody>
          <a:bodyPr wrap="square">
            <a:spAutoFit/>
          </a:bodyPr>
          <a:lstStyle/>
          <a:p>
            <a:pPr algn="l">
              <a:lnSpc>
                <a:spcPct val="160000"/>
              </a:lnSpc>
            </a:pPr>
            <a:r>
              <a:rPr sz="1500" b="0">
                <a:solidFill>
                  <a:srgbClr val="1A1A1A"/>
                </a:solidFill>
              </a:rPr>
              <a:t>What grows without bound?</a:t>
            </a:r>
          </a:p>
          <a:p>
            <a:pPr algn="l">
              <a:lnSpc>
                <a:spcPct val="160000"/>
              </a:lnSpc>
            </a:pPr>
            <a:r>
              <a:rPr sz="1500" b="0">
                <a:solidFill>
                  <a:srgbClr val="1A1A1A"/>
                </a:solidFill>
              </a:rPr>
              <a:t>What changes every few seconds?</a:t>
            </a:r>
          </a:p>
          <a:p>
            <a:pPr algn="l">
              <a:lnSpc>
                <a:spcPct val="160000"/>
              </a:lnSpc>
            </a:pPr>
            <a:r>
              <a:rPr sz="1500" b="0">
                <a:solidFill>
                  <a:srgbClr val="1A1A1A"/>
                </a:solidFill>
              </a:rPr>
              <a:t>What needs a history, not a field?</a:t>
            </a:r>
          </a:p>
          <a:p>
            <a:pPr algn="l">
              <a:lnSpc>
                <a:spcPct val="160000"/>
              </a:lnSpc>
            </a:pPr>
            <a:r>
              <a:rPr sz="1500" b="0">
                <a:solidFill>
                  <a:srgbClr val="1A1A1A"/>
                </a:solidFill>
              </a:rPr>
              <a:t>Which query must be fast?</a:t>
            </a:r>
          </a:p>
          <a:p>
            <a:pPr algn="l">
              <a:lnSpc>
                <a:spcPct val="160000"/>
              </a:lnSpc>
            </a:pPr>
            <a:r>
              <a:rPr sz="1500" b="0">
                <a:solidFill>
                  <a:srgbClr val="1A1A1A"/>
                </a:solidFill>
              </a:rPr>
              <a:t>What should not be in here at all?</a:t>
            </a:r>
          </a:p>
        </p:txBody>
      </p:sp>
      <p:sp>
        <p:nvSpPr>
          <p:cNvPr id="32" name="label-141"/>
          <p:cNvSpPr txBox="1"/>
          <p:nvPr/>
        </p:nvSpPr>
        <p:spPr>
          <a:xfrm>
            <a:off x="7315200" y="5486400"/>
            <a:ext cx="4206240" cy="457200"/>
          </a:xfrm>
          <a:prstGeom prst="rect">
            <a:avLst/>
          </a:prstGeom>
          <a:noFill/>
        </p:spPr>
        <p:txBody>
          <a:bodyPr wrap="square">
            <a:spAutoFit/>
          </a:bodyPr>
          <a:lstStyle/>
          <a:p>
            <a:pPr algn="l">
              <a:lnSpc>
                <a:spcPct val="100000"/>
              </a:lnSpc>
            </a:pPr>
            <a:r>
              <a:rPr sz="1300" b="0">
                <a:solidFill>
                  <a:srgbClr val="5C6670"/>
                </a:solidFill>
              </a:rPr>
              <a:t>A useful first model to challenge.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Decide by change, growth and access. The reasoning matters more than any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drawio-s11-columns" descr="s11-columns.png"/>
          <p:cNvPicPr>
            <a:picLocks noChangeAspect="1"/>
          </p:cNvPicPr>
          <p:nvPr/>
        </p:nvPicPr>
        <p:blipFill>
          <a:blip r:embed="rId4"/>
          <a:stretch>
            <a:fillRect/>
          </a:stretch>
        </p:blipFill>
        <p:spPr>
          <a:xfrm>
            <a:off x="1249680" y="1371600"/>
            <a:ext cx="9692640" cy="33734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and index the state</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An index is a prediction about how the system will be used. Build them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drawio-s12-index" descr="s12-index.png"/>
          <p:cNvPicPr>
            <a:picLocks noChangeAspect="1"/>
          </p:cNvPicPr>
          <p:nvPr/>
        </p:nvPicPr>
        <p:blipFill>
          <a:blip r:embed="rId4"/>
          <a:stretch>
            <a:fillRect/>
          </a:stretch>
        </p:blipFill>
        <p:spPr>
          <a:xfrm>
            <a:off x="822960" y="1463040"/>
            <a:ext cx="8961120" cy="23108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drawio-s13-polling" descr="s13-polling.png"/>
          <p:cNvPicPr>
            <a:picLocks noChangeAspect="1"/>
          </p:cNvPicPr>
          <p:nvPr/>
        </p:nvPicPr>
        <p:blipFill>
          <a:blip r:embed="rId4"/>
          <a:stretch>
            <a:fillRect/>
          </a:stretch>
        </p:blipFill>
        <p:spPr>
          <a:xfrm>
            <a:off x="1097280" y="1828800"/>
            <a:ext cx="9966960" cy="20003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drawio-s14-doorbell" descr="s14-doorbell.png"/>
          <p:cNvPicPr>
            <a:picLocks noChangeAspect="1"/>
          </p:cNvPicPr>
          <p:nvPr/>
        </p:nvPicPr>
        <p:blipFill>
          <a:blip r:embed="rId5"/>
          <a:stretch>
            <a:fillRect/>
          </a:stretch>
        </p:blipFill>
        <p:spPr>
          <a:xfrm>
            <a:off x="822960" y="1508760"/>
            <a:ext cx="3840480" cy="3884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drawio-s15-halflife" descr="s15-halflife.png"/>
          <p:cNvPicPr>
            <a:picLocks noChangeAspect="1"/>
          </p:cNvPicPr>
          <p:nvPr/>
        </p:nvPicPr>
        <p:blipFill>
          <a:blip r:embed="rId5"/>
          <a:stretch>
            <a:fillRect/>
          </a:stretch>
        </p:blipFill>
        <p:spPr>
          <a:xfrm>
            <a:off x="1249680" y="1371600"/>
            <a:ext cx="9692640" cy="282904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The same collection and the same document answer a different kind of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anim-semantic" descr="semantic.gif"/>
          <p:cNvPicPr>
            <a:picLocks noChangeAspect="1"/>
          </p:cNvPicPr>
          <p:nvPr/>
        </p:nvPicPr>
        <p:blipFill>
          <a:blip r:embed="rId6"/>
          <a:stretch>
            <a:fillRect/>
          </a:stretch>
        </p:blipFill>
        <p:spPr>
          <a:xfrm>
            <a:off x="1981200" y="1371600"/>
            <a:ext cx="8229600" cy="338001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Approvals and audit live in collections with a schema. The database checks the policy before the action fires, so a bad model output cannot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pic>
        <p:nvPicPr>
          <p:cNvPr id="26" name="drawio-s18-guardrails" descr="s18-guardrails.png"/>
          <p:cNvPicPr>
            <a:picLocks noChangeAspect="1"/>
          </p:cNvPicPr>
          <p:nvPr/>
        </p:nvPicPr>
        <p:blipFill>
          <a:blip r:embed="rId6"/>
          <a:stretch>
            <a:fillRect/>
          </a:stretch>
        </p:blipFill>
        <p:spPr>
          <a:xfrm>
            <a:off x="640080" y="1325880"/>
            <a:ext cx="10972800" cy="686387"/>
          </a:xfrm>
          <a:prstGeom prst="rect">
            <a:avLst/>
          </a:prstGeom>
        </p:spPr>
      </p:pic>
      <p:sp>
        <p:nvSpPr>
          <p:cNvPr id="27" name="code-card"/>
          <p:cNvSpPr/>
          <p:nvPr/>
        </p:nvSpPr>
        <p:spPr>
          <a:xfrm>
            <a:off x="640080" y="2377440"/>
            <a:ext cx="5669280" cy="3154680"/>
          </a:xfrm>
          <a:prstGeom prst="rect">
            <a:avLst/>
          </a:prstGeom>
          <a:solidFill>
            <a:srgbClr val="F3F6F4"/>
          </a:solidFill>
          <a:ln w="12700">
            <a:solidFill>
              <a:srgbClr val="C9CFC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approval"/>
          <p:cNvSpPr txBox="1"/>
          <p:nvPr/>
        </p:nvSpPr>
        <p:spPr>
          <a:xfrm>
            <a:off x="777240" y="2468880"/>
            <a:ext cx="5394960" cy="3017520"/>
          </a:xfrm>
          <a:prstGeom prst="rect">
            <a:avLst/>
          </a:prstGeom>
          <a:noFill/>
        </p:spPr>
        <p:txBody>
          <a:bodyPr wrap="square">
            <a:spAutoFit/>
          </a:bodyPr>
          <a:lstStyle/>
          <a:p>
            <a:pPr algn="l">
              <a:lnSpc>
                <a:spcPct val="100000"/>
              </a:lnSpc>
            </a:pPr>
            <a:r>
              <a:rPr sz="1250" b="0">
                <a:solidFill>
                  <a:srgbClr val="1A1A1A"/>
                </a:solidFill>
                <a:latin typeface="Consolas"/>
              </a:rPr>
              <a:t>{</a:t>
            </a:r>
          </a:p>
          <a:p>
            <a:pPr algn="l">
              <a:lnSpc>
                <a:spcPct val="100000"/>
              </a:lnSpc>
            </a:pPr>
            <a:r>
              <a:rPr sz="1250" b="0">
                <a:solidFill>
                  <a:srgbClr val="1A1A1A"/>
                </a:solidFill>
                <a:latin typeface="Consolas"/>
              </a:rPr>
              <a:t>  action:      "start_training",</a:t>
            </a:r>
          </a:p>
          <a:p>
            <a:pPr algn="l">
              <a:lnSpc>
                <a:spcPct val="100000"/>
              </a:lnSpc>
            </a:pPr>
            <a:r>
              <a:rPr sz="1250" b="0">
                <a:solidFill>
                  <a:srgbClr val="1A1A1A"/>
                </a:solidFill>
                <a:latin typeface="Consolas"/>
              </a:rPr>
              <a:t>  requestedBy: "agent",</a:t>
            </a:r>
          </a:p>
          <a:p>
            <a:pPr algn="l">
              <a:lnSpc>
                <a:spcPct val="100000"/>
              </a:lnSpc>
            </a:pPr>
            <a:r>
              <a:rPr sz="1250" b="0">
                <a:solidFill>
                  <a:srgbClr val="1A1A1A"/>
                </a:solidFill>
                <a:latin typeface="Consolas"/>
              </a:rPr>
              <a:t>  approvedBy:  "eoin",</a:t>
            </a:r>
          </a:p>
          <a:p>
            <a:pPr algn="l">
              <a:lnSpc>
                <a:spcPct val="100000"/>
              </a:lnSpc>
            </a:pPr>
            <a:r>
              <a:rPr sz="1250" b="0">
                <a:solidFill>
                  <a:srgbClr val="1A1A1A"/>
                </a:solidFill>
                <a:latin typeface="Consolas"/>
              </a:rPr>
              <a:t>  scope:       { orgId: "org-71",</a:t>
            </a:r>
          </a:p>
          <a:p>
            <a:pPr algn="l">
              <a:lnSpc>
                <a:spcPct val="100000"/>
              </a:lnSpc>
            </a:pPr>
            <a:r>
              <a:rPr sz="1250" b="0">
                <a:solidFill>
                  <a:srgbClr val="1A1A1A"/>
                </a:solidFill>
                <a:latin typeface="Consolas"/>
              </a:rPr>
              <a:t>                 projectId: "project-512482" },</a:t>
            </a:r>
          </a:p>
          <a:p>
            <a:pPr algn="l">
              <a:lnSpc>
                <a:spcPct val="100000"/>
              </a:lnSpc>
            </a:pPr>
            <a:r>
              <a:rPr sz="1250" b="0">
                <a:solidFill>
                  <a:srgbClr val="1A1A1A"/>
                </a:solidFill>
                <a:latin typeface="Consolas"/>
              </a:rPr>
              <a:t>  decision:    "approved",</a:t>
            </a:r>
          </a:p>
          <a:p>
            <a:pPr algn="l">
              <a:lnSpc>
                <a:spcPct val="100000"/>
              </a:lnSpc>
            </a:pPr>
            <a:r>
              <a:rPr sz="1250" b="0">
                <a:solidFill>
                  <a:srgbClr val="1A1A1A"/>
                </a:solidFill>
                <a:latin typeface="Consolas"/>
              </a:rPr>
              <a:t>  reason:      "non-destructive training run",</a:t>
            </a:r>
          </a:p>
          <a:p>
            <a:pPr algn="l">
              <a:lnSpc>
                <a:spcPct val="100000"/>
              </a:lnSpc>
            </a:pPr>
            <a:r>
              <a:rPr sz="1250" b="0">
                <a:solidFill>
                  <a:srgbClr val="1A1A1A"/>
                </a:solidFill>
                <a:latin typeface="Consolas"/>
              </a:rPr>
              <a:t>  at:          ISODate("...")</a:t>
            </a:r>
          </a:p>
          <a:p>
            <a:pPr algn="l">
              <a:lnSpc>
                <a:spcPct val="100000"/>
              </a:lnSpc>
            </a:pPr>
            <a:r>
              <a:rPr sz="1250" b="0">
                <a:solidFill>
                  <a:srgbClr val="1A1A1A"/>
                </a:solidFill>
                <a:latin typeface="Consolas"/>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Giving an agent tools is easy. Giving it reliable state is the hard part.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drawio-s19-resolved" descr="s19-resolved.png"/>
          <p:cNvPicPr>
            <a:picLocks noChangeAspect="1"/>
          </p:cNvPicPr>
          <p:nvPr/>
        </p:nvPicPr>
        <p:blipFill>
          <a:blip r:embed="rId4"/>
          <a:stretch>
            <a:fillRect/>
          </a:stretch>
        </p:blipFill>
        <p:spPr>
          <a:xfrm>
            <a:off x="609600" y="1371600"/>
            <a:ext cx="10972800" cy="329098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sp>
        <p:nvSpPr>
          <p:cNvPr id="3" name="three-lines"/>
          <p:cNvSpPr txBox="1"/>
          <p:nvPr/>
        </p:nvSpPr>
        <p:spPr>
          <a:xfrm>
            <a:off x="822960" y="3017520"/>
            <a:ext cx="10515600" cy="3017520"/>
          </a:xfrm>
          <a:prstGeom prst="rect">
            <a:avLst/>
          </a:prstGeom>
          <a:noFill/>
        </p:spPr>
        <p:txBody>
          <a:bodyPr wrap="square">
            <a:spAutoFit/>
          </a:bodyPr>
          <a:lstStyle/>
          <a:p>
            <a:pPr algn="l">
              <a:lnSpc>
                <a:spcPct val="150000"/>
              </a:lnSpc>
            </a:pPr>
            <a:r>
              <a:rPr sz="3200" b="1">
                <a:solidFill>
                  <a:srgbClr val="FFFFFF"/>
                </a:solidFill>
              </a:rPr>
              <a:t>Model for the workload.</a:t>
            </a:r>
          </a:p>
          <a:p>
            <a:pPr algn="l">
              <a:lnSpc>
                <a:spcPct val="150000"/>
              </a:lnSpc>
            </a:pPr>
            <a:r>
              <a:rPr sz="3200" b="1">
                <a:solidFill>
                  <a:srgbClr val="FFFFFF"/>
                </a:solidFill>
              </a:rPr>
              <a:t>Index for the questions.</a:t>
            </a:r>
          </a:p>
          <a:p>
            <a:pPr algn="l">
              <a:lnSpc>
                <a:spcPct val="150000"/>
              </a:lnSpc>
            </a:pPr>
            <a:r>
              <a:rPr sz="3200" b="1">
                <a:solidFill>
                  <a:srgbClr val="FFFFFF"/>
                </a:solidFill>
              </a:rPr>
              <a:t>Treat AI memory as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txBody>
          <a:bodyPr/>
          <a:p/>
        </p:txBody>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Building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txBody>
          <a:bodyPr/>
          <a:p/>
        </p:txBody>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txBody>
          <a:bodyPr/>
          <a:p/>
        </p:txBody>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txBody>
          <a:bodyPr/>
          <a:p/>
        </p:txBody>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txBody>
          <a:bodyPr/>
          <a:p/>
        </p:txBody>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txBody>
          <a:bodyPr/>
          <a:p/>
        </p:txBody>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txBody>
          <a:bodyPr/>
          <a:p/>
        </p:txBody>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txBody>
          <a:bodyPr/>
          <a:p/>
        </p:txBody>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txBody>
          <a:bodyPr/>
          <a:p/>
        </p:txBody>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txBody>
          <a:bodyPr/>
          <a:p/>
        </p:txBody>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txBody>
          <a:bodyPr/>
          <a:p/>
        </p:txBody>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txBody>
          <a:bodyPr/>
          <a:p/>
        </p:txBody>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txBody>
          <a:bodyPr/>
          <a:p/>
        </p:txBody>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txBody>
          <a:bodyPr/>
          <a:p/>
        </p:txBody>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txBody>
          <a:bodyPr/>
          <a:p/>
        </p:txBody>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the curriculum, written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so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pic>
        <p:nvPicPr>
          <p:cNvPr id="26" name="drawio-s31-server" descr="s31-server.png"/>
          <p:cNvPicPr>
            <a:picLocks noChangeAspect="1"/>
          </p:cNvPicPr>
          <p:nvPr/>
        </p:nvPicPr>
        <p:blipFill>
          <a:blip r:embed="rId3"/>
          <a:stretch>
            <a:fillRect/>
          </a:stretch>
        </p:blipFill>
        <p:spPr>
          <a:xfrm>
            <a:off x="640080" y="1325880"/>
            <a:ext cx="10972800" cy="11464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database side, live (MongoDBSimCity)</a:t>
            </a:r>
            <a:endParaRPr lang="en-US" sz="3200" dirty="0"/>
          </a:p>
        </p:txBody>
      </p:sp>
      <p:pic>
        <p:nvPicPr>
          <p:cNvPr id="3" name="Picture 2" descr="simcity-vector-rag.png"/>
          <p:cNvPicPr>
            <a:picLocks noChangeAspect="1"/>
          </p:cNvPicPr>
          <p:nvPr/>
        </p:nvPicPr>
        <p:blipFill>
          <a:blip r:embed="rId2"/>
          <a:stretch>
            <a:fillRect/>
          </a:stretch>
        </p:blipFill>
        <p:spPr>
          <a:xfrm>
            <a:off x="1615440" y="1280160"/>
            <a:ext cx="8961120" cy="5040630"/>
          </a:xfrm>
          <a:prstGeom prst="rect">
            <a:avLst/>
          </a:prstGeom>
        </p:spPr>
      </p:pic>
      <p:sp>
        <p:nvSpPr>
          <p:cNvPr id="5" name="capture-marker"/>
          <p:cNvSpPr txBox="1"/>
          <p:nvPr/>
        </p:nvSpPr>
        <p:spPr>
          <a:xfrm>
            <a:off x="640080" y="6430518"/>
            <a:ext cx="10911840" cy="548640"/>
          </a:xfrm>
          <a:prstGeom prst="rect">
            <a:avLst/>
          </a:prstGeom>
          <a:noFill/>
        </p:spPr>
        <p:txBody>
          <a:bodyPr wrap="square">
            <a:spAutoFit/>
          </a:bodyPr>
          <a:lstStyle/>
          <a:p>
            <a:r>
              <a:rPr sz="1300"/>
              <a:t>eoinjordan.github.io/MongoDBSimCity: a mongod as a city. Applications and agents on the left, the query pipeline, the WiredTiger cache, disk and journal, the oplog where change streams read, and mongot for search and vector. Workload: vector search, agent RAG. Illustrative model, not benchmarks.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each hits its index, one key examined.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