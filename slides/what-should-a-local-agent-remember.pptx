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9"/>
    <p:sldId id="292" r:id="rId43"/>
    <p:sldId id="293" r:id="rId44"/>
    <p:sldId id="290" r:id="rId41"/>
    <p:sldId id="291" r:id="rId42"/>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72449b96-3fcf-c80b-6151-7608250da17c}">
          <p14:sldIdLst>
            <p14:sldId id="256"/>
            <p14:sldId id="257"/>
            <p14:sldId id="258"/>
          </p14:sldIdLst>
        </p14:section>
        <p14:section name="What I Built" id="{0adff774-f8b8-6320-b1ce-10d8c7d15eb2}">
          <p14:sldIdLst>
            <p14:sldId id="259"/>
            <p14:sldId id="260"/>
            <p14:sldId id="261"/>
            <p14:sldId id="262"/>
          </p14:sldIdLst>
        </p14:section>
        <p14:section name="Teach" id="{a2e8855c-ba75-946b-5147-e7f0364054be}">
          <p14:sldIdLst>
            <p14:sldId id="263"/>
            <p14:sldId id="264"/>
            <p14:sldId id="265"/>
            <p14:sldId id="266"/>
            <p14:sldId id="267"/>
          </p14:sldIdLst>
        </p14:section>
        <p14:section name="Events" id="{764dcb4b-42bf-068b-b8e9-9dc5861eb898}">
          <p14:sldIdLst>
            <p14:sldId id="268"/>
            <p14:sldId id="269"/>
          </p14:sldIdLst>
        </p14:section>
        <p14:section name="Memory" id="{b32c113d-5fa8-0f43-2015-42e99ee5ffdb}">
          <p14:sldIdLst>
            <p14:sldId id="270"/>
            <p14:sldId id="271"/>
          </p14:sldIdLst>
        </p14:section>
        <p14:section name="AI" id="{a40c9b00-5e2a-1aca-f6e8-5b609c5dbf6c}">
          <p14:sldIdLst>
            <p14:sldId id="272"/>
            <p14:sldId id="273"/>
          </p14:sldIdLst>
        </p14:section>
        <p14:section name="Resolution" id="{49c28c28-6a57-4c2b-9d7b-b9387f4f1fd7}">
          <p14:sldIdLst>
            <p14:sldId id="274"/>
            <p14:sldId id="275"/>
            <p14:sldId id="276"/>
            <p14:sldId id="277"/>
            <p14:sldId id="278"/>
          </p14:sldIdLst>
        </p14:section>
        <p14:section name="Backup" id="{93ab6963-e192-6266-08eb-44f8ff286899}">
          <p14:sldIdLst>
            <p14:sldId id="279"/>
            <p14:sldId id="280"/>
            <p14:sldId id="281"/>
            <p14:sldId id="282"/>
            <p14:sldId id="283"/>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33.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4.xml"/><Relationship Id="rId44"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The title is the question the panel was promised; answer it with the hook: 'That question came out of a demo. The demo wasn't the hard part. Reliability was.' Say where everything runs, once, pointing at the footer: a RUBIK Pi on the desk, Qualcomm silicon, Ubuntu, MongoDB Community, no cloud behind it — that is what 'local' and 'edge' mean for the next forty minutes. Then set the map in one breath, reading the line at the bottom of the slide: 'By the end you'll be able to model an agent's state as documents, index for the questions the agent actually asks, and decide what memory reacts, expires and can explain itself.' That is the whole talk in a sentence; slide 8 repeats it as three promises and slide 21 closes on it. Don't say the word database yet. The reveal that this is a data-modelling problem comes about five minutes 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during the 5-minute introductions segment, not inside the 40.] Forty-five seconds. Credibility for the story, not a CV: eight years building distributed systems at IBM, four years at Edge Impulse putting ML on small devices through the Qualcomm acquisition, and a PhD on how distributed intelligent systems share meaning. 'Everything in this talk comes from trying to make an agent drive that platform reliably.' One line on the badges row, no more: 'I did two of MongoDB's own skill badges while preparing this — Building AI Agents with MongoDB, and AI and Innovation: How MongoDB Enables a Resilient AI Strategy — so where the talk uses MongoDB's terms, that is where they come from.' Point at the QR: the SimCity model is open if they want to follow the database side live.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[0:00–1:30 of the 40] Launch the Zoom poll as you share screen; read each question aloud and watch the chat. Ninety seconds. Read two or three chat answers back by name. Keep the poll results tab open — you return to them at 'Where does this live?' and at 'What to take back'. The panel should say the problem out loud before you name it. TRANSITION: 'Hold those answers. Let me show you where mine came from.'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[1:30–3:30] The real system, in your own words. Question I started with: can a AI agent act like a natural-language control plane over Edge Impulse Studio — not one endpoint, the whole workflow: projects, data, DSP blocks, training jobs, results. Five evenings. Built off the public Postman collection so no source left the laptop. Low-level tools stayed close to the REST API; skills on top for the things agents keep trying to do — train, wait, tune, compare. The sentence that made it feel real: 'Train this project, optimise for accuracy under constraints, and tell me what changed.' Edge context in one line: this is a platform that puts ML on devices the size of a coin — the device used to classify, now an agent is configuring it. Facts to say, not show: five evenings; built from the public Postman collection so no source left the laptop; low-level tools close to the REST API (projects, DSP and windowing, hyperparameters, jobs); skills on top (train + wait + summarise, safe config edits, ID discovery) — MongoDB now ships the same idea for its own database as Agent Skills, which comes back on the where-to-go-next slide. DROP IN: the MCP server response screenshot from the blog post. ONE LINE for the LangChain crowd, no more in a two-minute slot: 'If you know LangChain tools — same contract to the model, different home. A @tool lives in your process; an MCP tool is a separate server any client can plug into. Neither holds state, which is the next slide.' The full version (wall-socket analogy, MCP adapters, they compose) is in the slide 25 notes for Q&amp;A. TRANSITION: 'It worked. Here's how I made sure it wasn't lying to 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[3:30–5:00] Conversational, not a lecture — this is you telling a story about your own evenings. The key wasn't MCP, it was engineering discipline so the agent couldn't bluff its way through. Three moves. One: walk the API and stub everything — a mock server so I could shape the tool surface without hammering real jobs. Two: tests for every tool — happy path, failure path, missing params, weird edge cases. That was the biggest unlock: without tests the agent happily moves forward on assumptions; with them I could tell whether a failure was my wrapper, the endpoint, or the agent being silly. Three: agent-friendly helpers — waiting and polling on long jobs, clear org-vs-project scoping, stricter validation. Flag the third one: 'remember those three helpers — they are the whole second half of this talk.' DROP IN: the testing-framework screenshot from the blog post.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[5:00–7:00] The bottlenecks were not capability — they were plumbing. Straight from the logs: IDs everywhere — block IDs, project IDs, org numbers — and the agent had to be told them or go and discover them before doing anything destructive. Job timing — training takes minutes, so wait / status / retry, and if the process died in between, the job was orphaned. State management — the agent loses context unless you design around it; it would start a second training job because it forgot the first, or act on a stale result. 'None of this is an LLM problem. It is a state problem.' That's the reveal. Pause on it. TRANSITION: 'So where does all of this live? I want your answer before mine.'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[7:00–8:00] Stop. Ask the room, then pull up the poll: most people said prompt or files. Reflect answers back without judging: prompt — works until the context fills or the process restarts; a file — one agent, one machine; a cache — until it evicts the job ID you needed. 'Let's put it in a database and see what that forces us to decide.' TRANSITION: 'Here's what we're going to be able to do by the 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[8:00–9:00] Three promises, not five. Say them as promises and return to them at the end as the takeaways. TRANSITION: 'Objective one — modelling the state. And the odd thing about modelling in a document database is that you don't start with the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[9:00–11:00] The first schema is not a collection diagram; it is a set of questions — specifically, what will the system ask when things go wrong? These five are the ones my agent needed answered before it could safely take the next step. MongoDB's own schema-design process starts here: workload and query patterns first, shape second. ANALOGY: you don't design a filing cabinet by looking at the paper; you design it by asking who comes to the cabinet and what they ask for. TRANSITION: 'So let's answer those questions with a first document — and then pick it apart.'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[11:00–14:00] One run = one document. Read it top to bottom as the story of a training run. Then: 'Don't take this as the answer. What's wrong with it?' Give the room thirty seconds. The prompts on the right are the ones you want them to find: jobs grows; status changes every few seconds; approvals need a history, not a field; the fast query is by project and status. DEMO CUE: db.runs.findOne() on the Rubik Pi — same document. TRANSITION: 'Most of what you found wrong is one decision: what lives inside this document, and what lives next to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[14:00–17:30] The core document-model decision, driven by change, growth and access. Embed what is small, bounded and read with the parent. Reference or split what is large, unbounded or shared — job events, training logs, artifacts. And a third column people forget: the append-only log — actions, status transitions, approvals — because the question 'why did it do that?' is a history question. Q&amp;A fodder: the 16 MB limit, unbounded arrays, the subset pattern, duplication versus a second read. ANALOGY: embedding is a passport with your photo printed in it — everything you need in one read. Referencing is a reference number to a file held somewhere else — a second lookup, but the file can grow and be shared. TRANSITION: 'That's objective one done — we have a shape. Objective two: what will the system ask of it, and how fast?'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[17:30–21:00] From 'here is my schema' to 'what will the system ask?'. Two questions my agent asked constantly: is anything still training for this project, and what happened most recently. Derive the index from each; mention ESR once — equality first, then sort, then range. Then the trade: every insert and every status update now maintains both indexes; for an agent writing a status change every few seconds that matters. Ask: could one index serve both? ({projectId, status, updatedAt:-1} serves the first and a filtered version of the second — let them argue it.) ANALOGY: an index is the index at the back of a textbook — you build it for the questions readers actually ask, and every page you add means updating it. TRANSITION: 'Reads sorted. Now the part that actually hurt me: waiting.'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[21:00–23:00] This is helper number three from the blog, the one I told you to remember. The 'train + wait + summarise' skill: start a job, poll until it completes, summarise what changed. Training takes minutes. Every poll is a read; every poll through the LLM is tokens; and if the process died between polls the job was orphaned — that's the 'orphaned job' box from the leak slide. 'The agent was doing the database's job.' ANALOGY: this is checking the front door every ten seconds to see if a parcel has arrived. TRANSITION: 'What you want is a doorbell.'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[23:00–26:00] Flip it: the job updates its own status document; the database emits a change event; a consumer reacts — resumes the agent, triggers the next tool, or hands off for approval. Say the failure path out loud rather than on the slide: what if the consumer is down (resume token), what if the event is delivered twice (idempotent handlers), what if you missed the window. DEMO CUE: watcher in one terminal on the Rubik Pi, update a run's status in another, consumer fires. SimCity: the lime change-stream particle to the consumer pod. ANALOGY: the change stream is the doorbell — the database rings when the thing you care about changes. TRANSITION: 'Objective three starts here: deciding what memory actually means. First question — how long should any of this live?'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[26:00–28:00] This is the slide where the outline's 'short-term versus long-term memory' becomes a data-model decision, so use those words: short-term is what the agent needs for the job in front of it and should expire; long-term is what the agent or a human will come back to and should be kept, indexed and audited. Keep history deliberately; expire scratch data deliberately. Three columns: keep, expire, review — 'review' is the honest one, because raw logs and failed attempts are where the next debugging session lives, and nobody has decided yet. Per-document expiry with expiresAt lets the writer decide the lifetime at write time. TTL is a tool for finite-lifetime data, not a substitute for deciding what matters. If asked how prompt the expiry is: the TTL monitor sweeps about once a minute, so a document can outlive expiresAt by up to a minute — fine for scratch data, which is the point; nothing with a correctness requirement should rely on it. ANALOGY: expiresAt is a best-before date stamped when the milk is bottled — the writer decides, the fridge enforces. TRANSITION: 'Let me make you decide.'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[28:00–29:00] Second audience moment. Someone will say session context. Push back gently: if a human disputes an action, is the session context the evidence? 'Review' is a product decision — the database should make it cheap to change your mind. TRANSITION: 'So far every question has had an exact answer. Not every question does.'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[29:00–31:30] Only now bring in vectors, and make the distinction do the work. Left: exact fields, exact answer. Right: 'experiments that failed for reasons like this one' — no field to filter on. Same collection, same document; the embedding of the failure summary sits beside the structured fields and is filtered by them. You don't bolt a vector store onto the side; you add a query mode to data you already govern. ANALOGY: a structured query is looking someone up by their employee number; a semantic query is 'who here has dealt with something like this before?' — same staff directory, different question. TRANSITION: 'Last piece of memory: not what the agent knows, but what it was allowed to do.'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[31:30–34:00] Back to the blog's closing warning, now with a data model behind it: least privilege, confirmation gates for destructive actions, an audit trail, sane rate limits. The approval record is a document — who asked, who approved, what scope, what decision, why. Tie to the edge demo if it's running: the policy collection refuses the action before the actuator ever fires. 'If a system can act, it must be able to explain how that action was allowed.' Point at the poll: whoever voted "nobody can explain what it did" — this is the collection. TRANSITION: 'Let's put the whole picture back together.'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[34:00–35:00] Return to the first diagram and resolve the tension. Left, greyed: the version that worked for a demo. Right: the agent still has tools — but between the tools and the platform there is a state layer that answers structured questions, holds workflow state and history, keeps the audit trail, serves semantic retrieval, and emits events. One database, several query modes, one set of rules. TRANSITION: 'Before the three takeaways — what this means for each of you on Monday.'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[35:00–36:00] One Monday-morning action per role. Tie the last one to the poll: 'If you voted that nobody can explain what the agent did — that's the audit collection. It's a field, not a feature.'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[36:00–37:00, then Q&amp;A] Say the three lines slowly, then stop talking. Model for the workload — start with the questions. Index for the questions — every index is a trade. Treat AI memory as data — persist what matters, expire what doesn't, make actions explainable.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[Q&amp;A, leave up] Route people by what they need, not by what I have. Learn: the free Skill Badges — sixty to ninety minutes each with a Credly badge; AI Agents with MongoDB and Schema Design Patterns follow this talk directly — and the book: From Systems of Record to Agentic Systems of Action, Packt 2026, written by MongoDB practitioners; it covers exactly this ground at enterprise scale — agent memory and working state, event-driven sync, controlled writeback, human oversight, auditability. Ask: the Community Forums, where the engineering team answers, and the docs — the four pages behind this talk are on the corner QRs; the docs assistant answers most 'how do I' questions directly. Build: MongoDB Agent Skills — the helpers I wrote by hand for my MCP server, MongoDB now ships for its own database: a schema-design skill, a query optimizer, MCP setup, natural-language querying; one npx command, or bundled in the Claude, Codex, Cursor and Gemini plugins with the MCP server. Scale: customers and partners go to their account team or the contact page. Say it once: 'The point of the talk isn't to make you ask me — it's to leave you knowing where the answer lives.'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then hand over to Q&amp;A. 'I have the Rubik Pi on the desk — happy to screen-share any of this live, including killing the agent mid-job and watching it resume.' Leave the slide up; links are in the chat too. If someone asks a 'how do I' question you can't finish in the time, point at the previous slide: forums for the discussion, docs for the answer, account team if they're a customer.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Pull up only if asked how this becomes MongoDB University material. Five steps, each one a design habit, all on the same running example. Step 1 uses a real sanitised workflow log from the MCP project.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Pull up if asked about LangChain / LangGraph or agent frameworks. Tie to tooling people actually use, briefly. Short-term memory is workflow state between steps — in LangGraph the checkpointer, keyed by thread_id, which is exactly our runId. Long-term memory is what the agent learned across runs — the Store, namespaced by project. Both are collections; both get indexes, TTL and audit like everything else. If they raise LangChain tools versus my MCP tools: same contract to the model, different home — a `@tool` is a function in the agent's process, an MCP tool is served by a separate process over a standard protocol so any client can call it; LangGraph consumes MCP servers through the MCP adapters, so you can run this exact graph over my Edge Impulse tools. Neither holds state; the checkpointer does. DEMO CUE: `python3 resume.py` on the Rubik Pi, Ctrl-C mid-step, run it again — it resumes at the step it was on because the thread document, not the process, holds the state. Thirty seconds, the whole thesis. The MongoDB University AI Agents skill builds this same graph; `course-on-pi/` in the repo is that code running on this Pi, and `check_memory.py` shows the checkpoints collection it writes.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Only if asked where this breaks down, or about relationships, graphs or RDF. One minute, then stop. The honest line: once the questions are about relationships and inference rather than records, documents plus vectors stop being enough. $graphLookup covers bounded traversals — runs that derived from runs, a device's deployments — but it is a recursive join, not a triple store: no SPARQL, no OWL reasoning. For inference you reach for a dedicated store and keep MongoDB as the operational record. That's the semantic-interoperability work in my PhD, and it's the module I'd teach after this one.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Never show this slide — it's the method for the tricky question, kept here so it's in the deck you rehearse from. Say the question back in one sentence. Name the mechanism or trade-off underneath. Walk it in two or three steps on the running example (a run, a job, a status change). Say what you'd measure before committing, and where you're unsure. Practice set: (1) one document per project with every run embedded — when does it stop working? read pattern first; unbounded growth; 16 MB is the symptom, the hot cache page is the disease; split runs out, keep a summary in the project. (2) change-stream consumer down for an hour — resume token; oplog window; past it, re-scan by updatedAt since last processed; idempotent handler either way. (3) two agents pick up the same approved action — the approval record is the lock: conditional update approved→executing with the agent id, one wins, the other matches zero. (4) why not Postgres JSONB — it works; depends whether hot queries are over the document shape or across it; be honest, then name what you'd lose: change streams, per-document TTL, vector index beside the document. (5) what's wrong with your index — write amplification on a churning status field; status cardinality is tiny so it's second for a reason; a partial index on status: training is cheaper.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Pull up if asked about tooling, Agent Skills, the MCP server, or 'how would a developer actually apply this'. The three moves from slide 5 map onto what MongoDB ships today. Stub and test → the MongoDB MCP Server gives a coding agent the live database, so it reads real schemas and indexes instead of guessing. Agent-friendly helpers → Agent Skills: a Schema Design skill (embed vs reference, validation), a Query Optimizer (checks the index actually serves the query — it will find the ESR point from the index slide), Natural Language Querying, and MCP Setup. Install is one npx command, or the Claude / Codex / Cursor / Gemini plugins bundle skills and server together. If you want a demo: in Claude Code with the plugin, /schema-design on the run document and /query-optimizer on the two queries — have it recorded rather than live. The teaching point: skills are the curriculum, encoded for the agent. That is literally this job.</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Prepared depth. Don't present this; use 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Only if asked. Shard key is the question they'll want reasoned, not recited. runId is unique and high-cardinality but it's what the agent reads by least — it would scatter a project's runs across every shard, so 'what's active for this project' becomes a scatter-gather. projectId keeps a project's runs together so the two hot queries are targeted, but one huge project becomes a hot shard; orgId is worse for that. Compound {projectId, createdAt} or hashed projectId are the usual answers depending on whether range-by-time or spread matters more. Change streams still work across shards; the event order is per-shard, which matters for the consumer design. ANALOGY: shard by the thing you query by, the way a library shelves by subject rather than by acquisition date.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Only if asked to explain memory or storage mechanics simply. Screen-share SimCity's cache district if they want to see it move. Documents and index pages share the WiredTiger cache; a write makes a page dirty (orange in the model); the journal makes it durable before the checkpoint writes it to the collection files every sixty seconds or so; the oplog ring is what replication and change streams read from. The eviction rules are real and documented: the cache tries to stay under 80% and evicts harder past 95% — which is why an agent writing status every second to a document with an unbounded array is a cache problem, not just a schema problem. ANALOGY: the cache is the desk, the journal is the carbon copy you keep in case the desk is cleared, the checkpoint is filing the desk into the cabinet.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sources here so the main deck never reads like documentation.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the live Pi fails. Left: the slide-10 document as findOne() returns it. Right: the two slide-12 queries with explain() - index name and one key examined each. Say: 'this is the same document, on a device the size of a book, with no cloud behind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the live Pi fails. Walk the GIF: the left pane updates the run's status, the right pane is the consumer. No polling - the event carries the full document, the consumer resumes the agent by thread_id and saves the resume token.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about the failure path or restarts. Consumer killed with Ctrl-C, the run fails while nothing is listening, the consumer restarts and the missed event arrives from the saved token. Same mechanism as the LangGraph checkpointer on slide 25: the database holds the place, not the process.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the live Pi fails. Two sessions written with expiresAt, the short one gone a minute later; audit has no TTL. Right: the slide-17 structured query returning the failed runs with the embedding stored beside the fields.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the live Pi fails. Three proposals: start_training approved under a policy, deploy_model rejected because no policy permits it, delete_project refused by the schema before any decision. The audit collection records who asked, who decided, under which policy and why.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01E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822960" y="4069080"/>
            <a:ext cx="10515600" cy="109728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
        <p:nvSpPr>
          <p:cNvPr id="4" name="Shape 0"/>
          <p:cNvSpPr/>
          <p:nvPr/>
        </p:nvSpPr>
        <p:spPr>
          <a:xfrm>
            <a:off x="822960" y="1737360"/>
            <a:ext cx="274320" cy="274320"/>
          </a:xfrm>
          <a:prstGeom prst="rect">
            <a:avLst/>
          </a:prstGeom>
          <a:solidFill>
            <a:schemeClr val="accent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640080" y="6355080"/>
            <a:ext cx="7315200" cy="274320"/>
          </a:xfrm>
          <a:prstGeom prst="rect">
            <a:avLst/>
          </a:prstGeom>
          <a:noFill/>
          <a:ln/>
        </p:spPr>
        <p:txBody>
          <a:bodyPr wrap="square" lIns="0" tIns="0" rIns="0" bIns="0" rtlCol="0" anchor="ctr"/>
          <a:lstStyle/>
          <a:p>
            <a:pPr indent="0" marL="0">
              <a:buNone/>
            </a:pPr>
            <a:r>
              <a:rPr lang="en-US" sz="1000" dirty="0">
                <a:solidFill>
                  <a:schemeClr val="tx2"/>
                </a:solidFill>
              </a:rPr>
              <a:t>The Agent Can Call the API. Now What?</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UESTION">
    <p:bg>
      <p:bgPr>
        <a:solidFill>
          <a:srgbClr val="F3F6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515600" cy="1645920"/>
          </a:xfrm>
          <a:prstGeom prst="rect">
            <a:avLst/>
          </a:prstGeom>
          <a:noFill/>
          <a:ln/>
        </p:spPr>
        <p:txBody>
          <a:bodyPr wrap="square" rtlCol="0"/>
          <a:lstStyle>
            <a:lvl1pPr algn="ctr" indent="0" marL="0">
              <a:buNone/>
              <a:defRPr lang="en-US" sz="4400" b="1" dirty="0">
                <a:solidFill>
                  <a:schemeClr val="accent1"/>
                </a:solidFill>
              </a:defRPr>
            </a:lvl1pPr>
          </a:lstStyle>
          <a:p>
            <a:pPr algn="ctr" indent="0" marL="0">
              <a:buNone/>
            </a:pPr>
            <a:endParaRPr lang="en-US" sz="4400" dirty="0"/>
          </a:p>
        </p:txBody>
      </p:sp>
      <p:sp>
        <p:nvSpPr>
          <p:cNvPr id="3" name="Text 0"/>
          <p:cNvSpPr/>
          <p:nvPr>
            <p:ph idx="101" type="body" hasCustomPrompt="1"/>
          </p:nvPr>
        </p:nvSpPr>
        <p:spPr>
          <a:xfrm>
            <a:off x="822960" y="3931920"/>
            <a:ext cx="10515600" cy="1280160"/>
          </a:xfrm>
          <a:prstGeom prst="rect">
            <a:avLst/>
          </a:prstGeom>
          <a:noFill/>
          <a:ln/>
        </p:spPr>
        <p:txBody>
          <a:bodyPr wrap="square" rtlCol="0"/>
          <a:lstStyle>
            <a:lvl1pPr algn="ctr" indent="0" marL="0">
              <a:buNone/>
              <a:defRPr lang="en-US" sz="2000" dirty="0">
                <a:solidFill>
                  <a:schemeClr val="tx2"/>
                </a:solidFill>
              </a:defRPr>
            </a:lvl1pPr>
          </a:lstStyle>
          <a:p>
            <a:pPr algn="ctr" indent="0" marL="0">
              <a:buNone/>
            </a:pPr>
            <a:endParaRPr lang="en-US" sz="2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10424160" y="457200"/>
            <a:ext cx="1188720" cy="365760"/>
          </a:xfrm>
          <a:prstGeom prst="rect">
            <a:avLst/>
          </a:prstGeom>
          <a:noFill/>
          <a:ln/>
        </p:spPr>
        <p:txBody>
          <a:bodyPr wrap="square" lIns="0" tIns="0" rIns="0" bIns="0" rtlCol="0" anchor="ctr"/>
          <a:lstStyle/>
          <a:p>
            <a:pPr algn="r" indent="0" marL="0">
              <a:buNone/>
            </a:pPr>
            <a:r>
              <a:rPr lang="en-US" sz="1100" b="1" dirty="0">
                <a:solidFill>
                  <a:schemeClr val="accent1"/>
                </a:solidFill>
              </a:rPr>
              <a:t>BACKUP</a:t>
            </a:r>
            <a:endParaRPr lang="en-US" sz="1100" dirty="0"/>
          </a:p>
        </p:txBody>
      </p:sp>
      <p:sp>
        <p:nvSpPr>
          <p:cNvPr id="4" name="Text 1"/>
          <p:cNvSpPr/>
          <p:nvPr/>
        </p:nvSpPr>
        <p:spPr>
          <a:xfrm>
            <a:off x="640080" y="6355080"/>
            <a:ext cx="7315200" cy="274320"/>
          </a:xfrm>
          <a:prstGeom prst="rect">
            <a:avLst/>
          </a:prstGeom>
          <a:noFill/>
          <a:ln/>
        </p:spPr>
        <p:txBody>
          <a:bodyPr wrap="square" lIns="0" tIns="0" rIns="0" bIns="0" rtlCol="0" anchor="ctr"/>
          <a:lstStyle/>
          <a:p>
            <a:pPr indent="0" marL="0">
              <a:buNone/>
            </a:pPr>
            <a:r>
              <a:rPr lang="en-US" sz="1000" dirty="0">
                <a:solidFill>
                  <a:schemeClr val="tx2"/>
                </a:solidFill>
              </a:rPr>
              <a:t>The Agent Can Call the API. Now What?</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 Id="rId4" Type="http://schemas.openxmlformats.org/officeDocument/2006/relationships/image" Target="../media/image9.png"/><Relationship Id="rId5" Type="http://schemas.openxmlformats.org/officeDocument/2006/relationships/image" Target="../media/image1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4.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 Id="rId4" Type="http://schemas.openxmlformats.org/officeDocument/2006/relationships/image" Target="../media/image15.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gif"/></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 Id="rId4" Type="http://schemas.openxmlformats.org/officeDocument/2006/relationships/image" Target="../media/image19.gif"/></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 Id="rId4" Type="http://schemas.openxmlformats.org/officeDocument/2006/relationships/image" Target="../media/image20.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 Id="rId4" Type="http://schemas.openxmlformats.org/officeDocument/2006/relationships/image" Target="../media/image21.gif"/></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 Id="rId4" Type="http://schemas.openxmlformats.org/officeDocument/2006/relationships/image" Target="../media/image22.gif"/><Relationship Id="rId5" Type="http://schemas.openxmlformats.org/officeDocument/2006/relationships/image" Target="../media/image23.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4.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gif"/></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6.gif"/><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7.gif"/><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gif"/><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828800"/>
          </a:xfrm>
          <a:prstGeom prst="rect">
            <a:avLst/>
          </a:prstGeom>
          <a:noFill/>
          <a:ln/>
        </p:spPr>
        <p:txBody>
          <a:bodyPr wrap="square" lIns="0" tIns="0" rIns="0" bIns="0" rtlCol="0" anchor="b"/>
          <a:lstStyle/>
          <a:p>
            <a:pPr algn="l" indent="0" marL="0">
              <a:buNone/>
            </a:pPr>
            <a:r>
              <a:rPr lang="en-US" sz="4000" b="1" dirty="0">
                <a:solidFill>
                  <a:srgbClr val="FFFFFF"/>
                </a:solidFill>
              </a:rPr>
              <a:t>What Should a Local Agent Remember?</a:t>
            </a:r>
            <a:endParaRPr lang="en-US" sz="4000" dirty="0"/>
          </a:p>
        </p:txBody>
      </p:sp>
      <p:sp>
        <p:nvSpPr>
          <p:cNvPr id="4" name="Text 0"/>
          <p:cNvSpPr/>
          <p:nvPr>
            <p:ph idx="101" type="body" hasCustomPrompt="1"/>
          </p:nvPr>
        </p:nvSpPr>
        <p:spPr>
          <a:xfrm>
            <a:off x="822960" y="4069080"/>
            <a:ext cx="10515600" cy="1097280"/>
          </a:xfrm>
          <a:prstGeom prst="rect">
            <a:avLst/>
          </a:prstGeom>
          <a:noFill/>
          <a:ln/>
        </p:spPr>
        <p:txBody>
          <a:bodyPr wrap="square" lIns="0" tIns="0" rIns="0" bIns="0" rtlCol="0" anchor="t"/>
          <a:lstStyle/>
          <a:p>
            <a:pPr indent="0" marL="0">
              <a:buNone/>
            </a:pPr>
            <a:r>
              <a:rPr lang="en-US" sz="2000" dirty="0">
                <a:solidFill>
                  <a:srgbClr val="C9CFCD"/>
                </a:solidFill>
              </a:rPr>
              <a:t>Saving state for agents running at the edge</a:t>
            </a:r>
            <a:endParaRPr lang="en-US" sz="2000" dirty="0"/>
          </a:p>
        </p:txBody>
      </p:sp>
      <p:sp>
        <p:nvSpPr>
          <p:cNvPr id="5" name="label-1"/>
          <p:cNvSpPr txBox="1"/>
          <p:nvPr/>
        </p:nvSpPr>
        <p:spPr>
          <a:xfrm>
            <a:off x="822960" y="5943600"/>
            <a:ext cx="7589520" cy="365760"/>
          </a:xfrm>
          <a:prstGeom prst="rect">
            <a:avLst/>
          </a:prstGeom>
          <a:noFill/>
          <a:ln/>
        </p:spPr>
        <p:txBody>
          <a:bodyPr wrap="square" lIns="0" tIns="0" rIns="0" bIns="0" rtlCol="0" anchor="t"/>
          <a:lstStyle/>
          <a:p>
            <a:pPr algn="l" indent="0" marL="0">
              <a:buNone/>
            </a:pPr>
            <a:r>
              <a:rPr lang="en-US" sz="1400" dirty="0">
                <a:solidFill>
                  <a:srgbClr val="8A949A"/>
                </a:solidFill>
              </a:rPr>
              <a:t>Eoin Jordan   ·   40 minutes   ·   live on a RUBIK Pi 3 (Qualcomm QCS6490) · Ubuntu 24.04 · MongoDB 9.0 Community</a:t>
            </a:r>
            <a:endParaRPr lang="en-US" sz="1400" dirty="0"/>
          </a:p>
        </p:txBody>
      </p:sp>
      <p:sp>
        <p:nvSpPr>
          <p:cNvPr id="6" name="mini-2"/>
          <p:cNvSpPr txBox="1"/>
          <p:nvPr/>
        </p:nvSpPr>
        <p:spPr>
          <a:xfrm>
            <a:off x="8503920" y="5074920"/>
            <a:ext cx="822960" cy="457200"/>
          </a:xfrm>
          <a:prstGeom prst="roundRect">
            <a:avLst>
              <a:gd name="adj" fmla="val 16000"/>
            </a:avLst>
          </a:prstGeom>
          <a:solidFill>
            <a:schemeClr val="accent6"/>
          </a:solidFill>
          <a:ln w="12700">
            <a:solidFill>
              <a:schemeClr val="accent5"/>
            </a:solidFill>
          </a:ln>
        </p:spPr>
        <p:txBody>
          <a:bodyPr wrap="square" lIns="0" tIns="0" rIns="0" bIns="0" rtlCol="0" anchor="ctr"/>
          <a:lstStyle/>
          <a:p>
            <a:pPr algn="ctr" indent="0" marL="0">
              <a:buNone/>
            </a:pPr>
            <a:r>
              <a:rPr lang="en-US" sz="1200" dirty="0">
                <a:solidFill>
                  <a:srgbClr val="C9CFCD"/>
                </a:solidFill>
              </a:rPr>
              <a:t>LLM</a:t>
            </a:r>
            <a:endParaRPr lang="en-US" sz="1200" dirty="0"/>
          </a:p>
        </p:txBody>
      </p:sp>
      <p:sp>
        <p:nvSpPr>
          <p:cNvPr id="7" name="arrow-3"/>
          <p:cNvSpPr/>
          <p:nvPr/>
        </p:nvSpPr>
        <p:spPr>
          <a:xfrm>
            <a:off x="9326880" y="5303520"/>
            <a:ext cx="274320" cy="0"/>
          </a:xfrm>
          <a:prstGeom prst="line">
            <a:avLst/>
          </a:prstGeom>
          <a:noFill/>
          <a:ln w="12700">
            <a:solidFill>
              <a:schemeClr val="accent5"/>
            </a:solidFill>
            <a:prstDash val="solid"/>
            <a:tailEnd type="triangle"/>
          </a:ln>
        </p:spPr>
        <p:txBody>
          <a:bodyPr/>
          <a:p/>
        </p:txBody>
      </p:sp>
      <p:sp>
        <p:nvSpPr>
          <p:cNvPr id="8" name="mini-4"/>
          <p:cNvSpPr txBox="1"/>
          <p:nvPr/>
        </p:nvSpPr>
        <p:spPr>
          <a:xfrm>
            <a:off x="9601200" y="5074920"/>
            <a:ext cx="822960" cy="457200"/>
          </a:xfrm>
          <a:prstGeom prst="roundRect">
            <a:avLst>
              <a:gd name="adj" fmla="val 16000"/>
            </a:avLst>
          </a:prstGeom>
          <a:solidFill>
            <a:schemeClr val="accent6"/>
          </a:solidFill>
          <a:ln w="12700">
            <a:solidFill>
              <a:schemeClr val="accent5"/>
            </a:solidFill>
          </a:ln>
        </p:spPr>
        <p:txBody>
          <a:bodyPr wrap="square" lIns="0" tIns="0" rIns="0" bIns="0" rtlCol="0" anchor="ctr"/>
          <a:lstStyle/>
          <a:p>
            <a:pPr algn="ctr" indent="0" marL="0">
              <a:buNone/>
            </a:pPr>
            <a:r>
              <a:rPr lang="en-US" sz="1200" dirty="0">
                <a:solidFill>
                  <a:srgbClr val="C9CFCD"/>
                </a:solidFill>
              </a:rPr>
              <a:t>tool</a:t>
            </a:r>
            <a:endParaRPr lang="en-US" sz="1200" dirty="0"/>
          </a:p>
        </p:txBody>
      </p:sp>
      <p:sp>
        <p:nvSpPr>
          <p:cNvPr id="9" name="arrow-5"/>
          <p:cNvSpPr/>
          <p:nvPr/>
        </p:nvSpPr>
        <p:spPr>
          <a:xfrm>
            <a:off x="10424160" y="5303520"/>
            <a:ext cx="274320" cy="0"/>
          </a:xfrm>
          <a:prstGeom prst="line">
            <a:avLst/>
          </a:prstGeom>
          <a:noFill/>
          <a:ln w="12700">
            <a:solidFill>
              <a:schemeClr val="accent5"/>
            </a:solidFill>
            <a:prstDash val="solid"/>
            <a:tailEnd type="triangle"/>
          </a:ln>
        </p:spPr>
        <p:txBody>
          <a:bodyPr/>
          <a:p/>
        </p:txBody>
      </p:sp>
      <p:sp>
        <p:nvSpPr>
          <p:cNvPr id="10" name="mini-6"/>
          <p:cNvSpPr txBox="1"/>
          <p:nvPr/>
        </p:nvSpPr>
        <p:spPr>
          <a:xfrm>
            <a:off x="10698480" y="5074920"/>
            <a:ext cx="822960" cy="457200"/>
          </a:xfrm>
          <a:prstGeom prst="roundRect">
            <a:avLst>
              <a:gd name="adj" fmla="val 16000"/>
            </a:avLst>
          </a:prstGeom>
          <a:solidFill>
            <a:schemeClr val="accent6"/>
          </a:solidFill>
          <a:ln w="12700">
            <a:solidFill>
              <a:schemeClr val="accent5"/>
            </a:solidFill>
          </a:ln>
        </p:spPr>
        <p:txBody>
          <a:bodyPr wrap="square" lIns="0" tIns="0" rIns="0" bIns="0" rtlCol="0" anchor="ctr"/>
          <a:lstStyle/>
          <a:p>
            <a:pPr algn="ctr" indent="0" marL="0">
              <a:buNone/>
            </a:pPr>
            <a:r>
              <a:rPr lang="en-US" sz="1200" dirty="0">
                <a:solidFill>
                  <a:srgbClr val="C9CFCD"/>
                </a:solidFill>
              </a:rPr>
              <a:t>API</a:t>
            </a:r>
            <a:endParaRPr lang="en-US" sz="1200" dirty="0"/>
          </a:p>
        </p:txBody>
      </p:sp>
      <p:sp>
        <p:nvSpPr>
          <p:cNvPr id="11" name="mini-7"/>
          <p:cNvSpPr txBox="1"/>
          <p:nvPr/>
        </p:nvSpPr>
        <p:spPr>
          <a:xfrm>
            <a:off x="9601200" y="5806440"/>
            <a:ext cx="822960" cy="457200"/>
          </a:xfrm>
          <a:prstGeom prst="roundRect">
            <a:avLst>
              <a:gd name="adj" fmla="val 16000"/>
            </a:avLst>
          </a:prstGeom>
          <a:solidFill>
            <a:schemeClr val="accent6"/>
          </a:solidFill>
          <a:ln w="15875">
            <a:solidFill>
              <a:schemeClr val="accent2"/>
            </a:solidFill>
          </a:ln>
        </p:spPr>
        <p:txBody>
          <a:bodyPr wrap="square" lIns="0" tIns="0" rIns="0" bIns="0" rtlCol="0" anchor="ctr"/>
          <a:lstStyle/>
          <a:p>
            <a:pPr algn="ctr" indent="0" marL="0">
              <a:buNone/>
            </a:pPr>
            <a:r>
              <a:rPr lang="en-US" sz="1200" b="1" dirty="0">
                <a:solidFill>
                  <a:srgbClr val="00ED64"/>
                </a:solidFill>
              </a:rPr>
              <a:t>state?</a:t>
            </a:r>
            <a:endParaRPr lang="en-US" sz="1200" dirty="0"/>
          </a:p>
        </p:txBody>
      </p:sp>
      <p:sp>
        <p:nvSpPr>
          <p:cNvPr id="12" name="arrow-8"/>
          <p:cNvSpPr/>
          <p:nvPr/>
        </p:nvSpPr>
        <p:spPr>
          <a:xfrm>
            <a:off x="10012680" y="5532120"/>
            <a:ext cx="0" cy="274320"/>
          </a:xfrm>
          <a:prstGeom prst="line">
            <a:avLst/>
          </a:prstGeom>
          <a:noFill/>
          <a:ln w="15875">
            <a:solidFill>
              <a:schemeClr val="accent2"/>
            </a:solidFill>
            <a:prstDash val="solid"/>
            <a:tailEnd type="triangle"/>
          </a:ln>
        </p:spPr>
        <p:txBody>
          <a:bodyPr/>
          <a:p/>
        </p:txBody>
      </p:sp>
      <p:sp>
        <p:nvSpPr>
          <p:cNvPr id="5" name="label-map"/>
          <p:cNvSpPr txBox="1"/>
          <p:nvPr/>
        </p:nvSpPr>
        <p:spPr>
          <a:xfrm>
            <a:off x="822960" y="5074920"/>
            <a:ext cx="7589520" cy="685800"/>
          </a:xfrm>
          <a:prstGeom prst="rect">
            <a:avLst/>
          </a:prstGeom>
          <a:noFill/>
          <a:ln/>
        </p:spPr>
        <p:txBody>
          <a:bodyPr wrap="square" lIns="0" tIns="0" rIns="0" bIns="0" rtlCol="0" anchor="t"/>
          <a:lstStyle/>
          <a:p>
            <a:pPr algn="l" indent="0" marL="0">
              <a:buNone/>
            </a:pPr>
            <a:r>
              <a:rPr lang="en-US" sz="1500" dirty="0">
                <a:solidFill>
                  <a:srgbClr val="C9CFCD"/>
                </a:solidFill>
              </a:rPr>
              <a:t>By the end you will be able to:  model agent state as documents  ·  index for the questions the agent asks  ·  decide what memory reacts, expires and can explain itself</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Who's talking</a:t>
            </a:r>
            <a:endParaRPr lang="en-US" sz="3200" dirty="0"/>
          </a:p>
        </p:txBody>
      </p:sp>
      <p:sp>
        <p:nvSpPr>
          <p:cNvPr id="4" name="label-9"/>
          <p:cNvSpPr txBox="1"/>
          <p:nvPr/>
        </p:nvSpPr>
        <p:spPr>
          <a:xfrm>
            <a:off x="640080" y="1463040"/>
            <a:ext cx="6949440" cy="548640"/>
          </a:xfrm>
          <a:prstGeom prst="rect">
            <a:avLst/>
          </a:prstGeom>
          <a:noFill/>
          <a:ln/>
        </p:spPr>
        <p:txBody>
          <a:bodyPr wrap="square" lIns="0" tIns="0" rIns="0" bIns="0" rtlCol="0" anchor="t"/>
          <a:lstStyle/>
          <a:p>
            <a:pPr algn="l" indent="0" marL="0">
              <a:buNone/>
            </a:pPr>
            <a:r>
              <a:rPr lang="en-US" sz="2800" b="1" dirty="0">
                <a:solidFill>
                  <a:schemeClr val="tx1"/>
                </a:solidFill>
              </a:rPr>
              <a:t>Eoin Jordan</a:t>
            </a:r>
            <a:endParaRPr lang="en-US" sz="2800" dirty="0"/>
          </a:p>
        </p:txBody>
      </p:sp>
      <p:sp>
        <p:nvSpPr>
          <p:cNvPr id="5" name="label-10"/>
          <p:cNvSpPr txBox="1"/>
          <p:nvPr/>
        </p:nvSpPr>
        <p:spPr>
          <a:xfrm>
            <a:off x="640080" y="2011680"/>
            <a:ext cx="6949440" cy="457200"/>
          </a:xfrm>
          <a:prstGeom prst="rect">
            <a:avLst/>
          </a:prstGeom>
          <a:noFill/>
          <a:ln/>
        </p:spPr>
        <p:txBody>
          <a:bodyPr wrap="square" lIns="0" tIns="0" rIns="0" bIns="0" rtlCol="0" anchor="t"/>
          <a:lstStyle/>
          <a:p>
            <a:pPr algn="l" indent="0" marL="0">
              <a:buNone/>
            </a:pPr>
            <a:r>
              <a:rPr lang="en-US" sz="1600" dirty="0">
                <a:solidFill>
                  <a:schemeClr val="accent1"/>
                </a:solidFill>
              </a:rPr>
              <a:t>Senior Developer Relations Engineer, Edge Impulse / Qualcomm</a:t>
            </a:r>
            <a:endParaRPr lang="en-US" sz="1600" dirty="0"/>
          </a:p>
        </p:txBody>
      </p:sp>
      <p:sp>
        <p:nvSpPr>
          <p:cNvPr id="6" name="dot-11"/>
          <p:cNvSpPr/>
          <p:nvPr/>
        </p:nvSpPr>
        <p:spPr>
          <a:xfrm>
            <a:off x="685800" y="2834640"/>
            <a:ext cx="146304" cy="146304"/>
          </a:xfrm>
          <a:prstGeom prst="ellipse">
            <a:avLst/>
          </a:prstGeom>
          <a:solidFill>
            <a:schemeClr val="accent2"/>
          </a:solidFill>
          <a:ln w="12700">
            <a:solidFill>
              <a:schemeClr val="accent2"/>
            </a:solidFill>
            <a:prstDash val="solid"/>
          </a:ln>
        </p:spPr>
        <p:txBody>
          <a:bodyPr/>
          <a:p/>
        </p:txBody>
      </p:sp>
      <p:sp>
        <p:nvSpPr>
          <p:cNvPr id="7" name="label-12"/>
          <p:cNvSpPr txBox="1"/>
          <p:nvPr/>
        </p:nvSpPr>
        <p:spPr>
          <a:xfrm>
            <a:off x="960120" y="2743200"/>
            <a:ext cx="1280160" cy="365760"/>
          </a:xfrm>
          <a:prstGeom prst="rect">
            <a:avLst/>
          </a:prstGeom>
          <a:noFill/>
          <a:ln/>
        </p:spPr>
        <p:txBody>
          <a:bodyPr wrap="square" lIns="0" tIns="0" rIns="0" bIns="0" rtlCol="0" anchor="t"/>
          <a:lstStyle/>
          <a:p>
            <a:pPr algn="l" indent="0" marL="0">
              <a:buNone/>
            </a:pPr>
            <a:r>
              <a:rPr lang="en-US" sz="1500" b="1" dirty="0">
                <a:solidFill>
                  <a:schemeClr val="tx1"/>
                </a:solidFill>
              </a:rPr>
              <a:t>Now</a:t>
            </a:r>
            <a:endParaRPr lang="en-US" sz="1500" dirty="0"/>
          </a:p>
        </p:txBody>
      </p:sp>
      <p:sp>
        <p:nvSpPr>
          <p:cNvPr id="8" name="label-13"/>
          <p:cNvSpPr txBox="1"/>
          <p:nvPr/>
        </p:nvSpPr>
        <p:spPr>
          <a:xfrm>
            <a:off x="2286000" y="2743200"/>
            <a:ext cx="5486400" cy="777240"/>
          </a:xfrm>
          <a:prstGeom prst="rect">
            <a:avLst/>
          </a:prstGeom>
          <a:noFill/>
          <a:ln/>
        </p:spPr>
        <p:txBody>
          <a:bodyPr wrap="square" lIns="0" tIns="0" rIns="0" bIns="0" rtlCol="0" anchor="t"/>
          <a:lstStyle/>
          <a:p>
            <a:pPr algn="l" indent="0" marL="0">
              <a:buNone/>
            </a:pPr>
            <a:r>
              <a:rPr lang="en-US" sz="1300" dirty="0">
                <a:solidFill>
                  <a:schemeClr val="tx2"/>
                </a:solidFill>
              </a:rPr>
              <a:t>Four years putting ML on small devices at Edge Impulse — joined at Series B, stayed through the Qualcomm acquisition. Built the MCP server this talk is about.</a:t>
            </a:r>
            <a:endParaRPr lang="en-US" sz="1300" dirty="0"/>
          </a:p>
        </p:txBody>
      </p:sp>
      <p:sp>
        <p:nvSpPr>
          <p:cNvPr id="9" name="dot-14"/>
          <p:cNvSpPr/>
          <p:nvPr/>
        </p:nvSpPr>
        <p:spPr>
          <a:xfrm>
            <a:off x="685800" y="3675888"/>
            <a:ext cx="146304" cy="146304"/>
          </a:xfrm>
          <a:prstGeom prst="ellipse">
            <a:avLst/>
          </a:prstGeom>
          <a:solidFill>
            <a:schemeClr val="accent2"/>
          </a:solidFill>
          <a:ln w="12700">
            <a:solidFill>
              <a:schemeClr val="accent2"/>
            </a:solidFill>
            <a:prstDash val="solid"/>
          </a:ln>
        </p:spPr>
        <p:txBody>
          <a:bodyPr/>
          <a:p/>
        </p:txBody>
      </p:sp>
      <p:sp>
        <p:nvSpPr>
          <p:cNvPr id="10" name="label-15"/>
          <p:cNvSpPr txBox="1"/>
          <p:nvPr/>
        </p:nvSpPr>
        <p:spPr>
          <a:xfrm>
            <a:off x="960120" y="3584448"/>
            <a:ext cx="1280160" cy="365760"/>
          </a:xfrm>
          <a:prstGeom prst="rect">
            <a:avLst/>
          </a:prstGeom>
          <a:noFill/>
          <a:ln/>
        </p:spPr>
        <p:txBody>
          <a:bodyPr wrap="square" lIns="0" tIns="0" rIns="0" bIns="0" rtlCol="0" anchor="t"/>
          <a:lstStyle/>
          <a:p>
            <a:pPr algn="l" indent="0" marL="0">
              <a:buNone/>
            </a:pPr>
            <a:r>
              <a:rPr lang="en-US" sz="1500" b="1" dirty="0">
                <a:solidFill>
                  <a:schemeClr val="tx1"/>
                </a:solidFill>
              </a:rPr>
              <a:t>Before</a:t>
            </a:r>
            <a:endParaRPr lang="en-US" sz="1500" dirty="0"/>
          </a:p>
        </p:txBody>
      </p:sp>
      <p:sp>
        <p:nvSpPr>
          <p:cNvPr id="11" name="label-16"/>
          <p:cNvSpPr txBox="1"/>
          <p:nvPr/>
        </p:nvSpPr>
        <p:spPr>
          <a:xfrm>
            <a:off x="2286000" y="3584448"/>
            <a:ext cx="5486400" cy="777240"/>
          </a:xfrm>
          <a:prstGeom prst="rect">
            <a:avLst/>
          </a:prstGeom>
          <a:noFill/>
          <a:ln/>
        </p:spPr>
        <p:txBody>
          <a:bodyPr wrap="square" lIns="0" tIns="0" rIns="0" bIns="0" rtlCol="0" anchor="t"/>
          <a:lstStyle/>
          <a:p>
            <a:pPr algn="l" indent="0" marL="0">
              <a:buNone/>
            </a:pPr>
            <a:r>
              <a:rPr lang="en-US" sz="1300" dirty="0">
                <a:solidFill>
                  <a:schemeClr val="tx2"/>
                </a:solidFill>
              </a:rPr>
              <a:t>Eight years at IBM Galway, five as technical lead on distributed and cloud-native systems: Java, Kafka, Kubernetes, OpenShift.</a:t>
            </a:r>
            <a:endParaRPr lang="en-US" sz="1300" dirty="0"/>
          </a:p>
        </p:txBody>
      </p:sp>
      <p:sp>
        <p:nvSpPr>
          <p:cNvPr id="12" name="dot-17"/>
          <p:cNvSpPr/>
          <p:nvPr/>
        </p:nvSpPr>
        <p:spPr>
          <a:xfrm>
            <a:off x="685800" y="4517136"/>
            <a:ext cx="146304" cy="146304"/>
          </a:xfrm>
          <a:prstGeom prst="ellipse">
            <a:avLst/>
          </a:prstGeom>
          <a:solidFill>
            <a:schemeClr val="accent2"/>
          </a:solidFill>
          <a:ln w="12700">
            <a:solidFill>
              <a:schemeClr val="accent2"/>
            </a:solidFill>
            <a:prstDash val="solid"/>
          </a:ln>
        </p:spPr>
        <p:txBody>
          <a:bodyPr/>
          <a:p/>
        </p:txBody>
      </p:sp>
      <p:sp>
        <p:nvSpPr>
          <p:cNvPr id="13" name="label-18"/>
          <p:cNvSpPr txBox="1"/>
          <p:nvPr/>
        </p:nvSpPr>
        <p:spPr>
          <a:xfrm>
            <a:off x="960120" y="4425696"/>
            <a:ext cx="1280160" cy="365760"/>
          </a:xfrm>
          <a:prstGeom prst="rect">
            <a:avLst/>
          </a:prstGeom>
          <a:noFill/>
          <a:ln/>
        </p:spPr>
        <p:txBody>
          <a:bodyPr wrap="square" lIns="0" tIns="0" rIns="0" bIns="0" rtlCol="0" anchor="t"/>
          <a:lstStyle/>
          <a:p>
            <a:pPr algn="l" indent="0" marL="0">
              <a:buNone/>
            </a:pPr>
            <a:r>
              <a:rPr lang="en-US" sz="1500" b="1" dirty="0">
                <a:solidFill>
                  <a:schemeClr val="tx1"/>
                </a:solidFill>
              </a:rPr>
              <a:t>Research</a:t>
            </a:r>
            <a:endParaRPr lang="en-US" sz="1500" dirty="0"/>
          </a:p>
        </p:txBody>
      </p:sp>
      <p:sp>
        <p:nvSpPr>
          <p:cNvPr id="14" name="label-19"/>
          <p:cNvSpPr txBox="1"/>
          <p:nvPr/>
        </p:nvSpPr>
        <p:spPr>
          <a:xfrm>
            <a:off x="2286000" y="4425696"/>
            <a:ext cx="5486400" cy="777240"/>
          </a:xfrm>
          <a:prstGeom prst="rect">
            <a:avLst/>
          </a:prstGeom>
          <a:noFill/>
          <a:ln/>
        </p:spPr>
        <p:txBody>
          <a:bodyPr wrap="square" lIns="0" tIns="0" rIns="0" bIns="0" rtlCol="0" anchor="t"/>
          <a:lstStyle/>
          <a:p>
            <a:pPr algn="l" indent="0" marL="0">
              <a:buNone/>
            </a:pPr>
            <a:r>
              <a:rPr lang="en-US" sz="1300" dirty="0">
                <a:solidFill>
                  <a:schemeClr val="tx2"/>
                </a:solidFill>
              </a:rPr>
              <a:t>PhD at the Insight Centre for Data Analytics, University of Galway — semantic interoperability for distributed intelligent systems.</a:t>
            </a:r>
            <a:endParaRPr lang="en-US" sz="1300" dirty="0"/>
          </a:p>
        </p:txBody>
      </p:sp>
      <p:sp>
        <p:nvSpPr>
          <p:cNvPr id="15" name="dot-20"/>
          <p:cNvSpPr/>
          <p:nvPr/>
        </p:nvSpPr>
        <p:spPr>
          <a:xfrm>
            <a:off x="685800" y="5358384"/>
            <a:ext cx="146304" cy="146304"/>
          </a:xfrm>
          <a:prstGeom prst="ellipse">
            <a:avLst/>
          </a:prstGeom>
          <a:solidFill>
            <a:schemeClr val="accent2"/>
          </a:solidFill>
          <a:ln w="12700">
            <a:solidFill>
              <a:schemeClr val="accent2"/>
            </a:solidFill>
            <a:prstDash val="solid"/>
          </a:ln>
        </p:spPr>
        <p:txBody>
          <a:bodyPr/>
          <a:p/>
        </p:txBody>
      </p:sp>
      <p:sp>
        <p:nvSpPr>
          <p:cNvPr id="16" name="label-21"/>
          <p:cNvSpPr txBox="1"/>
          <p:nvPr/>
        </p:nvSpPr>
        <p:spPr>
          <a:xfrm>
            <a:off x="960120" y="5266944"/>
            <a:ext cx="1280160" cy="365760"/>
          </a:xfrm>
          <a:prstGeom prst="rect">
            <a:avLst/>
          </a:prstGeom>
          <a:noFill/>
          <a:ln/>
        </p:spPr>
        <p:txBody>
          <a:bodyPr wrap="square" lIns="0" tIns="0" rIns="0" bIns="0" rtlCol="0" anchor="t"/>
          <a:lstStyle/>
          <a:p>
            <a:pPr algn="l" indent="0" marL="0">
              <a:buNone/>
            </a:pPr>
            <a:r>
              <a:rPr lang="en-US" sz="1500" b="1" dirty="0">
                <a:solidFill>
                  <a:schemeClr val="tx1"/>
                </a:solidFill>
              </a:rPr>
              <a:t>On the side</a:t>
            </a:r>
            <a:endParaRPr lang="en-US" sz="1500" dirty="0"/>
          </a:p>
        </p:txBody>
      </p:sp>
      <p:sp>
        <p:nvSpPr>
          <p:cNvPr id="17" name="label-22"/>
          <p:cNvSpPr txBox="1"/>
          <p:nvPr/>
        </p:nvSpPr>
        <p:spPr>
          <a:xfrm>
            <a:off x="2286000" y="5266944"/>
            <a:ext cx="5486400" cy="777240"/>
          </a:xfrm>
          <a:prstGeom prst="rect">
            <a:avLst/>
          </a:prstGeom>
          <a:noFill/>
          <a:ln/>
        </p:spPr>
        <p:txBody>
          <a:bodyPr wrap="square" lIns="0" tIns="0" rIns="0" bIns="0" rtlCol="0" anchor="t"/>
          <a:lstStyle/>
          <a:p>
            <a:pPr algn="l" indent="0" marL="0">
              <a:buNone/>
            </a:pPr>
            <a:r>
              <a:rPr lang="en-US" sz="1300" dirty="0">
                <a:solidFill>
                  <a:schemeClr val="tx2"/>
                </a:solidFill>
              </a:rPr>
              <a:t>MongoDBSimCity: an explorable 3D model of a mongod, measured against a real 9.0 server on a RUBIK Pi 3.</a:t>
            </a:r>
            <a:endParaRPr lang="en-US" sz="1300" dirty="0"/>
          </a:p>
        </p:txBody>
      </p:sp>
      <p:sp>
        <p:nvSpPr>
          <p:cNvPr id="18" name="box-23"/>
          <p:cNvSpPr txBox="1"/>
          <p:nvPr/>
        </p:nvSpPr>
        <p:spPr>
          <a:xfrm>
            <a:off x="8412480" y="1554480"/>
            <a:ext cx="3200400" cy="4343400"/>
          </a:xfrm>
          <a:prstGeom prst="roundRect">
            <a:avLst>
              <a:gd name="adj" fmla="val 2286"/>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pic>
        <p:nvPicPr>
          <p:cNvPr id="19" name="qr-24" descr="preencoded.png">    </p:cNvPr>
          <p:cNvPicPr>
            <a:picLocks noChangeAspect="1"/>
          </p:cNvPicPr>
          <p:nvPr/>
        </p:nvPicPr>
        <p:blipFill>
          <a:blip r:embed="rId1"/>
          <a:stretch>
            <a:fillRect/>
          </a:stretch>
        </p:blipFill>
        <p:spPr>
          <a:xfrm>
            <a:off x="9098280" y="1828800"/>
            <a:ext cx="1828800" cy="1828800"/>
          </a:xfrm>
          <a:prstGeom prst="rect">
            <a:avLst/>
          </a:prstGeom>
        </p:spPr>
      </p:pic>
      <p:sp>
        <p:nvSpPr>
          <p:cNvPr id="20" name="label-25"/>
          <p:cNvSpPr txBox="1"/>
          <p:nvPr/>
        </p:nvSpPr>
        <p:spPr>
          <a:xfrm>
            <a:off x="8595360" y="3749040"/>
            <a:ext cx="2834640" cy="365760"/>
          </a:xfrm>
          <a:prstGeom prst="rect">
            <a:avLst/>
          </a:prstGeom>
          <a:noFill/>
          <a:ln/>
        </p:spPr>
        <p:txBody>
          <a:bodyPr wrap="square" lIns="0" tIns="0" rIns="0" bIns="0" rtlCol="0" anchor="t"/>
          <a:lstStyle/>
          <a:p>
            <a:pPr algn="ctr" indent="0" marL="0">
              <a:buNone/>
            </a:pPr>
            <a:r>
              <a:rPr lang="en-US" sz="1400" b="1" dirty="0">
                <a:solidFill>
                  <a:schemeClr val="tx1"/>
                </a:solidFill>
              </a:rPr>
              <a:t>Follow the database side live</a:t>
            </a:r>
            <a:endParaRPr lang="en-US" sz="1400" dirty="0"/>
          </a:p>
        </p:txBody>
      </p:sp>
      <p:sp>
        <p:nvSpPr>
          <p:cNvPr id="21" name="label-26"/>
          <p:cNvSpPr txBox="1"/>
          <p:nvPr/>
        </p:nvSpPr>
        <p:spPr>
          <a:xfrm>
            <a:off x="8595360" y="4114800"/>
            <a:ext cx="2834640" cy="822960"/>
          </a:xfrm>
          <a:prstGeom prst="rect">
            <a:avLst/>
          </a:prstGeom>
          <a:noFill/>
          <a:ln/>
        </p:spPr>
        <p:txBody>
          <a:bodyPr wrap="square" lIns="0" tIns="0" rIns="0" bIns="0" rtlCol="0" anchor="t"/>
          <a:lstStyle/>
          <a:p>
            <a:pPr algn="ctr" indent="0" marL="0">
              <a:buNone/>
            </a:pPr>
            <a:r>
              <a:rPr lang="en-US" sz="1200" dirty="0">
                <a:solidFill>
                  <a:schemeClr val="tx2"/>
                </a:solidFill>
              </a:rPr>
              <a:t>MongoDBSimCity — walk through a MongoDB 9.0 server in your browser while we talk</a:t>
            </a:r>
            <a:endParaRPr lang="en-US" sz="1200" dirty="0"/>
          </a:p>
        </p:txBody>
      </p:sp>
      <p:sp>
        <p:nvSpPr>
          <p:cNvPr id="22" name="label-27"/>
          <p:cNvSpPr txBox="1"/>
          <p:nvPr/>
        </p:nvSpPr>
        <p:spPr>
          <a:xfrm>
            <a:off x="8595360" y="5074920"/>
            <a:ext cx="2834640" cy="457200"/>
          </a:xfrm>
          <a:prstGeom prst="rect">
            <a:avLst/>
          </a:prstGeom>
          <a:noFill/>
          <a:ln/>
        </p:spPr>
        <p:txBody>
          <a:bodyPr wrap="square" lIns="0" tIns="0" rIns="0" bIns="0" rtlCol="0" anchor="t"/>
          <a:lstStyle/>
          <a:p>
            <a:pPr algn="ctr" indent="0" marL="0">
              <a:buNone/>
            </a:pPr>
            <a:r>
              <a:rPr lang="en-US" sz="1100" dirty="0">
                <a:solidFill>
                  <a:schemeClr val="accent1"/>
                </a:solidFill>
              </a:rPr>
              <a:t>eoinjordan.github.io/MongoDBSimCity</a:t>
            </a:r>
            <a:endParaRPr lang="en-US" sz="11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
        <p:nvSpPr>
          <p:cNvPr id="16" name="label-badges-k"/>
          <p:cNvSpPr txBox="1"/>
          <p:nvPr/>
        </p:nvSpPr>
        <p:spPr>
          <a:xfrm>
            <a:off x="960120" y="6053328"/>
            <a:ext cx="1280160" cy="365760"/>
          </a:xfrm>
          <a:prstGeom prst="rect">
            <a:avLst/>
          </a:prstGeom>
          <a:noFill/>
          <a:ln/>
        </p:spPr>
        <p:txBody>
          <a:bodyPr wrap="square" lIns="0" tIns="0" rIns="0" bIns="0" rtlCol="0" anchor="t"/>
          <a:lstStyle/>
          <a:p>
            <a:pPr algn="l" indent="0" marL="0">
              <a:buNone/>
            </a:pPr>
            <a:r>
              <a:rPr lang="en-US" sz="1500" b="1" dirty="0">
                <a:solidFill>
                  <a:schemeClr val="tx1"/>
                </a:solidFill>
              </a:rPr>
              <a:t>Badges</a:t>
            </a:r>
            <a:endParaRPr lang="en-US" sz="1500" dirty="0"/>
          </a:p>
        </p:txBody>
      </p:sp>
      <p:sp>
        <p:nvSpPr>
          <p:cNvPr id="17" name="label-badges"/>
          <p:cNvSpPr txBox="1"/>
          <p:nvPr/>
        </p:nvSpPr>
        <p:spPr>
          <a:xfrm>
            <a:off x="2286000" y="6053328"/>
            <a:ext cx="5486400" cy="640080"/>
          </a:xfrm>
          <a:prstGeom prst="rect">
            <a:avLst/>
          </a:prstGeom>
          <a:noFill/>
          <a:ln/>
        </p:spPr>
        <p:txBody>
          <a:bodyPr wrap="square" lIns="0" tIns="0" rIns="0" bIns="0" rtlCol="0" anchor="t"/>
          <a:lstStyle/>
          <a:p>
            <a:pPr algn="l" indent="0" marL="0">
              <a:buNone/>
            </a:pPr>
            <a:r>
              <a:rPr lang="en-US" sz="1300" dirty="0">
                <a:solidFill>
                  <a:schemeClr val="tx2"/>
                </a:solidFill>
              </a:rPr>
              <a:t>MongoDB skill badges, October 2026: Building AI Agents with MongoDB · AI and Innovation: How MongoDB Enables a Resilient AI Strategy</a:t>
            </a:r>
            <a:endParaRPr lang="en-US" sz="1300" dirty="0"/>
          </a:p>
        </p:txBody>
      </p:sp>
      <p:sp>
        <p:nvSpPr>
          <p:cNvPr id="15" name="dot-badges"/>
          <p:cNvSpPr/>
          <p:nvPr/>
        </p:nvSpPr>
        <p:spPr>
          <a:xfrm>
            <a:off x="685800" y="6144768"/>
            <a:ext cx="146304" cy="146304"/>
          </a:xfrm>
          <a:prstGeom prst="ellipse">
            <a:avLst/>
          </a:prstGeom>
          <a:solidFill>
            <a:schemeClr val="accent2"/>
          </a:solidFill>
          <a:ln w="12700">
            <a:solidFill>
              <a:schemeClr val="accent2"/>
            </a:solidFill>
            <a:prstDash val="solid"/>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Before we start: three questions for you</a:t>
            </a:r>
            <a:endParaRPr lang="en-US" sz="3200" dirty="0"/>
          </a:p>
        </p:txBody>
      </p:sp>
      <p:sp>
        <p:nvSpPr>
          <p:cNvPr id="4" name="num-28"/>
          <p:cNvSpPr txBox="1"/>
          <p:nvPr/>
        </p:nvSpPr>
        <p:spPr>
          <a:xfrm>
            <a:off x="640080" y="150876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label-29"/>
          <p:cNvSpPr txBox="1"/>
          <p:nvPr/>
        </p:nvSpPr>
        <p:spPr>
          <a:xfrm>
            <a:off x="1325880" y="1463040"/>
            <a:ext cx="6675120" cy="457200"/>
          </a:xfrm>
          <a:prstGeom prst="rect">
            <a:avLst/>
          </a:prstGeom>
          <a:noFill/>
          <a:ln/>
        </p:spPr>
        <p:txBody>
          <a:bodyPr wrap="square" lIns="0" tIns="0" rIns="0" bIns="0" rtlCol="0" anchor="t"/>
          <a:lstStyle/>
          <a:p>
            <a:pPr algn="l" indent="0" marL="0">
              <a:buNone/>
            </a:pPr>
            <a:r>
              <a:rPr lang="en-US" sz="1900" b="1" dirty="0">
                <a:solidFill>
                  <a:schemeClr val="tx1"/>
                </a:solidFill>
              </a:rPr>
              <a:t>Are you running an agent in production?</a:t>
            </a:r>
            <a:endParaRPr lang="en-US" sz="1900" dirty="0"/>
          </a:p>
        </p:txBody>
      </p:sp>
      <p:sp>
        <p:nvSpPr>
          <p:cNvPr id="6" name="box-30"/>
          <p:cNvSpPr txBox="1"/>
          <p:nvPr/>
        </p:nvSpPr>
        <p:spPr>
          <a:xfrm>
            <a:off x="1325880" y="202996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Yes</a:t>
            </a:r>
            <a:endParaRPr lang="en-US" sz="1200" dirty="0"/>
          </a:p>
        </p:txBody>
      </p:sp>
      <p:sp>
        <p:nvSpPr>
          <p:cNvPr id="7" name="box-31"/>
          <p:cNvSpPr txBox="1"/>
          <p:nvPr/>
        </p:nvSpPr>
        <p:spPr>
          <a:xfrm>
            <a:off x="3063240" y="202996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Piloting</a:t>
            </a:r>
            <a:endParaRPr lang="en-US" sz="1200" dirty="0"/>
          </a:p>
        </p:txBody>
      </p:sp>
      <p:sp>
        <p:nvSpPr>
          <p:cNvPr id="8" name="box-32"/>
          <p:cNvSpPr txBox="1"/>
          <p:nvPr/>
        </p:nvSpPr>
        <p:spPr>
          <a:xfrm>
            <a:off x="4800600" y="202996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Not yet</a:t>
            </a:r>
            <a:endParaRPr lang="en-US" sz="1200" dirty="0"/>
          </a:p>
        </p:txBody>
      </p:sp>
      <p:sp>
        <p:nvSpPr>
          <p:cNvPr id="9" name="num-33"/>
          <p:cNvSpPr txBox="1"/>
          <p:nvPr/>
        </p:nvSpPr>
        <p:spPr>
          <a:xfrm>
            <a:off x="640080" y="297180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label-34"/>
          <p:cNvSpPr txBox="1"/>
          <p:nvPr/>
        </p:nvSpPr>
        <p:spPr>
          <a:xfrm>
            <a:off x="1325880" y="2926080"/>
            <a:ext cx="6675120" cy="457200"/>
          </a:xfrm>
          <a:prstGeom prst="rect">
            <a:avLst/>
          </a:prstGeom>
          <a:noFill/>
          <a:ln/>
        </p:spPr>
        <p:txBody>
          <a:bodyPr wrap="square" lIns="0" tIns="0" rIns="0" bIns="0" rtlCol="0" anchor="t"/>
          <a:lstStyle/>
          <a:p>
            <a:pPr algn="l" indent="0" marL="0">
              <a:buNone/>
            </a:pPr>
            <a:r>
              <a:rPr lang="en-US" sz="1900" b="1" dirty="0">
                <a:solidFill>
                  <a:schemeClr val="tx1"/>
                </a:solidFill>
              </a:rPr>
              <a:t>Where does your agent's state live today?</a:t>
            </a:r>
            <a:endParaRPr lang="en-US" sz="1900" dirty="0"/>
          </a:p>
        </p:txBody>
      </p:sp>
      <p:sp>
        <p:nvSpPr>
          <p:cNvPr id="11" name="box-35"/>
          <p:cNvSpPr txBox="1"/>
          <p:nvPr/>
        </p:nvSpPr>
        <p:spPr>
          <a:xfrm>
            <a:off x="1325880" y="349300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In the prompt</a:t>
            </a:r>
            <a:endParaRPr lang="en-US" sz="1200" dirty="0"/>
          </a:p>
        </p:txBody>
      </p:sp>
      <p:sp>
        <p:nvSpPr>
          <p:cNvPr id="12" name="box-36"/>
          <p:cNvSpPr txBox="1"/>
          <p:nvPr/>
        </p:nvSpPr>
        <p:spPr>
          <a:xfrm>
            <a:off x="3063240" y="349300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Files or cache</a:t>
            </a:r>
            <a:endParaRPr lang="en-US" sz="1200" dirty="0"/>
          </a:p>
        </p:txBody>
      </p:sp>
      <p:sp>
        <p:nvSpPr>
          <p:cNvPr id="13" name="box-37"/>
          <p:cNvSpPr txBox="1"/>
          <p:nvPr/>
        </p:nvSpPr>
        <p:spPr>
          <a:xfrm>
            <a:off x="4800600" y="349300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A database</a:t>
            </a:r>
            <a:endParaRPr lang="en-US" sz="1200" dirty="0"/>
          </a:p>
        </p:txBody>
      </p:sp>
      <p:sp>
        <p:nvSpPr>
          <p:cNvPr id="14" name="box-38"/>
          <p:cNvSpPr txBox="1"/>
          <p:nvPr/>
        </p:nvSpPr>
        <p:spPr>
          <a:xfrm>
            <a:off x="6537960" y="349300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Nowhere, honestly</a:t>
            </a:r>
            <a:endParaRPr lang="en-US" sz="1200" dirty="0"/>
          </a:p>
        </p:txBody>
      </p:sp>
      <p:sp>
        <p:nvSpPr>
          <p:cNvPr id="15" name="num-39"/>
          <p:cNvSpPr txBox="1"/>
          <p:nvPr/>
        </p:nvSpPr>
        <p:spPr>
          <a:xfrm>
            <a:off x="640080" y="443484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label-40"/>
          <p:cNvSpPr txBox="1"/>
          <p:nvPr/>
        </p:nvSpPr>
        <p:spPr>
          <a:xfrm>
            <a:off x="1325880" y="4389120"/>
            <a:ext cx="6675120" cy="457200"/>
          </a:xfrm>
          <a:prstGeom prst="rect">
            <a:avLst/>
          </a:prstGeom>
          <a:noFill/>
          <a:ln/>
        </p:spPr>
        <p:txBody>
          <a:bodyPr wrap="square" lIns="0" tIns="0" rIns="0" bIns="0" rtlCol="0" anchor="t"/>
          <a:lstStyle/>
          <a:p>
            <a:pPr algn="l" indent="0" marL="0">
              <a:buNone/>
            </a:pPr>
            <a:r>
              <a:rPr lang="en-US" sz="1900" b="1" dirty="0">
                <a:solidFill>
                  <a:schemeClr val="tx1"/>
                </a:solidFill>
              </a:rPr>
              <a:t>What has hurt most?</a:t>
            </a:r>
            <a:endParaRPr lang="en-US" sz="1900" dirty="0"/>
          </a:p>
        </p:txBody>
      </p:sp>
      <p:sp>
        <p:nvSpPr>
          <p:cNvPr id="17" name="box-41"/>
          <p:cNvSpPr txBox="1"/>
          <p:nvPr/>
        </p:nvSpPr>
        <p:spPr>
          <a:xfrm>
            <a:off x="1325880" y="495604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Lost IDs / orphaned jobs</a:t>
            </a:r>
            <a:endParaRPr lang="en-US" sz="1200" dirty="0"/>
          </a:p>
        </p:txBody>
      </p:sp>
      <p:sp>
        <p:nvSpPr>
          <p:cNvPr id="18" name="box-42"/>
          <p:cNvSpPr txBox="1"/>
          <p:nvPr/>
        </p:nvSpPr>
        <p:spPr>
          <a:xfrm>
            <a:off x="3063240" y="495604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Polling and latency</a:t>
            </a:r>
            <a:endParaRPr lang="en-US" sz="1200" dirty="0"/>
          </a:p>
        </p:txBody>
      </p:sp>
      <p:sp>
        <p:nvSpPr>
          <p:cNvPr id="19" name="box-43"/>
          <p:cNvSpPr txBox="1"/>
          <p:nvPr/>
        </p:nvSpPr>
        <p:spPr>
          <a:xfrm>
            <a:off x="4800600" y="495604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Token cost</a:t>
            </a:r>
            <a:endParaRPr lang="en-US" sz="1200" dirty="0"/>
          </a:p>
        </p:txBody>
      </p:sp>
      <p:sp>
        <p:nvSpPr>
          <p:cNvPr id="20" name="box-44"/>
          <p:cNvSpPr txBox="1"/>
          <p:nvPr/>
        </p:nvSpPr>
        <p:spPr>
          <a:xfrm>
            <a:off x="6537960" y="495604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Nobody can explain what it did</a:t>
            </a:r>
            <a:endParaRPr lang="en-US" sz="1200" dirty="0"/>
          </a:p>
        </p:txBody>
      </p:sp>
      <p:sp>
        <p:nvSpPr>
          <p:cNvPr id="21" name="box-45"/>
          <p:cNvSpPr txBox="1"/>
          <p:nvPr/>
        </p:nvSpPr>
        <p:spPr>
          <a:xfrm>
            <a:off x="8412480" y="1463040"/>
            <a:ext cx="3200400" cy="4389120"/>
          </a:xfrm>
          <a:prstGeom prst="roundRect">
            <a:avLst>
              <a:gd name="adj" fmla="val 2286"/>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22" name="label-46"/>
          <p:cNvSpPr txBox="1"/>
          <p:nvPr/>
        </p:nvSpPr>
        <p:spPr>
          <a:xfrm>
            <a:off x="8686800" y="1783080"/>
            <a:ext cx="2651760" cy="457200"/>
          </a:xfrm>
          <a:prstGeom prst="rect">
            <a:avLst/>
          </a:prstGeom>
          <a:noFill/>
          <a:ln/>
        </p:spPr>
        <p:txBody>
          <a:bodyPr wrap="square" lIns="0" tIns="0" rIns="0" bIns="0" rtlCol="0" anchor="t"/>
          <a:lstStyle/>
          <a:p>
            <a:pPr algn="ctr" indent="0" marL="0">
              <a:buNone/>
            </a:pPr>
            <a:r>
              <a:rPr lang="en-US" sz="1800" b="1" dirty="0">
                <a:solidFill>
                  <a:schemeClr val="accent1"/>
                </a:solidFill>
              </a:rPr>
              <a:t>Zoom poll is open</a:t>
            </a:r>
            <a:endParaRPr lang="en-US" sz="1800" dirty="0"/>
          </a:p>
        </p:txBody>
      </p:sp>
      <p:sp>
        <p:nvSpPr>
          <p:cNvPr id="23" name="label-47"/>
          <p:cNvSpPr txBox="1"/>
          <p:nvPr/>
        </p:nvSpPr>
        <p:spPr>
          <a:xfrm>
            <a:off x="8686800" y="2331720"/>
            <a:ext cx="2651760" cy="1188720"/>
          </a:xfrm>
          <a:prstGeom prst="rect">
            <a:avLst/>
          </a:prstGeom>
          <a:noFill/>
          <a:ln/>
        </p:spPr>
        <p:txBody>
          <a:bodyPr wrap="square" lIns="0" tIns="0" rIns="0" bIns="0" rtlCol="0" anchor="t"/>
          <a:lstStyle/>
          <a:p>
            <a:pPr algn="ctr" indent="0" marL="0">
              <a:buNone/>
            </a:pPr>
            <a:r>
              <a:rPr lang="en-US" sz="1300" dirty="0">
                <a:solidFill>
                  <a:schemeClr val="tx1"/>
                </a:solidFill>
              </a:rPr>
              <a:t>Or type 1 / 2 / 3 with your answer in the chat — e.g. “2: prompt”.</a:t>
            </a:r>
            <a:endParaRPr lang="en-US" sz="1300" dirty="0"/>
          </a:p>
        </p:txBody>
      </p:sp>
      <p:sp>
        <p:nvSpPr>
          <p:cNvPr id="24" name="box-48"/>
          <p:cNvSpPr txBox="1"/>
          <p:nvPr/>
        </p:nvSpPr>
        <p:spPr>
          <a:xfrm>
            <a:off x="8686800" y="3566160"/>
            <a:ext cx="2651760" cy="502920"/>
          </a:xfrm>
          <a:prstGeom prst="roundRect">
            <a:avLst>
              <a:gd name="adj" fmla="val 14545"/>
            </a:avLst>
          </a:prstGeom>
          <a:solidFill>
            <a:schemeClr val="bg1"/>
          </a:solidFill>
          <a:ln w="12700">
            <a:solidFill>
              <a:schemeClr val="accent4"/>
            </a:solidFill>
          </a:ln>
        </p:spPr>
        <p:txBody>
          <a:bodyPr wrap="square" lIns="1016" tIns="1016" rIns="1016" bIns="1016"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2: prompt</a:t>
            </a:r>
            <a:endParaRPr lang="en-US" sz="1200" dirty="0"/>
          </a:p>
        </p:txBody>
      </p:sp>
      <p:sp>
        <p:nvSpPr>
          <p:cNvPr id="25" name="box-49"/>
          <p:cNvSpPr txBox="1"/>
          <p:nvPr/>
        </p:nvSpPr>
        <p:spPr>
          <a:xfrm>
            <a:off x="8686800" y="4160520"/>
            <a:ext cx="2651760" cy="502920"/>
          </a:xfrm>
          <a:prstGeom prst="roundRect">
            <a:avLst>
              <a:gd name="adj" fmla="val 14545"/>
            </a:avLst>
          </a:prstGeom>
          <a:solidFill>
            <a:schemeClr val="bg1"/>
          </a:solidFill>
          <a:ln w="12700">
            <a:solidFill>
              <a:schemeClr val="accent4"/>
            </a:solidFill>
          </a:ln>
        </p:spPr>
        <p:txBody>
          <a:bodyPr wrap="square" lIns="1016" tIns="1016" rIns="1016" bIns="1016"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3: polling</a:t>
            </a:r>
            <a:endParaRPr lang="en-US" sz="1200" dirty="0"/>
          </a:p>
        </p:txBody>
      </p:sp>
      <p:sp>
        <p:nvSpPr>
          <p:cNvPr id="26" name="label-50"/>
          <p:cNvSpPr txBox="1"/>
          <p:nvPr/>
        </p:nvSpPr>
        <p:spPr>
          <a:xfrm>
            <a:off x="8686800" y="4937760"/>
            <a:ext cx="2651760" cy="731520"/>
          </a:xfrm>
          <a:prstGeom prst="rect">
            <a:avLst/>
          </a:prstGeom>
          <a:noFill/>
          <a:ln/>
        </p:spPr>
        <p:txBody>
          <a:bodyPr wrap="square" lIns="0" tIns="0" rIns="0" bIns="0" rtlCol="0" anchor="t"/>
          <a:lstStyle/>
          <a:p>
            <a:pPr algn="ctr" indent="0" marL="0">
              <a:buNone/>
            </a:pPr>
            <a:r>
              <a:rPr lang="en-US" sz="1100" i="1" dirty="0">
                <a:solidFill>
                  <a:schemeClr val="accent1"/>
                </a:solidFill>
              </a:rPr>
              <a:t>We come back to your answers twice during the talk.</a:t>
            </a:r>
            <a:endParaRPr lang="en-US" sz="11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What I actually built</a:t>
            </a:r>
            <a:endParaRPr lang="en-US" sz="3200" dirty="0"/>
          </a:p>
        </p:txBody>
      </p:sp>
      <p:pic>
        <p:nvPicPr>
          <p:cNvPr id="4" name="qr-51" descr="preencoded.png">    </p:cNvPr>
          <p:cNvPicPr>
            <a:picLocks noChangeAspect="1"/>
          </p:cNvPicPr>
          <p:nvPr/>
        </p:nvPicPr>
        <p:blipFill>
          <a:blip r:embed="rId1"/>
          <a:stretch>
            <a:fillRect/>
          </a:stretch>
        </p:blipFill>
        <p:spPr>
          <a:xfrm>
            <a:off x="10835640" y="274320"/>
            <a:ext cx="868680" cy="868680"/>
          </a:xfrm>
          <a:prstGeom prst="rect">
            <a:avLst/>
          </a:prstGeom>
        </p:spPr>
      </p:pic>
      <p:sp>
        <p:nvSpPr>
          <p:cNvPr id="5" name="label-52"/>
          <p:cNvSpPr txBox="1"/>
          <p:nvPr/>
        </p:nvSpPr>
        <p:spPr>
          <a:xfrm>
            <a:off x="10149840" y="1161288"/>
            <a:ext cx="1554480" cy="228600"/>
          </a:xfrm>
          <a:prstGeom prst="rect">
            <a:avLst/>
          </a:prstGeom>
          <a:noFill/>
          <a:ln/>
        </p:spPr>
        <p:txBody>
          <a:bodyPr wrap="square" lIns="0" tIns="0" rIns="0" bIns="0" rtlCol="0" anchor="t"/>
          <a:lstStyle/>
          <a:p>
            <a:pPr algn="ctr" indent="0" marL="0">
              <a:buNone/>
            </a:pPr>
            <a:r>
              <a:rPr lang="en-US" sz="900" dirty="0">
                <a:solidFill>
                  <a:schemeClr val="tx2"/>
                </a:solidFill>
              </a:rPr>
              <a:t>The write-up</a:t>
            </a:r>
            <a:endParaRPr lang="en-US" sz="900" dirty="0"/>
          </a:p>
        </p:txBody>
      </p:sp>
      <p:sp>
        <p:nvSpPr>
          <p:cNvPr id="6" name="label-53"/>
          <p:cNvSpPr txBox="1"/>
          <p:nvPr/>
        </p:nvSpPr>
        <p:spPr>
          <a:xfrm>
            <a:off x="640080" y="1325880"/>
            <a:ext cx="7315200" cy="457200"/>
          </a:xfrm>
          <a:prstGeom prst="rect">
            <a:avLst/>
          </a:prstGeom>
          <a:noFill/>
          <a:ln/>
        </p:spPr>
        <p:txBody>
          <a:bodyPr wrap="square" lIns="0" tIns="0" rIns="0" bIns="0" rtlCol="0" anchor="t"/>
          <a:lstStyle/>
          <a:p>
            <a:pPr algn="l" indent="0" marL="0">
              <a:buNone/>
            </a:pPr>
            <a:r>
              <a:rPr lang="en-US" sz="1800" dirty="0">
                <a:solidFill>
                  <a:schemeClr val="tx2"/>
                </a:solidFill>
              </a:rPr>
              <a:t>A natural-language control plane over Edge Impulse Studio</a:t>
            </a:r>
            <a:endParaRPr lang="en-US" sz="1800" dirty="0"/>
          </a:p>
        </p:txBody>
      </p:sp>
      <p:sp>
        <p:nvSpPr>
          <p:cNvPr id="24" name="box-71"/>
          <p:cNvSpPr txBox="1"/>
          <p:nvPr/>
        </p:nvSpPr>
        <p:spPr>
          <a:xfrm>
            <a:off x="4974264" y="3611880"/>
            <a:ext cx="6638615" cy="2606040"/>
          </a:xfrm>
          <a:prstGeom prst="roundRect">
            <a:avLst>
              <a:gd name="adj" fmla="val 2807"/>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25" name="label-72"/>
          <p:cNvSpPr txBox="1"/>
          <p:nvPr/>
        </p:nvSpPr>
        <p:spPr>
          <a:xfrm>
            <a:off x="5202864" y="3840480"/>
            <a:ext cx="6181415" cy="1005840"/>
          </a:xfrm>
          <a:prstGeom prst="rect">
            <a:avLst/>
          </a:prstGeom>
          <a:noFill/>
          <a:ln/>
        </p:spPr>
        <p:txBody>
          <a:bodyPr wrap="square" lIns="0" tIns="0" rIns="0" bIns="0" rtlCol="0" anchor="t"/>
          <a:lstStyle/>
          <a:p>
            <a:pPr algn="l" indent="0" marL="0">
              <a:buNone/>
            </a:pPr>
            <a:r>
              <a:rPr lang="en-US" sz="1500" i="1" dirty="0">
                <a:solidFill>
                  <a:schemeClr val="accent1"/>
                </a:solidFill>
              </a:rPr>
              <a:t>“Train this project, optimise for accuracy under constraints, and tell me what changed.”</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pic>
        <p:nvPicPr>
          <p:cNvPr id="26" name="blog-imgslot-69" descr="mcp-optimisation-before-after.png"/>
          <p:cNvPicPr>
            <a:picLocks noChangeAspect="1"/>
          </p:cNvPicPr>
          <p:nvPr/>
        </p:nvPicPr>
        <p:blipFill>
          <a:blip r:embed="rId4"/>
          <a:stretch>
            <a:fillRect/>
          </a:stretch>
        </p:blipFill>
        <p:spPr>
          <a:xfrm>
            <a:off x="640080" y="3611880"/>
            <a:ext cx="4059864" cy="2606040"/>
          </a:xfrm>
          <a:prstGeom prst="rect">
            <a:avLst/>
          </a:prstGeom>
        </p:spPr>
      </p:pic>
      <p:pic>
        <p:nvPicPr>
          <p:cNvPr id="27" name="gif-loop" descr="loop.gif"/>
          <p:cNvPicPr>
            <a:picLocks noChangeAspect="1"/>
          </p:cNvPicPr>
          <p:nvPr/>
        </p:nvPicPr>
        <p:blipFill>
          <a:blip r:embed="rId5"/>
          <a:stretch>
            <a:fillRect/>
          </a:stretch>
        </p:blipFill>
        <p:spPr>
          <a:xfrm>
            <a:off x="1523847" y="1783080"/>
            <a:ext cx="9144000" cy="1822268"/>
          </a:xfrm>
          <a:prstGeom prst="rect">
            <a:avLst/>
          </a:prstGeom>
        </p:spPr>
      </p:pic>
      <p:sp>
        <p:nvSpPr>
          <p:cNvPr id="528" name="label-shot"/>
          <p:cNvSpPr txBox="1"/>
          <p:nvPr/>
        </p:nvSpPr>
        <p:spPr>
          <a:xfrm>
            <a:off x="5202864" y="4983480"/>
            <a:ext cx="6181415" cy="1005840"/>
          </a:xfrm>
          <a:prstGeom prst="rect">
            <a:avLst/>
          </a:prstGeom>
          <a:noFill/>
          <a:ln/>
        </p:spPr>
        <p:txBody>
          <a:bodyPr wrap="square" lIns="0" tIns="0" rIns="0" bIns="0" rtlCol="0" anchor="t"/>
          <a:lstStyle/>
          <a:p>
            <a:pPr algn="l" indent="0" marL="0">
              <a:buNone/>
            </a:pPr>
            <a:r>
              <a:rPr lang="en-US" sz="1100" i="0" dirty="0">
                <a:solidFill>
                  <a:schemeClr val="tx2"/>
                </a:solidFill>
              </a:rPr>
              <a:t>← What came back: the same project, retrained by the agent under those constraints — 99.6% → 100% — with a summary of what it changed. (Screenshot from the blog post.)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How I stopped it bluffing</a:t>
            </a:r>
            <a:endParaRPr lang="en-US" sz="3200" dirty="0"/>
          </a:p>
        </p:txBody>
      </p:sp>
      <p:sp>
        <p:nvSpPr>
          <p:cNvPr id="4" name="num-73"/>
          <p:cNvSpPr txBox="1"/>
          <p:nvPr/>
        </p:nvSpPr>
        <p:spPr>
          <a:xfrm>
            <a:off x="640080" y="160020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label-74"/>
          <p:cNvSpPr txBox="1"/>
          <p:nvPr/>
        </p:nvSpPr>
        <p:spPr>
          <a:xfrm>
            <a:off x="1325880" y="1554480"/>
            <a:ext cx="4937760" cy="457200"/>
          </a:xfrm>
          <a:prstGeom prst="rect">
            <a:avLst/>
          </a:prstGeom>
          <a:noFill/>
          <a:ln/>
        </p:spPr>
        <p:txBody>
          <a:bodyPr wrap="square" lIns="0" tIns="0" rIns="0" bIns="0" rtlCol="0" anchor="t"/>
          <a:lstStyle/>
          <a:p>
            <a:pPr algn="l" indent="0" marL="0">
              <a:buNone/>
            </a:pPr>
            <a:r>
              <a:rPr lang="en-US" sz="2200" b="1" dirty="0">
                <a:solidFill>
                  <a:schemeClr val="tx1"/>
                </a:solidFill>
              </a:rPr>
              <a:t>Stub the whole API</a:t>
            </a:r>
            <a:endParaRPr lang="en-US" sz="2200" dirty="0"/>
          </a:p>
        </p:txBody>
      </p:sp>
      <p:sp>
        <p:nvSpPr>
          <p:cNvPr id="6" name="label-75"/>
          <p:cNvSpPr txBox="1"/>
          <p:nvPr/>
        </p:nvSpPr>
        <p:spPr>
          <a:xfrm>
            <a:off x="1325880" y="2057400"/>
            <a:ext cx="4937760" cy="457200"/>
          </a:xfrm>
          <a:prstGeom prst="rect">
            <a:avLst/>
          </a:prstGeom>
          <a:noFill/>
          <a:ln/>
        </p:spPr>
        <p:txBody>
          <a:bodyPr wrap="square" lIns="0" tIns="0" rIns="0" bIns="0" rtlCol="0" anchor="t"/>
          <a:lstStyle/>
          <a:p>
            <a:pPr algn="l" indent="0" marL="0">
              <a:buNone/>
            </a:pPr>
            <a:r>
              <a:rPr lang="en-US" sz="1400" dirty="0">
                <a:solidFill>
                  <a:schemeClr val="tx2"/>
                </a:solidFill>
              </a:rPr>
              <a:t>mock first, real jobs later</a:t>
            </a:r>
            <a:endParaRPr lang="en-US" sz="1400" dirty="0"/>
          </a:p>
        </p:txBody>
      </p:sp>
      <p:sp>
        <p:nvSpPr>
          <p:cNvPr id="7" name="num-76"/>
          <p:cNvSpPr txBox="1"/>
          <p:nvPr/>
        </p:nvSpPr>
        <p:spPr>
          <a:xfrm>
            <a:off x="640080" y="306324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label-77"/>
          <p:cNvSpPr txBox="1"/>
          <p:nvPr/>
        </p:nvSpPr>
        <p:spPr>
          <a:xfrm>
            <a:off x="1325880" y="3017520"/>
            <a:ext cx="4937760" cy="457200"/>
          </a:xfrm>
          <a:prstGeom prst="rect">
            <a:avLst/>
          </a:prstGeom>
          <a:noFill/>
          <a:ln/>
        </p:spPr>
        <p:txBody>
          <a:bodyPr wrap="square" lIns="0" tIns="0" rIns="0" bIns="0" rtlCol="0" anchor="t"/>
          <a:lstStyle/>
          <a:p>
            <a:pPr algn="l" indent="0" marL="0">
              <a:buNone/>
            </a:pPr>
            <a:r>
              <a:rPr lang="en-US" sz="2200" b="1" dirty="0">
                <a:solidFill>
                  <a:schemeClr val="tx1"/>
                </a:solidFill>
              </a:rPr>
              <a:t>Test every tool</a:t>
            </a:r>
            <a:endParaRPr lang="en-US" sz="2200" dirty="0"/>
          </a:p>
        </p:txBody>
      </p:sp>
      <p:sp>
        <p:nvSpPr>
          <p:cNvPr id="9" name="label-78"/>
          <p:cNvSpPr txBox="1"/>
          <p:nvPr/>
        </p:nvSpPr>
        <p:spPr>
          <a:xfrm>
            <a:off x="1325880" y="3520440"/>
            <a:ext cx="4937760" cy="457200"/>
          </a:xfrm>
          <a:prstGeom prst="rect">
            <a:avLst/>
          </a:prstGeom>
          <a:noFill/>
          <a:ln/>
        </p:spPr>
        <p:txBody>
          <a:bodyPr wrap="square" lIns="0" tIns="0" rIns="0" bIns="0" rtlCol="0" anchor="t"/>
          <a:lstStyle/>
          <a:p>
            <a:pPr algn="l" indent="0" marL="0">
              <a:buNone/>
            </a:pPr>
            <a:r>
              <a:rPr lang="en-US" sz="1400" dirty="0">
                <a:solidFill>
                  <a:schemeClr val="tx2"/>
                </a:solidFill>
              </a:rPr>
              <a:t>happy · failure · missing params · edge cases</a:t>
            </a:r>
            <a:endParaRPr lang="en-US" sz="1400" dirty="0"/>
          </a:p>
        </p:txBody>
      </p:sp>
      <p:sp>
        <p:nvSpPr>
          <p:cNvPr id="10" name="num-79"/>
          <p:cNvSpPr txBox="1"/>
          <p:nvPr/>
        </p:nvSpPr>
        <p:spPr>
          <a:xfrm>
            <a:off x="640080" y="452628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label-80"/>
          <p:cNvSpPr txBox="1"/>
          <p:nvPr/>
        </p:nvSpPr>
        <p:spPr>
          <a:xfrm>
            <a:off x="1325880" y="4480560"/>
            <a:ext cx="4937760" cy="457200"/>
          </a:xfrm>
          <a:prstGeom prst="rect">
            <a:avLst/>
          </a:prstGeom>
          <a:noFill/>
          <a:ln/>
        </p:spPr>
        <p:txBody>
          <a:bodyPr wrap="square" lIns="0" tIns="0" rIns="0" bIns="0" rtlCol="0" anchor="t"/>
          <a:lstStyle/>
          <a:p>
            <a:pPr algn="l" indent="0" marL="0">
              <a:buNone/>
            </a:pPr>
            <a:r>
              <a:rPr lang="en-US" sz="2200" b="1" dirty="0">
                <a:solidFill>
                  <a:schemeClr val="tx1"/>
                </a:solidFill>
              </a:rPr>
              <a:t>Add agent-friendly helpers</a:t>
            </a:r>
            <a:endParaRPr lang="en-US" sz="2200" dirty="0"/>
          </a:p>
        </p:txBody>
      </p:sp>
      <p:sp>
        <p:nvSpPr>
          <p:cNvPr id="12" name="label-81"/>
          <p:cNvSpPr txBox="1"/>
          <p:nvPr/>
        </p:nvSpPr>
        <p:spPr>
          <a:xfrm>
            <a:off x="1325880" y="4983480"/>
            <a:ext cx="4937760" cy="457200"/>
          </a:xfrm>
          <a:prstGeom prst="rect">
            <a:avLst/>
          </a:prstGeom>
          <a:noFill/>
          <a:ln/>
        </p:spPr>
        <p:txBody>
          <a:bodyPr wrap="square" lIns="0" tIns="0" rIns="0" bIns="0" rtlCol="0" anchor="t"/>
          <a:lstStyle/>
          <a:p>
            <a:pPr algn="l" indent="0" marL="0">
              <a:buNone/>
            </a:pPr>
            <a:r>
              <a:rPr lang="en-US" sz="1400" dirty="0">
                <a:solidFill>
                  <a:schemeClr val="tx2"/>
                </a:solidFill>
              </a:rPr>
              <a:t>wait / status / retry · scoping · validation</a:t>
            </a:r>
            <a:endParaRPr lang="en-US" sz="1400" dirty="0"/>
          </a:p>
        </p:txBody>
      </p:sp>
      <p:sp>
        <p:nvSpPr>
          <p:cNvPr id="15" name="box-84"/>
          <p:cNvSpPr txBox="1"/>
          <p:nvPr/>
        </p:nvSpPr>
        <p:spPr>
          <a:xfrm>
            <a:off x="6675120" y="3931920"/>
            <a:ext cx="4937760" cy="1280160"/>
          </a:xfrm>
          <a:prstGeom prst="roundRect">
            <a:avLst>
              <a:gd name="adj" fmla="val 5714"/>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16" name="label-85"/>
          <p:cNvSpPr txBox="1"/>
          <p:nvPr/>
        </p:nvSpPr>
        <p:spPr>
          <a:xfrm>
            <a:off x="6903720" y="4114800"/>
            <a:ext cx="4480560" cy="914400"/>
          </a:xfrm>
          <a:prstGeom prst="rect">
            <a:avLst/>
          </a:prstGeom>
          <a:noFill/>
          <a:ln/>
        </p:spPr>
        <p:txBody>
          <a:bodyPr wrap="square" lIns="0" tIns="0" rIns="0" bIns="0" rtlCol="0" anchor="t"/>
          <a:lstStyle/>
          <a:p>
            <a:pPr algn="l" indent="0" marL="0">
              <a:buNone/>
            </a:pPr>
            <a:r>
              <a:rPr lang="en-US" sz="1500" b="1" dirty="0">
                <a:solidFill>
                  <a:schemeClr val="accent1"/>
                </a:solidFill>
              </a:rPr>
              <a:t>The key wasn't MCP. It was discipline so the agent couldn't bluff its way through.</a:t>
            </a:r>
            <a:endParaRPr lang="en-US" sz="1500" dirty="0"/>
          </a:p>
        </p:txBody>
      </p:sp>
      <p:sp>
        <p:nvSpPr>
          <p:cNvPr id="17" name="label-86"/>
          <p:cNvSpPr txBox="1"/>
          <p:nvPr/>
        </p:nvSpPr>
        <p:spPr>
          <a:xfrm>
            <a:off x="640080" y="5989320"/>
            <a:ext cx="5943600" cy="320040"/>
          </a:xfrm>
          <a:prstGeom prst="rect">
            <a:avLst/>
          </a:prstGeom>
          <a:noFill/>
          <a:ln/>
        </p:spPr>
        <p:txBody>
          <a:bodyPr wrap="square" lIns="0" tIns="0" rIns="0" bIns="0" rtlCol="0" anchor="t"/>
          <a:lstStyle/>
          <a:p>
            <a:pPr algn="l" indent="0" marL="0">
              <a:buNone/>
            </a:pPr>
            <a:r>
              <a:rPr lang="en-US" sz="1300" i="1" dirty="0">
                <a:solidFill>
                  <a:schemeClr val="accent1"/>
                </a:solidFill>
              </a:rPr>
              <a:t>Remember helper 3 — it's the second half of this talk.</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pic>
        <p:nvPicPr>
          <p:cNvPr id="26" name="shot-blog-tests" descr="img08-crop.png"/>
          <p:cNvPicPr>
            <a:picLocks noChangeAspect="1"/>
          </p:cNvPicPr>
          <p:nvPr/>
        </p:nvPicPr>
        <p:blipFill>
          <a:blip r:embed="rId4"/>
          <a:stretch>
            <a:fillRect/>
          </a:stretch>
        </p:blipFill>
        <p:spPr>
          <a:xfrm>
            <a:off x="6675120" y="1463040"/>
            <a:ext cx="4937760" cy="1774660"/>
          </a:xfrm>
          <a:prstGeom prst="rect">
            <a:avLst/>
          </a:prstGeom>
        </p:spPr>
      </p:pic>
      <p:sp>
        <p:nvSpPr>
          <p:cNvPr id="527" name="label-shot"/>
          <p:cNvSpPr txBox="1"/>
          <p:nvPr/>
        </p:nvSpPr>
        <p:spPr>
          <a:xfrm>
            <a:off x="6675120" y="3347428"/>
            <a:ext cx="4937760" cy="457200"/>
          </a:xfrm>
          <a:prstGeom prst="rect">
            <a:avLst/>
          </a:prstGeom>
          <a:noFill/>
          <a:ln/>
        </p:spPr>
        <p:txBody>
          <a:bodyPr wrap="square" lIns="0" tIns="0" rIns="0" bIns="0" rtlCol="0" anchor="t"/>
          <a:lstStyle/>
          <a:p>
            <a:pPr algn="l" indent="0" marL="0">
              <a:buNone/>
            </a:pPr>
            <a:r>
              <a:rPr lang="en-US" sz="1300" i="1" dirty="0">
                <a:solidFill>
                  <a:schemeClr val="accent1"/>
                </a:solidFill>
              </a:rPr>
              <a:t>The per-tool test run from the blog post: happy path, failure path, missing params, edge cases.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Then it started leaking state</a:t>
            </a:r>
            <a:endParaRPr lang="en-US" sz="3200" dirty="0"/>
          </a:p>
        </p:txBody>
      </p:sp>
      <p:sp>
        <p:nvSpPr>
          <p:cNvPr id="29" name="label-112"/>
          <p:cNvSpPr txBox="1"/>
          <p:nvPr/>
        </p:nvSpPr>
        <p:spPr>
          <a:xfrm>
            <a:off x="731520" y="1463040"/>
            <a:ext cx="3017520" cy="1371600"/>
          </a:xfrm>
          <a:prstGeom prst="rect">
            <a:avLst/>
          </a:prstGeom>
          <a:noFill/>
          <a:ln/>
        </p:spPr>
        <p:txBody>
          <a:bodyPr wrap="square" lIns="0" tIns="0" rIns="0" bIns="0" rtlCol="0" anchor="t"/>
          <a:lstStyle/>
          <a:p>
            <a:pPr algn="l" indent="0" marL="0">
              <a:spcAft>
                <a:spcPts val="400"/>
              </a:spcAft>
              <a:buNone/>
            </a:pPr>
            <a:r>
              <a:rPr lang="en-US" sz="1600" b="1" dirty="0">
                <a:solidFill>
                  <a:schemeClr val="tx2"/>
                </a:solidFill>
              </a:rPr>
              <a:t>IDs everywhere</a:t>
            </a:r>
            <a:endParaRPr lang="en-US" sz="1600" dirty="0"/>
          </a:p>
          <a:p>
            <a:pPr algn="l" indent="0" marL="0">
              <a:spcAft>
                <a:spcPts val="400"/>
              </a:spcAft>
              <a:buNone/>
            </a:pPr>
            <a:r>
              <a:rPr lang="en-US" sz="1600" b="1" dirty="0">
                <a:solidFill>
                  <a:schemeClr val="tx2"/>
                </a:solidFill>
              </a:rPr>
              <a:t>Job timing</a:t>
            </a:r>
            <a:endParaRPr lang="en-US" sz="1600" dirty="0"/>
          </a:p>
          <a:p>
            <a:pPr algn="l" indent="0" marL="0">
              <a:spcAft>
                <a:spcPts val="400"/>
              </a:spcAft>
              <a:buNone/>
            </a:pPr>
            <a:r>
              <a:rPr lang="en-US" sz="1600" b="1" dirty="0">
                <a:solidFill>
                  <a:schemeClr val="tx2"/>
                </a:solidFill>
              </a:rPr>
              <a:t>State management</a:t>
            </a:r>
            <a:endParaRPr lang="en-US" sz="1600" dirty="0"/>
          </a:p>
        </p:txBody>
      </p:sp>
      <p:sp>
        <p:nvSpPr>
          <p:cNvPr id="30" name="label-113"/>
          <p:cNvSpPr txBox="1"/>
          <p:nvPr/>
        </p:nvSpPr>
        <p:spPr>
          <a:xfrm>
            <a:off x="731520" y="5029200"/>
            <a:ext cx="3017520" cy="1188720"/>
          </a:xfrm>
          <a:prstGeom prst="rect">
            <a:avLst/>
          </a:prstGeom>
          <a:noFill/>
          <a:ln/>
        </p:spPr>
        <p:txBody>
          <a:bodyPr wrap="square" lIns="0" tIns="0" rIns="0" bIns="0" rtlCol="0" anchor="t"/>
          <a:lstStyle/>
          <a:p>
            <a:pPr algn="l" indent="0" marL="0">
              <a:buNone/>
            </a:pPr>
            <a:r>
              <a:rPr lang="en-US" sz="1800" b="1" dirty="0">
                <a:solidFill>
                  <a:schemeClr val="accent1"/>
                </a:solidFill>
              </a:rPr>
              <a:t>None of this is an LLM problem.</a:t>
            </a:r>
            <a:endParaRPr lang="en-US" sz="1800" dirty="0"/>
          </a:p>
          <a:p>
            <a:pPr algn="l" indent="0" marL="0">
              <a:buNone/>
            </a:pPr>
            <a:r>
              <a:rPr lang="en-US" sz="1800" b="1" dirty="0">
                <a:solidFill>
                  <a:schemeClr val="accent1"/>
                </a:solidFill>
              </a:rPr>
              <a:t>It is a state problem.</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pic>
        <p:nvPicPr>
          <p:cNvPr id="31" name="gif-leak" descr="leak.gif"/>
          <p:cNvPicPr>
            <a:picLocks noChangeAspect="1"/>
          </p:cNvPicPr>
          <p:nvPr/>
        </p:nvPicPr>
        <p:blipFill>
          <a:blip r:embed="rId3"/>
          <a:stretch>
            <a:fillRect/>
          </a:stretch>
        </p:blipFill>
        <p:spPr>
          <a:xfrm>
            <a:off x="3931920" y="2180844"/>
            <a:ext cx="7680960" cy="33192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gif-live" descr="live.gif"/>
          <p:cNvPicPr>
            <a:picLocks noChangeAspect="1"/>
          </p:cNvPicPr>
          <p:nvPr/>
        </p:nvPicPr>
        <p:blipFill>
          <a:blip r:embed="rId3"/>
          <a:stretch>
            <a:fillRect/>
          </a:stretch>
        </p:blipFill>
        <p:spPr>
          <a:xfrm>
            <a:off x="609447" y="1967266"/>
            <a:ext cx="10972800" cy="292346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Today we fix that</a:t>
            </a:r>
            <a:endParaRPr lang="en-US" sz="3200" dirty="0"/>
          </a:p>
        </p:txBody>
      </p:sp>
      <p:sp>
        <p:nvSpPr>
          <p:cNvPr id="4" name="num-114"/>
          <p:cNvSpPr txBox="1"/>
          <p:nvPr/>
        </p:nvSpPr>
        <p:spPr>
          <a:xfrm>
            <a:off x="822960" y="17373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label-115"/>
          <p:cNvSpPr txBox="1"/>
          <p:nvPr/>
        </p:nvSpPr>
        <p:spPr>
          <a:xfrm>
            <a:off x="1645920" y="1645920"/>
            <a:ext cx="9601200" cy="502920"/>
          </a:xfrm>
          <a:prstGeom prst="rect">
            <a:avLst/>
          </a:prstGeom>
          <a:noFill/>
          <a:ln/>
        </p:spPr>
        <p:txBody>
          <a:bodyPr wrap="square" lIns="0" tIns="0" rIns="0" bIns="0" rtlCol="0" anchor="t"/>
          <a:lstStyle/>
          <a:p>
            <a:pPr algn="l" indent="0" marL="0">
              <a:buNone/>
            </a:pPr>
            <a:r>
              <a:rPr lang="en-US" sz="2600" b="1" dirty="0">
                <a:solidFill>
                  <a:schemeClr val="tx1"/>
                </a:solidFill>
              </a:rPr>
              <a:t>Model the state</a:t>
            </a:r>
            <a:endParaRPr lang="en-US" sz="2600" dirty="0"/>
          </a:p>
        </p:txBody>
      </p:sp>
      <p:sp>
        <p:nvSpPr>
          <p:cNvPr id="6" name="label-116"/>
          <p:cNvSpPr txBox="1"/>
          <p:nvPr/>
        </p:nvSpPr>
        <p:spPr>
          <a:xfrm>
            <a:off x="1645920" y="2194560"/>
            <a:ext cx="9601200" cy="640080"/>
          </a:xfrm>
          <a:prstGeom prst="rect">
            <a:avLst/>
          </a:prstGeom>
          <a:noFill/>
          <a:ln/>
        </p:spPr>
        <p:txBody>
          <a:bodyPr wrap="square" lIns="0" tIns="0" rIns="0" bIns="0" rtlCol="0" anchor="t"/>
          <a:lstStyle/>
          <a:p>
            <a:pPr algn="l" indent="0" marL="0">
              <a:buNone/>
            </a:pPr>
            <a:r>
              <a:rPr lang="en-US" sz="1600" dirty="0">
                <a:solidFill>
                  <a:schemeClr val="tx2"/>
                </a:solidFill>
              </a:rPr>
              <a:t>of a multi-step agent workflow as documents the agent can read in one go</a:t>
            </a:r>
            <a:endParaRPr lang="en-US" sz="1600" dirty="0"/>
          </a:p>
        </p:txBody>
      </p:sp>
      <p:sp>
        <p:nvSpPr>
          <p:cNvPr id="7" name="num-117"/>
          <p:cNvSpPr txBox="1"/>
          <p:nvPr/>
        </p:nvSpPr>
        <p:spPr>
          <a:xfrm>
            <a:off x="822960" y="315468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label-118"/>
          <p:cNvSpPr txBox="1"/>
          <p:nvPr/>
        </p:nvSpPr>
        <p:spPr>
          <a:xfrm>
            <a:off x="1645920" y="3063240"/>
            <a:ext cx="9601200" cy="502920"/>
          </a:xfrm>
          <a:prstGeom prst="rect">
            <a:avLst/>
          </a:prstGeom>
          <a:noFill/>
          <a:ln/>
        </p:spPr>
        <p:txBody>
          <a:bodyPr wrap="square" lIns="0" tIns="0" rIns="0" bIns="0" rtlCol="0" anchor="t"/>
          <a:lstStyle/>
          <a:p>
            <a:pPr algn="l" indent="0" marL="0">
              <a:buNone/>
            </a:pPr>
            <a:r>
              <a:rPr lang="en-US" sz="2600" b="1" dirty="0">
                <a:solidFill>
                  <a:schemeClr val="tx1"/>
                </a:solidFill>
              </a:rPr>
              <a:t>Design for the questions</a:t>
            </a:r>
            <a:endParaRPr lang="en-US" sz="2600" dirty="0"/>
          </a:p>
        </p:txBody>
      </p:sp>
      <p:sp>
        <p:nvSpPr>
          <p:cNvPr id="9" name="label-119"/>
          <p:cNvSpPr txBox="1"/>
          <p:nvPr/>
        </p:nvSpPr>
        <p:spPr>
          <a:xfrm>
            <a:off x="1645920" y="3611880"/>
            <a:ext cx="9601200" cy="640080"/>
          </a:xfrm>
          <a:prstGeom prst="rect">
            <a:avLst/>
          </a:prstGeom>
          <a:noFill/>
          <a:ln/>
        </p:spPr>
        <p:txBody>
          <a:bodyPr wrap="square" lIns="0" tIns="0" rIns="0" bIns="0" rtlCol="0" anchor="t"/>
          <a:lstStyle/>
          <a:p>
            <a:pPr algn="l" indent="0" marL="0">
              <a:buNone/>
            </a:pPr>
            <a:r>
              <a:rPr lang="en-US" sz="1600" dirty="0">
                <a:solidFill>
                  <a:schemeClr val="tx2"/>
                </a:solidFill>
              </a:rPr>
              <a:t>— decide what to embed, what to reference, and which index each question needs</a:t>
            </a:r>
            <a:endParaRPr lang="en-US" sz="1600" dirty="0"/>
          </a:p>
        </p:txBody>
      </p:sp>
      <p:sp>
        <p:nvSpPr>
          <p:cNvPr id="10" name="num-120"/>
          <p:cNvSpPr txBox="1"/>
          <p:nvPr/>
        </p:nvSpPr>
        <p:spPr>
          <a:xfrm>
            <a:off x="822960" y="457200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label-121"/>
          <p:cNvSpPr txBox="1"/>
          <p:nvPr/>
        </p:nvSpPr>
        <p:spPr>
          <a:xfrm>
            <a:off x="1645920" y="4480560"/>
            <a:ext cx="9601200" cy="502920"/>
          </a:xfrm>
          <a:prstGeom prst="rect">
            <a:avLst/>
          </a:prstGeom>
          <a:noFill/>
          <a:ln/>
        </p:spPr>
        <p:txBody>
          <a:bodyPr wrap="square" lIns="0" tIns="0" rIns="0" bIns="0" rtlCol="0" anchor="t"/>
          <a:lstStyle/>
          <a:p>
            <a:pPr algn="l" indent="0" marL="0">
              <a:buNone/>
            </a:pPr>
            <a:r>
              <a:rPr lang="en-US" sz="2600" b="1" dirty="0">
                <a:solidFill>
                  <a:schemeClr val="tx1"/>
                </a:solidFill>
              </a:rPr>
              <a:t>Decide what memory means</a:t>
            </a:r>
            <a:endParaRPr lang="en-US" sz="2600" dirty="0"/>
          </a:p>
        </p:txBody>
      </p:sp>
      <p:sp>
        <p:nvSpPr>
          <p:cNvPr id="12" name="label-122"/>
          <p:cNvSpPr txBox="1"/>
          <p:nvPr/>
        </p:nvSpPr>
        <p:spPr>
          <a:xfrm>
            <a:off x="1645920" y="5029200"/>
            <a:ext cx="9601200" cy="640080"/>
          </a:xfrm>
          <a:prstGeom prst="rect">
            <a:avLst/>
          </a:prstGeom>
          <a:noFill/>
          <a:ln/>
        </p:spPr>
        <p:txBody>
          <a:bodyPr wrap="square" lIns="0" tIns="0" rIns="0" bIns="0" rtlCol="0" anchor="t"/>
          <a:lstStyle/>
          <a:p>
            <a:pPr algn="l" indent="0" marL="0">
              <a:buNone/>
            </a:pPr>
            <a:r>
              <a:rPr lang="en-US" sz="1600" dirty="0">
                <a:solidFill>
                  <a:schemeClr val="tx2"/>
                </a:solidFill>
              </a:rPr>
              <a:t>— short-term versus long-term: what reacts to change, what expires, what must be explainable later</a:t>
            </a:r>
            <a:endParaRPr lang="en-US" sz="1600" dirty="0"/>
          </a:p>
        </p:txBody>
      </p:sp>
      <p:sp>
        <p:nvSpPr>
          <p:cNvPr id="13" name="label-123"/>
          <p:cNvSpPr txBox="1"/>
          <p:nvPr/>
        </p:nvSpPr>
        <p:spPr>
          <a:xfrm>
            <a:off x="822960" y="5760720"/>
            <a:ext cx="10515600" cy="365760"/>
          </a:xfrm>
          <a:prstGeom prst="rect">
            <a:avLst/>
          </a:prstGeom>
          <a:noFill/>
          <a:ln/>
        </p:spPr>
        <p:txBody>
          <a:bodyPr wrap="square" lIns="0" tIns="0" rIns="0" bIns="0" rtlCol="0" anchor="t"/>
          <a:lstStyle/>
          <a:p>
            <a:pPr algn="l" indent="0" marL="0">
              <a:buNone/>
            </a:pPr>
            <a:r>
              <a:rPr lang="en-US" sz="1500" i="1" dirty="0">
                <a:solidFill>
                  <a:schemeClr val="accent1"/>
                </a:solidFill>
              </a:rPr>
              <a:t>One hard idea at a time, applied to the same running example: the training run.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Start with the questions</a:t>
            </a:r>
            <a:endParaRPr lang="en-US" sz="3200" dirty="0"/>
          </a:p>
        </p:txBody>
      </p:sp>
      <p:sp>
        <p:nvSpPr>
          <p:cNvPr id="4" name="label-124"/>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1 · Model the state</a:t>
            </a:r>
            <a:endParaRPr lang="en-US" sz="1000" dirty="0"/>
          </a:p>
        </p:txBody>
      </p:sp>
      <p:sp>
        <p:nvSpPr>
          <p:cNvPr id="5" name="label-125"/>
          <p:cNvSpPr txBox="1"/>
          <p:nvPr/>
        </p:nvSpPr>
        <p:spPr>
          <a:xfrm>
            <a:off x="640080" y="1325880"/>
            <a:ext cx="10972800" cy="457200"/>
          </a:xfrm>
          <a:prstGeom prst="rect">
            <a:avLst/>
          </a:prstGeom>
          <a:noFill/>
          <a:ln/>
        </p:spPr>
        <p:txBody>
          <a:bodyPr wrap="square" lIns="0" tIns="0" rIns="0" bIns="0" rtlCol="0" anchor="t"/>
          <a:lstStyle/>
          <a:p>
            <a:pPr algn="l" indent="0" marL="0">
              <a:buNone/>
            </a:pPr>
            <a:r>
              <a:rPr lang="en-US" sz="1800" dirty="0">
                <a:solidFill>
                  <a:schemeClr val="tx2"/>
                </a:solidFill>
              </a:rPr>
              <a:t>What will the system ask when things go wrong?</a:t>
            </a:r>
            <a:endParaRPr lang="en-US" sz="1800" dirty="0"/>
          </a:p>
        </p:txBody>
      </p:sp>
      <p:sp>
        <p:nvSpPr>
          <p:cNvPr id="6" name="box-126"/>
          <p:cNvSpPr txBox="1"/>
          <p:nvPr/>
        </p:nvSpPr>
        <p:spPr>
          <a:xfrm>
            <a:off x="640080" y="1965960"/>
            <a:ext cx="3429000" cy="1188720"/>
          </a:xfrm>
          <a:prstGeom prst="roundRect">
            <a:avLst>
              <a:gd name="adj" fmla="val 6154"/>
            </a:avLst>
          </a:prstGeom>
          <a:solidFill>
            <a:schemeClr val="bg2"/>
          </a:solidFill>
          <a:ln w="12700">
            <a:solidFill>
              <a:schemeClr val="accent4"/>
            </a:solidFill>
          </a:ln>
        </p:spPr>
        <p:txBody>
          <a:bodyPr wrap="square" lIns="2540" tIns="2540" rIns="2540" bIns="2540" rtlCol="0" anchor="ctr"/>
          <a:lstStyle/>
          <a:p>
            <a:pPr algn="l" indent="0" marL="0">
              <a:buNone/>
            </a:pPr>
            <a:r>
              <a:rPr lang="en-US" sz="1700" dirty="0">
                <a:solidFill>
                  <a:schemeClr val="tx1"/>
                </a:solidFill>
              </a:rPr>
              <a:t>What runs are active for this project?</a:t>
            </a:r>
            <a:endParaRPr lang="en-US" sz="1700" dirty="0"/>
          </a:p>
        </p:txBody>
      </p:sp>
      <p:sp>
        <p:nvSpPr>
          <p:cNvPr id="7" name="box-127"/>
          <p:cNvSpPr txBox="1"/>
          <p:nvPr/>
        </p:nvSpPr>
        <p:spPr>
          <a:xfrm>
            <a:off x="4389120" y="1965960"/>
            <a:ext cx="3429000" cy="1188720"/>
          </a:xfrm>
          <a:prstGeom prst="roundRect">
            <a:avLst>
              <a:gd name="adj" fmla="val 6154"/>
            </a:avLst>
          </a:prstGeom>
          <a:solidFill>
            <a:schemeClr val="bg2"/>
          </a:solidFill>
          <a:ln w="12700">
            <a:solidFill>
              <a:schemeClr val="accent4"/>
            </a:solidFill>
          </a:ln>
        </p:spPr>
        <p:txBody>
          <a:bodyPr wrap="square" lIns="2540" tIns="2540" rIns="2540" bIns="2540" rtlCol="0" anchor="ctr"/>
          <a:lstStyle/>
          <a:p>
            <a:pPr algn="l" indent="0" marL="0">
              <a:buNone/>
            </a:pPr>
            <a:r>
              <a:rPr lang="en-US" sz="1700" dirty="0">
                <a:solidFill>
                  <a:schemeClr val="tx1"/>
                </a:solidFill>
              </a:rPr>
              <a:t>What changed since the last good run?</a:t>
            </a:r>
            <a:endParaRPr lang="en-US" sz="1700" dirty="0"/>
          </a:p>
        </p:txBody>
      </p:sp>
      <p:sp>
        <p:nvSpPr>
          <p:cNvPr id="8" name="box-128"/>
          <p:cNvSpPr txBox="1"/>
          <p:nvPr/>
        </p:nvSpPr>
        <p:spPr>
          <a:xfrm>
            <a:off x="8138160" y="1965960"/>
            <a:ext cx="3429000" cy="1188720"/>
          </a:xfrm>
          <a:prstGeom prst="roundRect">
            <a:avLst>
              <a:gd name="adj" fmla="val 6154"/>
            </a:avLst>
          </a:prstGeom>
          <a:solidFill>
            <a:schemeClr val="bg2"/>
          </a:solidFill>
          <a:ln w="12700">
            <a:solidFill>
              <a:schemeClr val="accent4"/>
            </a:solidFill>
          </a:ln>
        </p:spPr>
        <p:txBody>
          <a:bodyPr wrap="square" lIns="2540" tIns="2540" rIns="2540" bIns="2540" rtlCol="0" anchor="ctr"/>
          <a:lstStyle/>
          <a:p>
            <a:pPr algn="l" indent="0" marL="0">
              <a:buNone/>
            </a:pPr>
            <a:r>
              <a:rPr lang="en-US" sz="1700" dirty="0">
                <a:solidFill>
                  <a:schemeClr val="tx1"/>
                </a:solidFill>
              </a:rPr>
              <a:t>Which jobs are still pending?</a:t>
            </a:r>
            <a:endParaRPr lang="en-US" sz="1700" dirty="0"/>
          </a:p>
        </p:txBody>
      </p:sp>
      <p:sp>
        <p:nvSpPr>
          <p:cNvPr id="9" name="box-129"/>
          <p:cNvSpPr txBox="1"/>
          <p:nvPr/>
        </p:nvSpPr>
        <p:spPr>
          <a:xfrm>
            <a:off x="2514600" y="3474720"/>
            <a:ext cx="3429000" cy="1188720"/>
          </a:xfrm>
          <a:prstGeom prst="roundRect">
            <a:avLst>
              <a:gd name="adj" fmla="val 6154"/>
            </a:avLst>
          </a:prstGeom>
          <a:solidFill>
            <a:schemeClr val="bg2"/>
          </a:solidFill>
          <a:ln w="12700">
            <a:solidFill>
              <a:schemeClr val="accent4"/>
            </a:solidFill>
          </a:ln>
        </p:spPr>
        <p:txBody>
          <a:bodyPr wrap="square" lIns="2540" tIns="2540" rIns="2540" bIns="2540" rtlCol="0" anchor="ctr"/>
          <a:lstStyle/>
          <a:p>
            <a:pPr algn="l" indent="0" marL="0">
              <a:buNone/>
            </a:pPr>
            <a:r>
              <a:rPr lang="en-US" sz="1700" dirty="0">
                <a:solidFill>
                  <a:schemeClr val="tx1"/>
                </a:solidFill>
              </a:rPr>
              <a:t>Which actions were approved by a human?</a:t>
            </a:r>
            <a:endParaRPr lang="en-US" sz="1700" dirty="0"/>
          </a:p>
        </p:txBody>
      </p:sp>
      <p:sp>
        <p:nvSpPr>
          <p:cNvPr id="10" name="box-130"/>
          <p:cNvSpPr txBox="1"/>
          <p:nvPr/>
        </p:nvSpPr>
        <p:spPr>
          <a:xfrm>
            <a:off x="6263640" y="3474720"/>
            <a:ext cx="3429000" cy="1188720"/>
          </a:xfrm>
          <a:prstGeom prst="roundRect">
            <a:avLst>
              <a:gd name="adj" fmla="val 6154"/>
            </a:avLst>
          </a:prstGeom>
          <a:solidFill>
            <a:schemeClr val="bg2"/>
          </a:solidFill>
          <a:ln w="12700">
            <a:solidFill>
              <a:schemeClr val="accent4"/>
            </a:solidFill>
          </a:ln>
        </p:spPr>
        <p:txBody>
          <a:bodyPr wrap="square" lIns="2540" tIns="2540" rIns="2540" bIns="2540" rtlCol="0" anchor="ctr"/>
          <a:lstStyle/>
          <a:p>
            <a:pPr algn="l" indent="0" marL="0">
              <a:buNone/>
            </a:pPr>
            <a:r>
              <a:rPr lang="en-US" sz="1700" dirty="0">
                <a:solidFill>
                  <a:schemeClr val="tx1"/>
                </a:solidFill>
              </a:rPr>
              <a:t>What previous failure looks like this one?</a:t>
            </a:r>
            <a:endParaRPr lang="en-US" sz="1700" dirty="0"/>
          </a:p>
        </p:txBody>
      </p:sp>
      <p:sp>
        <p:nvSpPr>
          <p:cNvPr id="11" name="label-131"/>
          <p:cNvSpPr txBox="1"/>
          <p:nvPr/>
        </p:nvSpPr>
        <p:spPr>
          <a:xfrm>
            <a:off x="640080" y="5212080"/>
            <a:ext cx="10972800" cy="457200"/>
          </a:xfrm>
          <a:prstGeom prst="rect">
            <a:avLst/>
          </a:prstGeom>
          <a:noFill/>
          <a:ln/>
        </p:spPr>
        <p:txBody>
          <a:bodyPr wrap="square" lIns="0" tIns="0" rIns="0" bIns="0" rtlCol="0" anchor="t"/>
          <a:lstStyle/>
          <a:p>
            <a:pPr algn="l" indent="0" marL="0">
              <a:buNone/>
            </a:pPr>
            <a:r>
              <a:rPr lang="en-US" sz="1600" b="1" dirty="0">
                <a:solidFill>
                  <a:schemeClr val="accent1"/>
                </a:solidFill>
              </a:rPr>
              <a:t>Questions before features. The shape of the document follows the shape of the questions.</a:t>
            </a:r>
            <a:endParaRPr lang="en-US" sz="1600" dirty="0"/>
          </a:p>
        </p:txBody>
      </p:sp>
      <p:sp>
        <p:nvSpPr>
          <p:cNvPr id="12" name="label-132"/>
          <p:cNvSpPr txBox="1"/>
          <p:nvPr/>
        </p:nvSpPr>
        <p:spPr>
          <a:xfrm>
            <a:off x="640080" y="5669280"/>
            <a:ext cx="10972800" cy="548640"/>
          </a:xfrm>
          <a:prstGeom prst="rect">
            <a:avLst/>
          </a:prstGeom>
          <a:noFill/>
          <a:ln/>
        </p:spPr>
        <p:txBody>
          <a:bodyPr wrap="square" lIns="0" tIns="0" rIns="0" bIns="0" rtlCol="0" anchor="t"/>
          <a:lstStyle/>
          <a:p>
            <a:pPr algn="l" indent="0" marL="0">
              <a:buNone/>
            </a:pPr>
            <a:r>
              <a:rPr lang="en-US" sz="1400" dirty="0">
                <a:solidFill>
                  <a:schemeClr val="tx2"/>
                </a:solidFill>
              </a:rPr>
              <a:t>Relationships, read patterns and write patterns decide what goes where.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Our first document</a:t>
            </a:r>
            <a:endParaRPr lang="en-US" sz="3200" dirty="0"/>
          </a:p>
        </p:txBody>
      </p:sp>
      <p:sp>
        <p:nvSpPr>
          <p:cNvPr id="4" name="label-133"/>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1 · Model the state</a:t>
            </a:r>
            <a:endParaRPr lang="en-US" sz="1000" dirty="0"/>
          </a:p>
        </p:txBody>
      </p:sp>
      <p:pic>
        <p:nvPicPr>
          <p:cNvPr id="5" name="qr-134" descr="preencoded.png">    </p:cNvPr>
          <p:cNvPicPr>
            <a:picLocks noChangeAspect="1"/>
          </p:cNvPicPr>
          <p:nvPr/>
        </p:nvPicPr>
        <p:blipFill>
          <a:blip r:embed="rId1"/>
          <a:stretch>
            <a:fillRect/>
          </a:stretch>
        </p:blipFill>
        <p:spPr>
          <a:xfrm>
            <a:off x="10835640" y="274320"/>
            <a:ext cx="868680" cy="868680"/>
          </a:xfrm>
          <a:prstGeom prst="rect">
            <a:avLst/>
          </a:prstGeom>
        </p:spPr>
      </p:pic>
      <p:sp>
        <p:nvSpPr>
          <p:cNvPr id="6" name="label-135"/>
          <p:cNvSpPr txBox="1"/>
          <p:nvPr/>
        </p:nvSpPr>
        <p:spPr>
          <a:xfrm>
            <a:off x="10149840" y="1161288"/>
            <a:ext cx="1554480" cy="228600"/>
          </a:xfrm>
          <a:prstGeom prst="rect">
            <a:avLst/>
          </a:prstGeom>
          <a:noFill/>
          <a:ln/>
        </p:spPr>
        <p:txBody>
          <a:bodyPr wrap="square" lIns="0" tIns="0" rIns="0" bIns="0" rtlCol="0" anchor="t"/>
          <a:lstStyle/>
          <a:p>
            <a:pPr algn="ctr" indent="0" marL="0">
              <a:buNone/>
            </a:pPr>
            <a:r>
              <a:rPr lang="en-US" sz="900" dirty="0">
                <a:solidFill>
                  <a:schemeClr val="tx2"/>
                </a:solidFill>
              </a:rPr>
              <a:t>Data modelling docs</a:t>
            </a:r>
            <a:endParaRPr lang="en-US" sz="900" dirty="0"/>
          </a:p>
        </p:txBody>
      </p:sp>
      <p:sp>
        <p:nvSpPr>
          <p:cNvPr id="7" name="pill-136"/>
          <p:cNvSpPr txBox="1"/>
          <p:nvPr/>
        </p:nvSpPr>
        <p:spPr>
          <a:xfrm>
            <a:off x="9098280" y="502920"/>
            <a:ext cx="1600200" cy="310896"/>
          </a:xfrm>
          <a:prstGeom prst="roundRect">
            <a:avLst>
              <a:gd name="adj" fmla="val 50000"/>
            </a:avLst>
          </a:prstGeom>
          <a:solidFill>
            <a:schemeClr val="accent3"/>
          </a:solidFill>
          <a:ln w="12700">
            <a:solidFill>
              <a:schemeClr val="accent1"/>
            </a:solidFill>
          </a:ln>
        </p:spPr>
        <p:txBody>
          <a:bodyPr wrap="square" lIns="0" tIns="0" rIns="0" bIns="0" rtlCol="0" anchor="ctr"/>
          <a:lstStyle/>
          <a:p>
            <a:pPr algn="ctr" indent="0" marL="0">
              <a:buNone/>
            </a:pPr>
            <a:r>
              <a:rPr lang="en-US" sz="1000" b="1" dirty="0">
                <a:solidFill>
                  <a:schemeClr val="accent1"/>
                </a:solidFill>
              </a:rPr>
              <a:t>live on the RUBIK Pi</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pic>
        <p:nvPicPr>
          <p:cNvPr id="26" name="gif-doc" descr="doc.gif"/>
          <p:cNvPicPr>
            <a:picLocks noChangeAspect="1"/>
          </p:cNvPicPr>
          <p:nvPr/>
        </p:nvPicPr>
        <p:blipFill>
          <a:blip r:embed="rId4"/>
          <a:stretch>
            <a:fillRect/>
          </a:stretch>
        </p:blipFill>
        <p:spPr>
          <a:xfrm>
            <a:off x="640080" y="1417320"/>
            <a:ext cx="8577557" cy="48463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Embed, reference, or log?</a:t>
            </a:r>
            <a:endParaRPr lang="en-US" sz="3200" dirty="0"/>
          </a:p>
        </p:txBody>
      </p:sp>
      <p:sp>
        <p:nvSpPr>
          <p:cNvPr id="4" name="label-142"/>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1 · Model the state</a:t>
            </a:r>
            <a:endParaRPr lang="en-US" sz="1000" dirty="0"/>
          </a:p>
        </p:txBody>
      </p:sp>
      <p:sp>
        <p:nvSpPr>
          <p:cNvPr id="23" name="label-161"/>
          <p:cNvSpPr txBox="1"/>
          <p:nvPr/>
        </p:nvSpPr>
        <p:spPr>
          <a:xfrm>
            <a:off x="640080" y="5715000"/>
            <a:ext cx="10972800" cy="457200"/>
          </a:xfrm>
          <a:prstGeom prst="rect">
            <a:avLst/>
          </a:prstGeom>
          <a:noFill/>
          <a:ln/>
        </p:spPr>
        <p:txBody>
          <a:bodyPr wrap="square" lIns="0" tIns="0" rIns="0" bIns="0" rtlCol="0" anchor="t"/>
          <a:lstStyle/>
          <a:p>
            <a:pPr algn="l" indent="0" marL="0">
              <a:buNone/>
            </a:pPr>
            <a:r>
              <a:rPr lang="en-US" sz="1600" i="1" dirty="0">
                <a:solidFill>
                  <a:schemeClr val="accent1"/>
                </a:solidFill>
              </a:rPr>
              <a:t>Driven by change, growth and access — teach the reasoning, not a rule of thumb.</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pic>
        <p:nvPicPr>
          <p:cNvPr id="26" name="gif-embed" descr="embed.gif"/>
          <p:cNvPicPr>
            <a:picLocks noChangeAspect="1"/>
          </p:cNvPicPr>
          <p:nvPr/>
        </p:nvPicPr>
        <p:blipFill>
          <a:blip r:embed="rId3"/>
          <a:stretch>
            <a:fillRect/>
          </a:stretch>
        </p:blipFill>
        <p:spPr>
          <a:xfrm>
            <a:off x="1977850" y="1371600"/>
            <a:ext cx="8235994" cy="42062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The question creates the index</a:t>
            </a:r>
            <a:endParaRPr lang="en-US" sz="3200" dirty="0"/>
          </a:p>
        </p:txBody>
      </p:sp>
      <p:sp>
        <p:nvSpPr>
          <p:cNvPr id="4" name="label-162"/>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2 · Design for the questions</a:t>
            </a:r>
            <a:endParaRPr lang="en-US" sz="1000" dirty="0"/>
          </a:p>
        </p:txBody>
      </p:sp>
      <p:sp>
        <p:nvSpPr>
          <p:cNvPr id="13" name="box-171"/>
          <p:cNvSpPr txBox="1"/>
          <p:nvPr/>
        </p:nvSpPr>
        <p:spPr>
          <a:xfrm>
            <a:off x="640080" y="4937760"/>
            <a:ext cx="1645920" cy="822960"/>
          </a:xfrm>
          <a:prstGeom prst="roundRect">
            <a:avLst>
              <a:gd name="adj" fmla="val 8889"/>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14" name="label-172"/>
          <p:cNvSpPr txBox="1"/>
          <p:nvPr/>
        </p:nvSpPr>
        <p:spPr>
          <a:xfrm>
            <a:off x="777240" y="5001768"/>
            <a:ext cx="1371600" cy="320040"/>
          </a:xfrm>
          <a:prstGeom prst="rect">
            <a:avLst/>
          </a:prstGeom>
          <a:noFill/>
          <a:ln/>
        </p:spPr>
        <p:txBody>
          <a:bodyPr wrap="square" lIns="0" tIns="0" rIns="0" bIns="0" rtlCol="0" anchor="t"/>
          <a:lstStyle/>
          <a:p>
            <a:pPr algn="l" indent="0" marL="0">
              <a:buNone/>
            </a:pPr>
            <a:r>
              <a:rPr lang="en-US" sz="1200" dirty="0">
                <a:solidFill>
                  <a:schemeClr val="tx2"/>
                </a:solidFill>
              </a:rPr>
              <a:t>Reads</a:t>
            </a:r>
            <a:endParaRPr lang="en-US" sz="1200" dirty="0"/>
          </a:p>
        </p:txBody>
      </p:sp>
      <p:sp>
        <p:nvSpPr>
          <p:cNvPr id="15" name="label-173"/>
          <p:cNvSpPr txBox="1"/>
          <p:nvPr/>
        </p:nvSpPr>
        <p:spPr>
          <a:xfrm>
            <a:off x="777240" y="5285232"/>
            <a:ext cx="1371600" cy="411480"/>
          </a:xfrm>
          <a:prstGeom prst="rect">
            <a:avLst/>
          </a:prstGeom>
          <a:noFill/>
          <a:ln/>
        </p:spPr>
        <p:txBody>
          <a:bodyPr wrap="square" lIns="0" tIns="0" rIns="0" bIns="0" rtlCol="0" anchor="t"/>
          <a:lstStyle/>
          <a:p>
            <a:pPr algn="l" indent="0" marL="0">
              <a:buNone/>
            </a:pPr>
            <a:r>
              <a:rPr lang="en-US" sz="1800" b="1" dirty="0">
                <a:solidFill>
                  <a:schemeClr val="accent1"/>
                </a:solidFill>
              </a:rPr>
              <a:t>faster</a:t>
            </a:r>
            <a:endParaRPr lang="en-US" sz="1800" dirty="0"/>
          </a:p>
        </p:txBody>
      </p:sp>
      <p:sp>
        <p:nvSpPr>
          <p:cNvPr id="16" name="box-174"/>
          <p:cNvSpPr txBox="1"/>
          <p:nvPr/>
        </p:nvSpPr>
        <p:spPr>
          <a:xfrm>
            <a:off x="2468880" y="4937760"/>
            <a:ext cx="1645920" cy="822960"/>
          </a:xfrm>
          <a:prstGeom prst="roundRect">
            <a:avLst>
              <a:gd name="adj" fmla="val 8889"/>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17" name="label-175"/>
          <p:cNvSpPr txBox="1"/>
          <p:nvPr/>
        </p:nvSpPr>
        <p:spPr>
          <a:xfrm>
            <a:off x="2606040" y="5001768"/>
            <a:ext cx="1371600" cy="320040"/>
          </a:xfrm>
          <a:prstGeom prst="rect">
            <a:avLst/>
          </a:prstGeom>
          <a:noFill/>
          <a:ln/>
        </p:spPr>
        <p:txBody>
          <a:bodyPr wrap="square" lIns="0" tIns="0" rIns="0" bIns="0" rtlCol="0" anchor="t"/>
          <a:lstStyle/>
          <a:p>
            <a:pPr algn="l" indent="0" marL="0">
              <a:buNone/>
            </a:pPr>
            <a:r>
              <a:rPr lang="en-US" sz="1200" dirty="0">
                <a:solidFill>
                  <a:schemeClr val="tx2"/>
                </a:solidFill>
              </a:rPr>
              <a:t>Writes</a:t>
            </a:r>
            <a:endParaRPr lang="en-US" sz="1200" dirty="0"/>
          </a:p>
        </p:txBody>
      </p:sp>
      <p:sp>
        <p:nvSpPr>
          <p:cNvPr id="18" name="label-176"/>
          <p:cNvSpPr txBox="1"/>
          <p:nvPr/>
        </p:nvSpPr>
        <p:spPr>
          <a:xfrm>
            <a:off x="2606040" y="5285232"/>
            <a:ext cx="1371600" cy="411480"/>
          </a:xfrm>
          <a:prstGeom prst="rect">
            <a:avLst/>
          </a:prstGeom>
          <a:noFill/>
          <a:ln/>
        </p:spPr>
        <p:txBody>
          <a:bodyPr wrap="square" lIns="0" tIns="0" rIns="0" bIns="0" rtlCol="0" anchor="t"/>
          <a:lstStyle/>
          <a:p>
            <a:pPr algn="l" indent="0" marL="0">
              <a:buNone/>
            </a:pPr>
            <a:r>
              <a:rPr lang="en-US" sz="1800" b="1" dirty="0">
                <a:solidFill>
                  <a:schemeClr val="tx1"/>
                </a:solidFill>
              </a:rPr>
              <a:t>slower</a:t>
            </a:r>
            <a:endParaRPr lang="en-US" sz="1800" dirty="0"/>
          </a:p>
        </p:txBody>
      </p:sp>
      <p:sp>
        <p:nvSpPr>
          <p:cNvPr id="19" name="box-177"/>
          <p:cNvSpPr txBox="1"/>
          <p:nvPr/>
        </p:nvSpPr>
        <p:spPr>
          <a:xfrm>
            <a:off x="4297680" y="4937760"/>
            <a:ext cx="1645920" cy="822960"/>
          </a:xfrm>
          <a:prstGeom prst="roundRect">
            <a:avLst>
              <a:gd name="adj" fmla="val 8889"/>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20" name="label-178"/>
          <p:cNvSpPr txBox="1"/>
          <p:nvPr/>
        </p:nvSpPr>
        <p:spPr>
          <a:xfrm>
            <a:off x="4434840" y="5001768"/>
            <a:ext cx="1371600" cy="320040"/>
          </a:xfrm>
          <a:prstGeom prst="rect">
            <a:avLst/>
          </a:prstGeom>
          <a:noFill/>
          <a:ln/>
        </p:spPr>
        <p:txBody>
          <a:bodyPr wrap="square" lIns="0" tIns="0" rIns="0" bIns="0" rtlCol="0" anchor="t"/>
          <a:lstStyle/>
          <a:p>
            <a:pPr algn="l" indent="0" marL="0">
              <a:buNone/>
            </a:pPr>
            <a:r>
              <a:rPr lang="en-US" sz="1200" dirty="0">
                <a:solidFill>
                  <a:schemeClr val="tx2"/>
                </a:solidFill>
              </a:rPr>
              <a:t>Storage</a:t>
            </a:r>
            <a:endParaRPr lang="en-US" sz="1200" dirty="0"/>
          </a:p>
        </p:txBody>
      </p:sp>
      <p:sp>
        <p:nvSpPr>
          <p:cNvPr id="21" name="label-179"/>
          <p:cNvSpPr txBox="1"/>
          <p:nvPr/>
        </p:nvSpPr>
        <p:spPr>
          <a:xfrm>
            <a:off x="4434840" y="5285232"/>
            <a:ext cx="1371600" cy="411480"/>
          </a:xfrm>
          <a:prstGeom prst="rect">
            <a:avLst/>
          </a:prstGeom>
          <a:noFill/>
          <a:ln/>
        </p:spPr>
        <p:txBody>
          <a:bodyPr wrap="square" lIns="0" tIns="0" rIns="0" bIns="0" rtlCol="0" anchor="t"/>
          <a:lstStyle/>
          <a:p>
            <a:pPr algn="l" indent="0" marL="0">
              <a:buNone/>
            </a:pPr>
            <a:r>
              <a:rPr lang="en-US" sz="1800" b="1" dirty="0">
                <a:solidFill>
                  <a:schemeClr val="tx1"/>
                </a:solidFill>
              </a:rPr>
              <a:t>larger</a:t>
            </a:r>
            <a:endParaRPr lang="en-US" sz="1800" dirty="0"/>
          </a:p>
        </p:txBody>
      </p:sp>
      <p:sp>
        <p:nvSpPr>
          <p:cNvPr id="22" name="label-180"/>
          <p:cNvSpPr txBox="1"/>
          <p:nvPr/>
        </p:nvSpPr>
        <p:spPr>
          <a:xfrm>
            <a:off x="6309360" y="4983480"/>
            <a:ext cx="5394960" cy="822960"/>
          </a:xfrm>
          <a:prstGeom prst="rect">
            <a:avLst/>
          </a:prstGeom>
          <a:noFill/>
          <a:ln/>
        </p:spPr>
        <p:txBody>
          <a:bodyPr wrap="square" lIns="0" tIns="0" rIns="0" bIns="0" rtlCol="0" anchor="t"/>
          <a:lstStyle/>
          <a:p>
            <a:pPr algn="l" indent="0" marL="0">
              <a:buNone/>
            </a:pPr>
            <a:r>
              <a:rPr lang="en-US" sz="1400" i="1" dirty="0">
                <a:solidFill>
                  <a:schemeClr val="accent1"/>
                </a:solidFill>
              </a:rPr>
              <a:t>Equality, then sort, then range. The index is a bet about how the system will be used — index for the questions you actually ask.</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pic>
        <p:nvPicPr>
          <p:cNvPr id="26" name="gif-index" descr="index.gif"/>
          <p:cNvPicPr>
            <a:picLocks noChangeAspect="1"/>
          </p:cNvPicPr>
          <p:nvPr/>
        </p:nvPicPr>
        <p:blipFill>
          <a:blip r:embed="rId3"/>
          <a:stretch>
            <a:fillRect/>
          </a:stretch>
        </p:blipFill>
        <p:spPr>
          <a:xfrm>
            <a:off x="1066647" y="1325880"/>
            <a:ext cx="10058400" cy="32905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Then the wait loop hurt</a:t>
            </a:r>
            <a:endParaRPr lang="en-US" sz="3200" dirty="0"/>
          </a:p>
        </p:txBody>
      </p:sp>
      <p:sp>
        <p:nvSpPr>
          <p:cNvPr id="4" name="label-181"/>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2 · Design for the questions</a:t>
            </a:r>
            <a:endParaRPr lang="en-US" sz="1000" dirty="0"/>
          </a:p>
        </p:txBody>
      </p:sp>
      <p:sp>
        <p:nvSpPr>
          <p:cNvPr id="5" name="label-182"/>
          <p:cNvSpPr txBox="1"/>
          <p:nvPr/>
        </p:nvSpPr>
        <p:spPr>
          <a:xfrm>
            <a:off x="640080" y="1325880"/>
            <a:ext cx="10972800" cy="457200"/>
          </a:xfrm>
          <a:prstGeom prst="rect">
            <a:avLst/>
          </a:prstGeom>
          <a:noFill/>
          <a:ln/>
        </p:spPr>
        <p:txBody>
          <a:bodyPr wrap="square" lIns="0" tIns="0" rIns="0" bIns="0" rtlCol="0" anchor="t"/>
          <a:lstStyle/>
          <a:p>
            <a:pPr algn="l" indent="0" marL="0">
              <a:buNone/>
            </a:pPr>
            <a:r>
              <a:rPr lang="en-US" sz="1800" dirty="0">
                <a:solidFill>
                  <a:schemeClr val="tx2"/>
                </a:solidFill>
              </a:rPr>
              <a:t>The “train + wait + summarise” skill, as actually implemented</a:t>
            </a:r>
            <a:endParaRPr lang="en-US" sz="1800" dirty="0"/>
          </a:p>
        </p:txBody>
      </p:sp>
      <p:sp>
        <p:nvSpPr>
          <p:cNvPr id="26" name="label-203"/>
          <p:cNvSpPr txBox="1"/>
          <p:nvPr/>
        </p:nvSpPr>
        <p:spPr>
          <a:xfrm>
            <a:off x="822960" y="5029200"/>
            <a:ext cx="10515600" cy="1097280"/>
          </a:xfrm>
          <a:prstGeom prst="rect">
            <a:avLst/>
          </a:prstGeom>
          <a:noFill/>
          <a:ln/>
        </p:spPr>
        <p:txBody>
          <a:bodyPr wrap="square" lIns="0" tIns="0" rIns="0" bIns="0" rtlCol="0" anchor="t"/>
          <a:lstStyle/>
          <a:p>
            <a:pPr algn="l" indent="0" marL="0">
              <a:spcAft>
                <a:spcPts val="600"/>
              </a:spcAft>
              <a:buNone/>
            </a:pPr>
            <a:r>
              <a:rPr lang="en-US" sz="1700" dirty="0">
                <a:solidFill>
                  <a:schemeClr val="tx2"/>
                </a:solidFill>
              </a:rPr>
              <a:t>Every check is a read. Every wait is latency and tokens. Every restart is a place to lose the job ID.</a:t>
            </a:r>
            <a:endParaRPr lang="en-US" sz="1700" dirty="0"/>
          </a:p>
          <a:p>
            <a:pPr algn="l" indent="0" marL="0">
              <a:spcAft>
                <a:spcPts val="600"/>
              </a:spcAft>
              <a:buNone/>
            </a:pPr>
            <a:r>
              <a:rPr lang="en-US" sz="1700" b="1" dirty="0">
                <a:solidFill>
                  <a:schemeClr val="accent1"/>
                </a:solidFill>
              </a:rPr>
              <a:t>The agent was doing the database's job.</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pic>
        <p:nvPicPr>
          <p:cNvPr id="27" name="gif-polling" descr="polling.gif"/>
          <p:cNvPicPr>
            <a:picLocks noChangeAspect="1"/>
          </p:cNvPicPr>
          <p:nvPr/>
        </p:nvPicPr>
        <p:blipFill>
          <a:blip r:embed="rId3"/>
          <a:stretch>
            <a:fillRect/>
          </a:stretch>
        </p:blipFill>
        <p:spPr>
          <a:xfrm>
            <a:off x="1523847" y="1783080"/>
            <a:ext cx="9144000" cy="31350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From polling to events</a:t>
            </a:r>
            <a:endParaRPr lang="en-US" sz="3200" dirty="0"/>
          </a:p>
        </p:txBody>
      </p:sp>
      <p:sp>
        <p:nvSpPr>
          <p:cNvPr id="4" name="label-204"/>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3 · Decide what memory means</a:t>
            </a:r>
            <a:endParaRPr lang="en-US" sz="1000" dirty="0"/>
          </a:p>
        </p:txBody>
      </p:sp>
      <p:pic>
        <p:nvPicPr>
          <p:cNvPr id="5" name="qr-205" descr="preencoded.png">    </p:cNvPr>
          <p:cNvPicPr>
            <a:picLocks noChangeAspect="1"/>
          </p:cNvPicPr>
          <p:nvPr/>
        </p:nvPicPr>
        <p:blipFill>
          <a:blip r:embed="rId1"/>
          <a:stretch>
            <a:fillRect/>
          </a:stretch>
        </p:blipFill>
        <p:spPr>
          <a:xfrm>
            <a:off x="10835640" y="274320"/>
            <a:ext cx="868680" cy="868680"/>
          </a:xfrm>
          <a:prstGeom prst="rect">
            <a:avLst/>
          </a:prstGeom>
        </p:spPr>
      </p:pic>
      <p:sp>
        <p:nvSpPr>
          <p:cNvPr id="6" name="label-206"/>
          <p:cNvSpPr txBox="1"/>
          <p:nvPr/>
        </p:nvSpPr>
        <p:spPr>
          <a:xfrm>
            <a:off x="10149840" y="1161288"/>
            <a:ext cx="1554480" cy="228600"/>
          </a:xfrm>
          <a:prstGeom prst="rect">
            <a:avLst/>
          </a:prstGeom>
          <a:noFill/>
          <a:ln/>
        </p:spPr>
        <p:txBody>
          <a:bodyPr wrap="square" lIns="0" tIns="0" rIns="0" bIns="0" rtlCol="0" anchor="t"/>
          <a:lstStyle/>
          <a:p>
            <a:pPr algn="ctr" indent="0" marL="0">
              <a:buNone/>
            </a:pPr>
            <a:r>
              <a:rPr lang="en-US" sz="900" dirty="0">
                <a:solidFill>
                  <a:schemeClr val="tx2"/>
                </a:solidFill>
              </a:rPr>
              <a:t>Change streams docs</a:t>
            </a:r>
            <a:endParaRPr lang="en-US" sz="900" dirty="0"/>
          </a:p>
        </p:txBody>
      </p:sp>
      <p:sp>
        <p:nvSpPr>
          <p:cNvPr id="7" name="pill-207"/>
          <p:cNvSpPr txBox="1"/>
          <p:nvPr/>
        </p:nvSpPr>
        <p:spPr>
          <a:xfrm>
            <a:off x="9098280" y="502920"/>
            <a:ext cx="1600200" cy="310896"/>
          </a:xfrm>
          <a:prstGeom prst="roundRect">
            <a:avLst>
              <a:gd name="adj" fmla="val 50000"/>
            </a:avLst>
          </a:prstGeom>
          <a:solidFill>
            <a:schemeClr val="accent3"/>
          </a:solidFill>
          <a:ln w="12700">
            <a:solidFill>
              <a:schemeClr val="accent1"/>
            </a:solidFill>
          </a:ln>
        </p:spPr>
        <p:txBody>
          <a:bodyPr wrap="square" lIns="0" tIns="0" rIns="0" bIns="0" rtlCol="0" anchor="ctr"/>
          <a:lstStyle/>
          <a:p>
            <a:pPr algn="ctr" indent="0" marL="0">
              <a:buNone/>
            </a:pPr>
            <a:r>
              <a:rPr lang="en-US" sz="1000" b="1" dirty="0">
                <a:solidFill>
                  <a:schemeClr val="accent1"/>
                </a:solidFill>
              </a:rPr>
              <a:t>live on the RUBIK Pi</a:t>
            </a:r>
            <a:endParaRPr lang="en-US" sz="1000" dirty="0"/>
          </a:p>
        </p:txBody>
      </p:sp>
      <p:sp>
        <p:nvSpPr>
          <p:cNvPr id="10" name="label-210"/>
          <p:cNvSpPr txBox="1"/>
          <p:nvPr/>
        </p:nvSpPr>
        <p:spPr>
          <a:xfrm>
            <a:off x="3786659" y="1513332"/>
            <a:ext cx="2522700" cy="768096"/>
          </a:xfrm>
          <a:prstGeom prst="rect">
            <a:avLst/>
          </a:prstGeom>
          <a:noFill/>
          <a:ln/>
        </p:spPr>
        <p:txBody>
          <a:bodyPr wrap="square" lIns="0" tIns="0" rIns="0" bIns="0" rtlCol="0" anchor="ctr"/>
          <a:lstStyle/>
          <a:p>
            <a:pPr algn="l" indent="0" marL="0">
              <a:buNone/>
            </a:pPr>
            <a:r>
              <a:rPr lang="en-US" sz="1300" dirty="0">
                <a:solidFill>
                  <a:schemeClr val="tx2"/>
                </a:solidFill>
                <a:latin typeface="Courier New" pitchFamily="34" charset="0"/>
                <a:ea typeface="Courier New" pitchFamily="34" charset="-122"/>
                <a:cs typeface="Courier New" pitchFamily="34" charset="-120"/>
              </a:rPr>
              <a:t>updateOne({runId}, {$set: {status: 'completed'}})</a:t>
            </a:r>
            <a:endParaRPr lang="en-US" sz="1300" dirty="0"/>
          </a:p>
        </p:txBody>
      </p:sp>
      <p:sp>
        <p:nvSpPr>
          <p:cNvPr id="14" name="label-214"/>
          <p:cNvSpPr txBox="1"/>
          <p:nvPr/>
        </p:nvSpPr>
        <p:spPr>
          <a:xfrm>
            <a:off x="3786659" y="2816352"/>
            <a:ext cx="2522700" cy="768096"/>
          </a:xfrm>
          <a:prstGeom prst="rect">
            <a:avLst/>
          </a:prstGeom>
          <a:noFill/>
          <a:ln/>
        </p:spPr>
        <p:txBody>
          <a:bodyPr wrap="square" lIns="0" tIns="0" rIns="0" bIns="0" rtlCol="0" anchor="ctr"/>
          <a:lstStyle/>
          <a:p>
            <a:pPr algn="l" indent="0" marL="0">
              <a:buNone/>
            </a:pPr>
            <a:r>
              <a:rPr lang="en-US" sz="1300" dirty="0">
                <a:solidFill>
                  <a:schemeClr val="tx2"/>
                </a:solidFill>
                <a:latin typeface="Courier New" pitchFamily="34" charset="0"/>
                <a:ea typeface="Courier New" pitchFamily="34" charset="-122"/>
                <a:cs typeface="Courier New" pitchFamily="34" charset="-120"/>
              </a:rPr>
              <a:t>oplog → change stream, with a resume token</a:t>
            </a:r>
            <a:endParaRPr lang="en-US" sz="1300" dirty="0"/>
          </a:p>
        </p:txBody>
      </p:sp>
      <p:sp>
        <p:nvSpPr>
          <p:cNvPr id="18" name="label-218"/>
          <p:cNvSpPr txBox="1"/>
          <p:nvPr/>
        </p:nvSpPr>
        <p:spPr>
          <a:xfrm>
            <a:off x="3786659" y="4119372"/>
            <a:ext cx="2522700" cy="768096"/>
          </a:xfrm>
          <a:prstGeom prst="rect">
            <a:avLst/>
          </a:prstGeom>
          <a:noFill/>
          <a:ln/>
        </p:spPr>
        <p:txBody>
          <a:bodyPr wrap="square" lIns="0" tIns="0" rIns="0" bIns="0" rtlCol="0" anchor="ctr"/>
          <a:lstStyle/>
          <a:p>
            <a:pPr algn="l" indent="0" marL="0">
              <a:buNone/>
            </a:pPr>
            <a:r>
              <a:rPr lang="en-US" sz="1300" dirty="0">
                <a:solidFill>
                  <a:schemeClr val="tx2"/>
                </a:solidFill>
                <a:latin typeface="Courier New" pitchFamily="34" charset="0"/>
                <a:ea typeface="Courier New" pitchFamily="34" charset="-122"/>
                <a:cs typeface="Courier New" pitchFamily="34" charset="-120"/>
              </a:rPr>
              <a:t>resume the agent · next tool · ask for approval</a:t>
            </a:r>
            <a:endParaRPr lang="en-US" sz="1300" dirty="0"/>
          </a:p>
        </p:txBody>
      </p:sp>
      <p:sp>
        <p:nvSpPr>
          <p:cNvPr id="19" name="code-219"/>
          <p:cNvSpPr txBox="1"/>
          <p:nvPr/>
        </p:nvSpPr>
        <p:spPr>
          <a:xfrm>
            <a:off x="6400800" y="1554480"/>
            <a:ext cx="5212080" cy="2834640"/>
          </a:xfrm>
          <a:prstGeom prst="roundRect">
            <a:avLst>
              <a:gd name="adj" fmla="val 2581"/>
            </a:avLst>
          </a:prstGeom>
          <a:solidFill>
            <a:schemeClr val="bg2"/>
          </a:solidFill>
          <a:ln w="12700">
            <a:solidFill>
              <a:schemeClr val="accent4"/>
            </a:solidFill>
          </a:ln>
        </p:spPr>
        <p:txBody>
          <a:bodyPr wrap="square" lIns="2286" tIns="2286" rIns="2286" bIns="2286"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pipeline = [{"$match": {</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"operationType": "update",</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"updateDescription.updatedFields.status":</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{"$in": ["completed", "failed"]}</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algn="l" indent="0" marL="0">
              <a:buNone/>
            </a:pP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with runs.watch(pipeline,</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full_document="updateLookup") as cs:</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for change in cs:</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run = change["fullDocument"]</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agent.resume(thread_id=run["runId"])</a:t>
            </a:r>
            <a:endParaRPr lang="en-US" sz="1200" dirty="0"/>
          </a:p>
        </p:txBody>
      </p:sp>
      <p:sp>
        <p:nvSpPr>
          <p:cNvPr id="20" name="label-220"/>
          <p:cNvSpPr txBox="1"/>
          <p:nvPr/>
        </p:nvSpPr>
        <p:spPr>
          <a:xfrm>
            <a:off x="6400800" y="4572000"/>
            <a:ext cx="5212080" cy="914400"/>
          </a:xfrm>
          <a:prstGeom prst="rect">
            <a:avLst/>
          </a:prstGeom>
          <a:noFill/>
          <a:ln/>
        </p:spPr>
        <p:txBody>
          <a:bodyPr wrap="square" lIns="0" tIns="0" rIns="0" bIns="0" rtlCol="0" anchor="t"/>
          <a:lstStyle/>
          <a:p>
            <a:pPr algn="l" indent="0" marL="0">
              <a:buNone/>
            </a:pPr>
            <a:r>
              <a:rPr lang="en-US" sz="1400" i="1" dirty="0">
                <a:solidFill>
                  <a:schemeClr val="tx2"/>
                </a:solidFill>
              </a:rPr>
              <a:t>Still design the failure path: missed events, retries, idempotency, resume.</a:t>
            </a:r>
            <a:endParaRPr lang="en-US" sz="1400" dirty="0"/>
          </a:p>
        </p:txBody>
      </p:sp>
      <p:sp>
        <p:nvSpPr>
          <p:cNvPr id="21" name="label-221"/>
          <p:cNvSpPr txBox="1"/>
          <p:nvPr/>
        </p:nvSpPr>
        <p:spPr>
          <a:xfrm>
            <a:off x="822960" y="5669280"/>
            <a:ext cx="10789920" cy="457200"/>
          </a:xfrm>
          <a:prstGeom prst="rect">
            <a:avLst/>
          </a:prstGeom>
          <a:noFill/>
          <a:ln/>
        </p:spPr>
        <p:txBody>
          <a:bodyPr wrap="square" lIns="0" tIns="0" rIns="0" bIns="0" rtlCol="0" anchor="t"/>
          <a:lstStyle/>
          <a:p>
            <a:pPr algn="l" indent="0" marL="0">
              <a:buNone/>
            </a:pPr>
            <a:r>
              <a:rPr lang="en-US" sz="1600" i="1" dirty="0">
                <a:solidFill>
                  <a:schemeClr val="accent1"/>
                </a:solidFill>
              </a:rPr>
              <a:t>No polling loop. No lost job IDs. The event carries the document the agent needs next.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pic>
        <p:nvPicPr>
          <p:cNvPr id="26" name="gif-doorbell" descr="doorbell.gif"/>
          <p:cNvPicPr>
            <a:picLocks noChangeAspect="1"/>
          </p:cNvPicPr>
          <p:nvPr/>
        </p:nvPicPr>
        <p:blipFill>
          <a:blip r:embed="rId4"/>
          <a:stretch>
            <a:fillRect/>
          </a:stretch>
        </p:blipFill>
        <p:spPr>
          <a:xfrm>
            <a:off x="731520" y="1463040"/>
            <a:ext cx="2780819" cy="34747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Memory has a half-life</a:t>
            </a:r>
            <a:endParaRPr lang="en-US" sz="3200" dirty="0"/>
          </a:p>
        </p:txBody>
      </p:sp>
      <p:sp>
        <p:nvSpPr>
          <p:cNvPr id="4" name="label-222"/>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3 · Decide what memory means</a:t>
            </a:r>
            <a:endParaRPr lang="en-US" sz="1000" dirty="0"/>
          </a:p>
        </p:txBody>
      </p:sp>
      <p:pic>
        <p:nvPicPr>
          <p:cNvPr id="5" name="qr-223" descr="preencoded.png">    </p:cNvPr>
          <p:cNvPicPr>
            <a:picLocks noChangeAspect="1"/>
          </p:cNvPicPr>
          <p:nvPr/>
        </p:nvPicPr>
        <p:blipFill>
          <a:blip r:embed="rId1"/>
          <a:stretch>
            <a:fillRect/>
          </a:stretch>
        </p:blipFill>
        <p:spPr>
          <a:xfrm>
            <a:off x="10835640" y="274320"/>
            <a:ext cx="868680" cy="868680"/>
          </a:xfrm>
          <a:prstGeom prst="rect">
            <a:avLst/>
          </a:prstGeom>
        </p:spPr>
      </p:pic>
      <p:sp>
        <p:nvSpPr>
          <p:cNvPr id="6" name="label-224"/>
          <p:cNvSpPr txBox="1"/>
          <p:nvPr/>
        </p:nvSpPr>
        <p:spPr>
          <a:xfrm>
            <a:off x="10149840" y="1161288"/>
            <a:ext cx="1554480" cy="228600"/>
          </a:xfrm>
          <a:prstGeom prst="rect">
            <a:avLst/>
          </a:prstGeom>
          <a:noFill/>
          <a:ln/>
        </p:spPr>
        <p:txBody>
          <a:bodyPr wrap="square" lIns="0" tIns="0" rIns="0" bIns="0" rtlCol="0" anchor="t"/>
          <a:lstStyle/>
          <a:p>
            <a:pPr algn="ctr" indent="0" marL="0">
              <a:buNone/>
            </a:pPr>
            <a:r>
              <a:rPr lang="en-US" sz="900" dirty="0">
                <a:solidFill>
                  <a:schemeClr val="tx2"/>
                </a:solidFill>
              </a:rPr>
              <a:t>TTL index docs</a:t>
            </a:r>
            <a:endParaRPr lang="en-US" sz="900" dirty="0"/>
          </a:p>
        </p:txBody>
      </p:sp>
      <p:sp>
        <p:nvSpPr>
          <p:cNvPr id="22" name="code-240"/>
          <p:cNvSpPr txBox="1"/>
          <p:nvPr/>
        </p:nvSpPr>
        <p:spPr>
          <a:xfrm>
            <a:off x="822960" y="4572000"/>
            <a:ext cx="6400800" cy="1097280"/>
          </a:xfrm>
          <a:prstGeom prst="roundRect">
            <a:avLst>
              <a:gd name="adj" fmla="val 6667"/>
            </a:avLst>
          </a:prstGeom>
          <a:solidFill>
            <a:schemeClr val="bg2"/>
          </a:solidFill>
          <a:ln w="12700">
            <a:solidFill>
              <a:schemeClr val="accent4"/>
            </a:solidFill>
          </a:ln>
        </p:spPr>
        <p:txBody>
          <a:bodyPr wrap="square" lIns="2286" tIns="2286" rIns="2286" bIns="2286" rtlCol="0" anchor="t"/>
          <a:lstStyle/>
          <a:p>
            <a:pPr algn="l" indent="0" marL="0">
              <a:buNone/>
            </a:pPr>
            <a:r>
              <a:rPr lang="en-US" sz="1250" dirty="0">
                <a:solidFill>
                  <a:schemeClr val="tx1"/>
                </a:solidFill>
                <a:latin typeface="Courier New" pitchFamily="34" charset="0"/>
                <a:ea typeface="Courier New" pitchFamily="34" charset="-122"/>
                <a:cs typeface="Courier New" pitchFamily="34" charset="-120"/>
              </a:rPr>
              <a:t>db.sessions.createIndex(</a:t>
            </a:r>
            <a:endParaRPr lang="en-US" sz="1250" dirty="0"/>
          </a:p>
          <a:p>
            <a:pPr algn="l" indent="0" marL="0">
              <a:buNone/>
            </a:pPr>
            <a:r>
              <a:rPr lang="en-US" sz="1250" dirty="0">
                <a:solidFill>
                  <a:schemeClr val="tx1"/>
                </a:solidFill>
                <a:latin typeface="Courier New" pitchFamily="34" charset="0"/>
                <a:ea typeface="Courier New" pitchFamily="34" charset="-122"/>
                <a:cs typeface="Courier New" pitchFamily="34" charset="-120"/>
              </a:rPr>
              <a:t>  { expiresAt: 1 }, { expireAfterSeconds: 0 })</a:t>
            </a:r>
            <a:endParaRPr lang="en-US" sz="1250" dirty="0"/>
          </a:p>
          <a:p>
            <a:pPr algn="l" indent="0" marL="0">
              <a:buNone/>
            </a:pPr>
            <a:r>
              <a:rPr lang="en-US" sz="1250" dirty="0">
                <a:solidFill>
                  <a:schemeClr val="tx1"/>
                </a:solidFill>
                <a:latin typeface="Courier New" pitchFamily="34" charset="0"/>
                <a:ea typeface="Courier New" pitchFamily="34" charset="-122"/>
                <a:cs typeface="Courier New" pitchFamily="34" charset="-120"/>
              </a:rPr>
              <a:t>// the writer sets expiresAt per document</a:t>
            </a:r>
            <a:endParaRPr lang="en-US" sz="1250" dirty="0"/>
          </a:p>
        </p:txBody>
      </p:sp>
      <p:sp>
        <p:nvSpPr>
          <p:cNvPr id="23" name="label-241"/>
          <p:cNvSpPr txBox="1"/>
          <p:nvPr/>
        </p:nvSpPr>
        <p:spPr>
          <a:xfrm>
            <a:off x="7498080" y="4572000"/>
            <a:ext cx="4206240" cy="1005840"/>
          </a:xfrm>
          <a:prstGeom prst="rect">
            <a:avLst/>
          </a:prstGeom>
          <a:noFill/>
          <a:ln/>
        </p:spPr>
        <p:txBody>
          <a:bodyPr wrap="square" lIns="0" tIns="0" rIns="0" bIns="0" rtlCol="0" anchor="t"/>
          <a:lstStyle/>
          <a:p>
            <a:pPr algn="l" indent="0" marL="0">
              <a:buNone/>
            </a:pPr>
            <a:r>
              <a:rPr lang="en-US" sz="1400" i="1" dirty="0">
                <a:solidFill>
                  <a:schemeClr val="accent1"/>
                </a:solidFill>
              </a:rPr>
              <a:t>Lifetime becomes a schema decision, set when the document is written — not a cron job.</a:t>
            </a:r>
            <a:endParaRPr lang="en-US" sz="1400" dirty="0"/>
          </a:p>
        </p:txBody>
      </p:sp>
      <p:sp>
        <p:nvSpPr>
          <p:cNvPr id="24" name="label-242"/>
          <p:cNvSpPr txBox="1"/>
          <p:nvPr/>
        </p:nvSpPr>
        <p:spPr>
          <a:xfrm>
            <a:off x="822960" y="5760720"/>
            <a:ext cx="10515600" cy="457200"/>
          </a:xfrm>
          <a:prstGeom prst="rect">
            <a:avLst/>
          </a:prstGeom>
          <a:noFill/>
          <a:ln/>
        </p:spPr>
        <p:txBody>
          <a:bodyPr wrap="square" lIns="0" tIns="0" rIns="0" bIns="0" rtlCol="0" anchor="t"/>
          <a:lstStyle/>
          <a:p>
            <a:pPr algn="l" indent="0" marL="0">
              <a:buNone/>
            </a:pPr>
            <a:r>
              <a:rPr lang="en-US" sz="1500" dirty="0">
                <a:solidFill>
                  <a:schemeClr val="tx2"/>
                </a:solidFill>
              </a:rPr>
              <a:t>Short-term memory expires; long-term memory is kept and audited. TTL enforces the first — it never decides which is which.</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pic>
        <p:nvPicPr>
          <p:cNvPr id="26" name="gif-halflife" descr="halflife.gif"/>
          <p:cNvPicPr>
            <a:picLocks noChangeAspect="1"/>
          </p:cNvPicPr>
          <p:nvPr/>
        </p:nvPicPr>
        <p:blipFill>
          <a:blip r:embed="rId4"/>
          <a:stretch>
            <a:fillRect/>
          </a:stretch>
        </p:blipFill>
        <p:spPr>
          <a:xfrm>
            <a:off x="1798320" y="1463040"/>
            <a:ext cx="8595360" cy="298995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515600" cy="1645920"/>
          </a:xfrm>
          <a:prstGeom prst="rect">
            <a:avLst/>
          </a:prstGeom>
          <a:noFill/>
          <a:ln/>
        </p:spPr>
        <p:txBody>
          <a:bodyPr wrap="square" lIns="0" tIns="0" rIns="0" bIns="0" rtlCol="0" anchor="b"/>
          <a:lstStyle/>
          <a:p>
            <a:pPr algn="ctr" indent="0" marL="0">
              <a:buNone/>
            </a:pPr>
            <a:r>
              <a:rPr lang="en-US" sz="4400" b="1" dirty="0">
                <a:solidFill>
                  <a:schemeClr val="accent1"/>
                </a:solidFill>
              </a:rPr>
              <a:t>What would you delete?</a:t>
            </a:r>
            <a:endParaRPr lang="en-US" sz="4400" dirty="0"/>
          </a:p>
        </p:txBody>
      </p:sp>
      <p:sp>
        <p:nvSpPr>
          <p:cNvPr id="4" name="Text 0"/>
          <p:cNvSpPr/>
          <p:nvPr>
            <p:ph idx="101" type="body" hasCustomPrompt="1"/>
          </p:nvPr>
        </p:nvSpPr>
        <p:spPr>
          <a:xfrm>
            <a:off x="822960" y="3931920"/>
            <a:ext cx="10515600" cy="1280160"/>
          </a:xfrm>
          <a:prstGeom prst="rect">
            <a:avLst/>
          </a:prstGeom>
          <a:noFill/>
          <a:ln/>
        </p:spPr>
        <p:txBody>
          <a:bodyPr wrap="square" lIns="0" tIns="0" rIns="0" bIns="0" rtlCol="0" anchor="t"/>
          <a:lstStyle/>
          <a:p>
            <a:pPr algn="ctr" indent="0" marL="0">
              <a:buNone/>
            </a:pPr>
            <a:r>
              <a:rPr lang="en-US" sz="2000" dirty="0">
                <a:solidFill>
                  <a:schemeClr val="tx2"/>
                </a:solidFill>
              </a:rPr>
              <a:t>Audit history   ·   Experiment summaries   ·   Approvals</a:t>
            </a:r>
            <a:endParaRPr lang="en-US" sz="2000" dirty="0"/>
          </a:p>
          <a:p>
            <a:pPr algn="ctr" indent="0" marL="0">
              <a:buNone/>
            </a:pPr>
            <a:r>
              <a:rPr lang="en-US" sz="2000" dirty="0">
                <a:solidFill>
                  <a:schemeClr val="tx2"/>
                </a:solidFill>
              </a:rPr>
              <a:t>Session context   ·   Raw logs   ·   Failed attempts   ·   Cache</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Not every question is semantic</a:t>
            </a:r>
            <a:endParaRPr lang="en-US" sz="3200" dirty="0"/>
          </a:p>
        </p:txBody>
      </p:sp>
      <p:sp>
        <p:nvSpPr>
          <p:cNvPr id="4" name="label-243"/>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3 · Decide what memory means</a:t>
            </a:r>
            <a:endParaRPr lang="en-US" sz="1000" dirty="0"/>
          </a:p>
        </p:txBody>
      </p:sp>
      <p:pic>
        <p:nvPicPr>
          <p:cNvPr id="5" name="qr-244" descr="preencoded.png">    </p:cNvPr>
          <p:cNvPicPr>
            <a:picLocks noChangeAspect="1"/>
          </p:cNvPicPr>
          <p:nvPr/>
        </p:nvPicPr>
        <p:blipFill>
          <a:blip r:embed="rId1"/>
          <a:stretch>
            <a:fillRect/>
          </a:stretch>
        </p:blipFill>
        <p:spPr>
          <a:xfrm>
            <a:off x="10835640" y="274320"/>
            <a:ext cx="868680" cy="868680"/>
          </a:xfrm>
          <a:prstGeom prst="rect">
            <a:avLst/>
          </a:prstGeom>
        </p:spPr>
      </p:pic>
      <p:sp>
        <p:nvSpPr>
          <p:cNvPr id="6" name="label-245"/>
          <p:cNvSpPr txBox="1"/>
          <p:nvPr/>
        </p:nvSpPr>
        <p:spPr>
          <a:xfrm>
            <a:off x="10149840" y="1161288"/>
            <a:ext cx="1554480" cy="228600"/>
          </a:xfrm>
          <a:prstGeom prst="rect">
            <a:avLst/>
          </a:prstGeom>
          <a:noFill/>
          <a:ln/>
        </p:spPr>
        <p:txBody>
          <a:bodyPr wrap="square" lIns="0" tIns="0" rIns="0" bIns="0" rtlCol="0" anchor="t"/>
          <a:lstStyle/>
          <a:p>
            <a:pPr algn="ctr" indent="0" marL="0">
              <a:buNone/>
            </a:pPr>
            <a:r>
              <a:rPr lang="en-US" sz="900" dirty="0">
                <a:solidFill>
                  <a:schemeClr val="tx2"/>
                </a:solidFill>
              </a:rPr>
              <a:t>Vector Search docs</a:t>
            </a:r>
            <a:endParaRPr lang="en-US" sz="900" dirty="0"/>
          </a:p>
        </p:txBody>
      </p:sp>
      <p:sp>
        <p:nvSpPr>
          <p:cNvPr id="13" name="label-252"/>
          <p:cNvSpPr txBox="1"/>
          <p:nvPr/>
        </p:nvSpPr>
        <p:spPr>
          <a:xfrm>
            <a:off x="640080" y="5074920"/>
            <a:ext cx="10972800" cy="457200"/>
          </a:xfrm>
          <a:prstGeom prst="rect">
            <a:avLst/>
          </a:prstGeom>
          <a:noFill/>
          <a:ln/>
        </p:spPr>
        <p:txBody>
          <a:bodyPr wrap="square" lIns="0" tIns="0" rIns="0" bIns="0" rtlCol="0" anchor="t"/>
          <a:lstStyle/>
          <a:p>
            <a:pPr algn="l" indent="0" marL="0">
              <a:buNone/>
            </a:pPr>
            <a:r>
              <a:rPr lang="en-US" sz="1800" b="1" dirty="0">
                <a:solidFill>
                  <a:schemeClr val="accent1"/>
                </a:solidFill>
              </a:rPr>
              <a:t>Same collection. Same document. Different question.</a:t>
            </a:r>
            <a:endParaRPr lang="en-US" sz="1800" dirty="0"/>
          </a:p>
        </p:txBody>
      </p:sp>
      <p:sp>
        <p:nvSpPr>
          <p:cNvPr id="14" name="label-253"/>
          <p:cNvSpPr txBox="1"/>
          <p:nvPr/>
        </p:nvSpPr>
        <p:spPr>
          <a:xfrm>
            <a:off x="640080" y="5532120"/>
            <a:ext cx="10972800" cy="640080"/>
          </a:xfrm>
          <a:prstGeom prst="rect">
            <a:avLst/>
          </a:prstGeom>
          <a:noFill/>
          <a:ln/>
        </p:spPr>
        <p:txBody>
          <a:bodyPr wrap="square" lIns="0" tIns="0" rIns="0" bIns="0" rtlCol="0" anchor="t"/>
          <a:lstStyle/>
          <a:p>
            <a:pPr algn="l" indent="0" marL="0">
              <a:buNone/>
            </a:pPr>
            <a:r>
              <a:rPr lang="en-US" sz="1500" dirty="0">
                <a:solidFill>
                  <a:schemeClr val="tx2"/>
                </a:solidFill>
              </a:rPr>
              <a:t>A reliable agent needs both: exact operational state, and similarity over messy context — governed by the same rules.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pic>
        <p:nvPicPr>
          <p:cNvPr id="26" name="gif-semantic" descr="semantic.gif"/>
          <p:cNvPicPr>
            <a:picLocks noChangeAspect="1"/>
          </p:cNvPicPr>
          <p:nvPr/>
        </p:nvPicPr>
        <p:blipFill>
          <a:blip r:embed="rId4"/>
          <a:stretch>
            <a:fillRect/>
          </a:stretch>
        </p:blipFill>
        <p:spPr>
          <a:xfrm>
            <a:off x="1754435" y="1371600"/>
            <a:ext cx="8682824" cy="35661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An agent that can act must be explainable</a:t>
            </a:r>
            <a:endParaRPr lang="en-US" sz="3200" dirty="0"/>
          </a:p>
        </p:txBody>
      </p:sp>
      <p:sp>
        <p:nvSpPr>
          <p:cNvPr id="4" name="label-254"/>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3 · Decide what memory means</a:t>
            </a:r>
            <a:endParaRPr lang="en-US" sz="1000" dirty="0"/>
          </a:p>
        </p:txBody>
      </p:sp>
      <p:pic>
        <p:nvPicPr>
          <p:cNvPr id="5" name="qr-255" descr="preencoded.png">    </p:cNvPr>
          <p:cNvPicPr>
            <a:picLocks noChangeAspect="1"/>
          </p:cNvPicPr>
          <p:nvPr/>
        </p:nvPicPr>
        <p:blipFill>
          <a:blip r:embed="rId1"/>
          <a:stretch>
            <a:fillRect/>
          </a:stretch>
        </p:blipFill>
        <p:spPr>
          <a:xfrm>
            <a:off x="10835640" y="274320"/>
            <a:ext cx="868680" cy="868680"/>
          </a:xfrm>
          <a:prstGeom prst="rect">
            <a:avLst/>
          </a:prstGeom>
        </p:spPr>
      </p:pic>
      <p:sp>
        <p:nvSpPr>
          <p:cNvPr id="6" name="label-256"/>
          <p:cNvSpPr txBox="1"/>
          <p:nvPr/>
        </p:nvSpPr>
        <p:spPr>
          <a:xfrm>
            <a:off x="10149840" y="1161288"/>
            <a:ext cx="1554480" cy="228600"/>
          </a:xfrm>
          <a:prstGeom prst="rect">
            <a:avLst/>
          </a:prstGeom>
          <a:noFill/>
          <a:ln/>
        </p:spPr>
        <p:txBody>
          <a:bodyPr wrap="square" lIns="0" tIns="0" rIns="0" bIns="0" rtlCol="0" anchor="t"/>
          <a:lstStyle/>
          <a:p>
            <a:pPr algn="ctr" indent="0" marL="0">
              <a:buNone/>
            </a:pPr>
            <a:r>
              <a:rPr lang="en-US" sz="900" dirty="0">
                <a:solidFill>
                  <a:schemeClr val="tx2"/>
                </a:solidFill>
              </a:rPr>
              <a:t>IDC: the control point</a:t>
            </a:r>
            <a:endParaRPr lang="en-US" sz="900" dirty="0"/>
          </a:p>
        </p:txBody>
      </p:sp>
      <p:sp>
        <p:nvSpPr>
          <p:cNvPr id="15" name="box-265"/>
          <p:cNvSpPr txBox="1"/>
          <p:nvPr/>
        </p:nvSpPr>
        <p:spPr>
          <a:xfrm>
            <a:off x="6675120" y="2377440"/>
            <a:ext cx="4937760" cy="3246120"/>
          </a:xfrm>
          <a:prstGeom prst="roundRect">
            <a:avLst>
              <a:gd name="adj" fmla="val 2254"/>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16" name="label-266"/>
          <p:cNvSpPr txBox="1"/>
          <p:nvPr/>
        </p:nvSpPr>
        <p:spPr>
          <a:xfrm>
            <a:off x="6949440" y="2606040"/>
            <a:ext cx="4389120" cy="1463040"/>
          </a:xfrm>
          <a:prstGeom prst="rect">
            <a:avLst/>
          </a:prstGeom>
          <a:noFill/>
          <a:ln/>
        </p:spPr>
        <p:txBody>
          <a:bodyPr wrap="square" lIns="0" tIns="0" rIns="0" bIns="0" rtlCol="0" anchor="t"/>
          <a:lstStyle/>
          <a:p>
            <a:pPr algn="l" indent="0" marL="0">
              <a:buNone/>
            </a:pPr>
            <a:r>
              <a:rPr lang="en-US" sz="2000" b="1" dirty="0">
                <a:solidFill>
                  <a:schemeClr val="accent1"/>
                </a:solidFill>
              </a:rPr>
              <a:t>If a system can act, it must be able to explain how that action was allowed.</a:t>
            </a:r>
            <a:endParaRPr lang="en-US" sz="2000" dirty="0"/>
          </a:p>
        </p:txBody>
      </p:sp>
      <p:sp>
        <p:nvSpPr>
          <p:cNvPr id="17" name="label-267"/>
          <p:cNvSpPr txBox="1"/>
          <p:nvPr/>
        </p:nvSpPr>
        <p:spPr>
          <a:xfrm>
            <a:off x="6949440" y="4160520"/>
            <a:ext cx="4389120" cy="1280160"/>
          </a:xfrm>
          <a:prstGeom prst="rect">
            <a:avLst/>
          </a:prstGeom>
          <a:noFill/>
          <a:ln/>
        </p:spPr>
        <p:txBody>
          <a:bodyPr wrap="square" lIns="0" tIns="0" rIns="0" bIns="0" rtlCol="0" anchor="t"/>
          <a:lstStyle/>
          <a:p>
            <a:pPr algn="l" indent="0" marL="0">
              <a:buNone/>
            </a:pPr>
            <a:r>
              <a:rPr lang="en-US" sz="1400" dirty="0">
                <a:solidFill>
                  <a:schemeClr val="tx2"/>
                </a:solidFill>
              </a:rPr>
              <a:t>Approval and audit are collections, not settings. The database checks the policy before the action fires — a bad model output can't become a bad action.</a:t>
            </a:r>
            <a:endParaRPr lang="en-US" sz="1400" dirty="0"/>
          </a:p>
        </p:txBody>
      </p:sp>
      <p:sp>
        <p:nvSpPr>
          <p:cNvPr id="18" name="label-268"/>
          <p:cNvSpPr txBox="1"/>
          <p:nvPr/>
        </p:nvSpPr>
        <p:spPr>
          <a:xfrm>
            <a:off x="640080" y="5806440"/>
            <a:ext cx="10972800" cy="457200"/>
          </a:xfrm>
          <a:prstGeom prst="rect">
            <a:avLst/>
          </a:prstGeom>
          <a:noFill/>
          <a:ln/>
        </p:spPr>
        <p:txBody>
          <a:bodyPr wrap="square" lIns="0" tIns="0" rIns="0" bIns="0" rtlCol="0" anchor="t"/>
          <a:lstStyle/>
          <a:p>
            <a:pPr algn="l" indent="0" marL="0">
              <a:buNone/>
            </a:pPr>
            <a:r>
              <a:rPr lang="en-US" sz="1600" i="1" dirty="0">
                <a:solidFill>
                  <a:schemeClr val="accent1"/>
                </a:solidFill>
              </a:rPr>
              <a:t>Guardrails are data too.</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pic>
        <p:nvPicPr>
          <p:cNvPr id="26" name="gif-guardrails-row" descr="guardrails.gif"/>
          <p:cNvPicPr>
            <a:picLocks noChangeAspect="1"/>
          </p:cNvPicPr>
          <p:nvPr/>
        </p:nvPicPr>
        <p:blipFill>
          <a:blip r:embed="rId4"/>
          <a:stretch>
            <a:fillRect/>
          </a:stretch>
        </p:blipFill>
        <p:spPr>
          <a:xfrm>
            <a:off x="609904" y="1325880"/>
            <a:ext cx="10972800" cy="971876"/>
          </a:xfrm>
          <a:prstGeom prst="rect">
            <a:avLst/>
          </a:prstGeom>
        </p:spPr>
      </p:pic>
      <p:pic>
        <p:nvPicPr>
          <p:cNvPr id="27" name="gif-guardrails-doc" descr="guardrails-doc.gif"/>
          <p:cNvPicPr>
            <a:picLocks noChangeAspect="1"/>
          </p:cNvPicPr>
          <p:nvPr/>
        </p:nvPicPr>
        <p:blipFill>
          <a:blip r:embed="rId5"/>
          <a:stretch>
            <a:fillRect/>
          </a:stretch>
        </p:blipFill>
        <p:spPr>
          <a:xfrm>
            <a:off x="640080" y="2423160"/>
            <a:ext cx="5112000" cy="32461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The resolved architecture</a:t>
            </a:r>
            <a:endParaRPr lang="en-US" sz="3200" dirty="0"/>
          </a:p>
        </p:txBody>
      </p:sp>
      <p:sp>
        <p:nvSpPr>
          <p:cNvPr id="29" name="label-294"/>
          <p:cNvSpPr txBox="1"/>
          <p:nvPr/>
        </p:nvSpPr>
        <p:spPr>
          <a:xfrm>
            <a:off x="822960" y="5669280"/>
            <a:ext cx="10789920" cy="457200"/>
          </a:xfrm>
          <a:prstGeom prst="rect">
            <a:avLst/>
          </a:prstGeom>
          <a:noFill/>
          <a:ln/>
        </p:spPr>
        <p:txBody>
          <a:bodyPr wrap="square" lIns="0" tIns="0" rIns="0" bIns="0" rtlCol="0" anchor="t"/>
          <a:lstStyle/>
          <a:p>
            <a:pPr algn="l" indent="0" marL="0">
              <a:buNone/>
            </a:pPr>
            <a:r>
              <a:rPr lang="en-US" sz="1600" i="1" dirty="0">
                <a:solidFill>
                  <a:schemeClr val="accent1"/>
                </a:solidFill>
              </a:rPr>
              <a:t>The difficult part of an agent is not giving it tools. It is giving it reliable state.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pic>
        <p:nvPicPr>
          <p:cNvPr id="30" name="gif-resolved" descr="resolved.gif"/>
          <p:cNvPicPr>
            <a:picLocks noChangeAspect="1"/>
          </p:cNvPicPr>
          <p:nvPr/>
        </p:nvPicPr>
        <p:blipFill>
          <a:blip r:embed="rId3"/>
          <a:stretch>
            <a:fillRect/>
          </a:stretch>
        </p:blipFill>
        <p:spPr>
          <a:xfrm>
            <a:off x="1487271" y="1417320"/>
            <a:ext cx="9217152" cy="4114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What to take back</a:t>
            </a:r>
            <a:endParaRPr lang="en-US" sz="3200" dirty="0"/>
          </a:p>
        </p:txBody>
      </p:sp>
      <p:sp>
        <p:nvSpPr>
          <p:cNvPr id="4" name="box-295"/>
          <p:cNvSpPr txBox="1"/>
          <p:nvPr/>
        </p:nvSpPr>
        <p:spPr>
          <a:xfrm>
            <a:off x="640080" y="1463040"/>
            <a:ext cx="5349240" cy="2011680"/>
          </a:xfrm>
          <a:prstGeom prst="roundRect">
            <a:avLst>
              <a:gd name="adj" fmla="val 3636"/>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5" name="label-296"/>
          <p:cNvSpPr txBox="1"/>
          <p:nvPr/>
        </p:nvSpPr>
        <p:spPr>
          <a:xfrm>
            <a:off x="914400" y="1691640"/>
            <a:ext cx="4754880" cy="457200"/>
          </a:xfrm>
          <a:prstGeom prst="rect">
            <a:avLst/>
          </a:prstGeom>
          <a:noFill/>
          <a:ln/>
        </p:spPr>
        <p:txBody>
          <a:bodyPr wrap="square" lIns="0" tIns="0" rIns="0" bIns="0" rtlCol="0" anchor="t"/>
          <a:lstStyle/>
          <a:p>
            <a:pPr algn="l" indent="0" marL="0">
              <a:buNone/>
            </a:pPr>
            <a:r>
              <a:rPr lang="en-US" sz="2000" b="1" dirty="0">
                <a:solidFill>
                  <a:schemeClr val="tx1"/>
                </a:solidFill>
              </a:rPr>
              <a:t>Developer</a:t>
            </a:r>
            <a:endParaRPr lang="en-US" sz="2000" dirty="0"/>
          </a:p>
        </p:txBody>
      </p:sp>
      <p:sp>
        <p:nvSpPr>
          <p:cNvPr id="6" name="label-297"/>
          <p:cNvSpPr txBox="1"/>
          <p:nvPr/>
        </p:nvSpPr>
        <p:spPr>
          <a:xfrm>
            <a:off x="914400" y="2194560"/>
            <a:ext cx="4754880" cy="1188720"/>
          </a:xfrm>
          <a:prstGeom prst="rect">
            <a:avLst/>
          </a:prstGeom>
          <a:noFill/>
          <a:ln/>
        </p:spPr>
        <p:txBody>
          <a:bodyPr wrap="square" lIns="0" tIns="0" rIns="0" bIns="0" rtlCol="0" anchor="t"/>
          <a:lstStyle/>
          <a:p>
            <a:pPr algn="l" indent="0" marL="0">
              <a:buNone/>
            </a:pPr>
            <a:r>
              <a:rPr lang="en-US" sz="1500" dirty="0">
                <a:solidFill>
                  <a:schemeClr val="tx2"/>
                </a:solidFill>
              </a:rPr>
              <a:t>Give every workflow a document and a thread ID. Replace your polling loop with a change stream this week.</a:t>
            </a:r>
            <a:endParaRPr lang="en-US" sz="1500" dirty="0"/>
          </a:p>
        </p:txBody>
      </p:sp>
      <p:sp>
        <p:nvSpPr>
          <p:cNvPr id="7" name="box-298"/>
          <p:cNvSpPr txBox="1"/>
          <p:nvPr/>
        </p:nvSpPr>
        <p:spPr>
          <a:xfrm>
            <a:off x="6217920" y="1463040"/>
            <a:ext cx="5349240" cy="2011680"/>
          </a:xfrm>
          <a:prstGeom prst="roundRect">
            <a:avLst>
              <a:gd name="adj" fmla="val 3636"/>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8" name="label-299"/>
          <p:cNvSpPr txBox="1"/>
          <p:nvPr/>
        </p:nvSpPr>
        <p:spPr>
          <a:xfrm>
            <a:off x="6492240" y="1691640"/>
            <a:ext cx="4754880" cy="457200"/>
          </a:xfrm>
          <a:prstGeom prst="rect">
            <a:avLst/>
          </a:prstGeom>
          <a:noFill/>
          <a:ln/>
        </p:spPr>
        <p:txBody>
          <a:bodyPr wrap="square" lIns="0" tIns="0" rIns="0" bIns="0" rtlCol="0" anchor="t"/>
          <a:lstStyle/>
          <a:p>
            <a:pPr algn="l" indent="0" marL="0">
              <a:buNone/>
            </a:pPr>
            <a:r>
              <a:rPr lang="en-US" sz="2000" b="1" dirty="0">
                <a:solidFill>
                  <a:schemeClr val="tx1"/>
                </a:solidFill>
              </a:rPr>
              <a:t>Architect</a:t>
            </a:r>
            <a:endParaRPr lang="en-US" sz="2000" dirty="0"/>
          </a:p>
        </p:txBody>
      </p:sp>
      <p:sp>
        <p:nvSpPr>
          <p:cNvPr id="9" name="label-300"/>
          <p:cNvSpPr txBox="1"/>
          <p:nvPr/>
        </p:nvSpPr>
        <p:spPr>
          <a:xfrm>
            <a:off x="6492240" y="2194560"/>
            <a:ext cx="4754880" cy="1188720"/>
          </a:xfrm>
          <a:prstGeom prst="rect">
            <a:avLst/>
          </a:prstGeom>
          <a:noFill/>
          <a:ln/>
        </p:spPr>
        <p:txBody>
          <a:bodyPr wrap="square" lIns="0" tIns="0" rIns="0" bIns="0" rtlCol="0" anchor="t"/>
          <a:lstStyle/>
          <a:p>
            <a:pPr algn="l" indent="0" marL="0">
              <a:buNone/>
            </a:pPr>
            <a:r>
              <a:rPr lang="en-US" sz="1500" dirty="0">
                <a:solidFill>
                  <a:schemeClr val="tx2"/>
                </a:solidFill>
              </a:rPr>
              <a:t>Put a state layer between tools and the world. Decide embed vs reference by read pattern, not by habit.</a:t>
            </a:r>
            <a:endParaRPr lang="en-US" sz="1500" dirty="0"/>
          </a:p>
        </p:txBody>
      </p:sp>
      <p:sp>
        <p:nvSpPr>
          <p:cNvPr id="10" name="box-301"/>
          <p:cNvSpPr txBox="1"/>
          <p:nvPr/>
        </p:nvSpPr>
        <p:spPr>
          <a:xfrm>
            <a:off x="640080" y="3703320"/>
            <a:ext cx="5349240" cy="2011680"/>
          </a:xfrm>
          <a:prstGeom prst="roundRect">
            <a:avLst>
              <a:gd name="adj" fmla="val 3636"/>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11" name="label-302"/>
          <p:cNvSpPr txBox="1"/>
          <p:nvPr/>
        </p:nvSpPr>
        <p:spPr>
          <a:xfrm>
            <a:off x="914400" y="3931920"/>
            <a:ext cx="4754880" cy="457200"/>
          </a:xfrm>
          <a:prstGeom prst="rect">
            <a:avLst/>
          </a:prstGeom>
          <a:noFill/>
          <a:ln/>
        </p:spPr>
        <p:txBody>
          <a:bodyPr wrap="square" lIns="0" tIns="0" rIns="0" bIns="0" rtlCol="0" anchor="t"/>
          <a:lstStyle/>
          <a:p>
            <a:pPr algn="l" indent="0" marL="0">
              <a:buNone/>
            </a:pPr>
            <a:r>
              <a:rPr lang="en-US" sz="2000" b="1" dirty="0">
                <a:solidFill>
                  <a:schemeClr val="tx1"/>
                </a:solidFill>
              </a:rPr>
              <a:t>Data / platform lead</a:t>
            </a:r>
            <a:endParaRPr lang="en-US" sz="2000" dirty="0"/>
          </a:p>
        </p:txBody>
      </p:sp>
      <p:sp>
        <p:nvSpPr>
          <p:cNvPr id="12" name="label-303"/>
          <p:cNvSpPr txBox="1"/>
          <p:nvPr/>
        </p:nvSpPr>
        <p:spPr>
          <a:xfrm>
            <a:off x="914400" y="4434840"/>
            <a:ext cx="4754880" cy="1188720"/>
          </a:xfrm>
          <a:prstGeom prst="rect">
            <a:avLst/>
          </a:prstGeom>
          <a:noFill/>
          <a:ln/>
        </p:spPr>
        <p:txBody>
          <a:bodyPr wrap="square" lIns="0" tIns="0" rIns="0" bIns="0" rtlCol="0" anchor="t"/>
          <a:lstStyle/>
          <a:p>
            <a:pPr algn="l" indent="0" marL="0">
              <a:buNone/>
            </a:pPr>
            <a:r>
              <a:rPr lang="en-US" sz="1500" dirty="0">
                <a:solidFill>
                  <a:schemeClr val="tx2"/>
                </a:solidFill>
              </a:rPr>
              <a:t>Index from the query log. Make lifetimes a schema decision with TTL. Keep audit and approvals out of the expiry list.</a:t>
            </a:r>
            <a:endParaRPr lang="en-US" sz="1500" dirty="0"/>
          </a:p>
        </p:txBody>
      </p:sp>
      <p:sp>
        <p:nvSpPr>
          <p:cNvPr id="13" name="box-304"/>
          <p:cNvSpPr txBox="1"/>
          <p:nvPr/>
        </p:nvSpPr>
        <p:spPr>
          <a:xfrm>
            <a:off x="6217920" y="3703320"/>
            <a:ext cx="5349240" cy="2011680"/>
          </a:xfrm>
          <a:prstGeom prst="roundRect">
            <a:avLst>
              <a:gd name="adj" fmla="val 3636"/>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14" name="label-305"/>
          <p:cNvSpPr txBox="1"/>
          <p:nvPr/>
        </p:nvSpPr>
        <p:spPr>
          <a:xfrm>
            <a:off x="6492240" y="3931920"/>
            <a:ext cx="4754880" cy="457200"/>
          </a:xfrm>
          <a:prstGeom prst="rect">
            <a:avLst/>
          </a:prstGeom>
          <a:noFill/>
          <a:ln/>
        </p:spPr>
        <p:txBody>
          <a:bodyPr wrap="square" lIns="0" tIns="0" rIns="0" bIns="0" rtlCol="0" anchor="t"/>
          <a:lstStyle/>
          <a:p>
            <a:pPr algn="l" indent="0" marL="0">
              <a:buNone/>
            </a:pPr>
            <a:r>
              <a:rPr lang="en-US" sz="2000" b="1" dirty="0">
                <a:solidFill>
                  <a:schemeClr val="tx1"/>
                </a:solidFill>
              </a:rPr>
              <a:t>Product / engineering manager</a:t>
            </a:r>
            <a:endParaRPr lang="en-US" sz="2000" dirty="0"/>
          </a:p>
        </p:txBody>
      </p:sp>
      <p:sp>
        <p:nvSpPr>
          <p:cNvPr id="15" name="label-306"/>
          <p:cNvSpPr txBox="1"/>
          <p:nvPr/>
        </p:nvSpPr>
        <p:spPr>
          <a:xfrm>
            <a:off x="6492240" y="4434840"/>
            <a:ext cx="4754880" cy="1188720"/>
          </a:xfrm>
          <a:prstGeom prst="rect">
            <a:avLst/>
          </a:prstGeom>
          <a:noFill/>
          <a:ln/>
        </p:spPr>
        <p:txBody>
          <a:bodyPr wrap="square" lIns="0" tIns="0" rIns="0" bIns="0" rtlCol="0" anchor="t"/>
          <a:lstStyle/>
          <a:p>
            <a:pPr algn="l" indent="0" marL="0">
              <a:buNone/>
            </a:pPr>
            <a:r>
              <a:rPr lang="en-US" sz="1500" dirty="0">
                <a:solidFill>
                  <a:schemeClr val="tx2"/>
                </a:solidFill>
              </a:rPr>
              <a:t>Ask one question of any agent project: can it explain what it did? If the answer isn't a collection, it isn't ready.</a:t>
            </a:r>
            <a:endParaRPr lang="en-US" sz="1500" dirty="0"/>
          </a:p>
        </p:txBody>
      </p:sp>
      <p:sp>
        <p:nvSpPr>
          <p:cNvPr id="16" name="label-307"/>
          <p:cNvSpPr txBox="1"/>
          <p:nvPr/>
        </p:nvSpPr>
        <p:spPr>
          <a:xfrm>
            <a:off x="640080" y="5989320"/>
            <a:ext cx="10972800" cy="365760"/>
          </a:xfrm>
          <a:prstGeom prst="rect">
            <a:avLst/>
          </a:prstGeom>
          <a:noFill/>
          <a:ln/>
        </p:spPr>
        <p:txBody>
          <a:bodyPr wrap="square" lIns="0" tIns="0" rIns="0" bIns="0" rtlCol="0" anchor="t"/>
          <a:lstStyle/>
          <a:p>
            <a:pPr algn="l" indent="0" marL="0">
              <a:buNone/>
            </a:pPr>
            <a:r>
              <a:rPr lang="en-US" sz="1300" i="1" dirty="0">
                <a:solidFill>
                  <a:schemeClr val="accent1"/>
                </a:solidFill>
              </a:rPr>
              <a:t>Back to your chat answers: which of these is yours?</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822960" y="1188720"/>
            <a:ext cx="10515600" cy="1645920"/>
          </a:xfrm>
          <a:prstGeom prst="rect">
            <a:avLst/>
          </a:prstGeom>
          <a:noFill/>
          <a:ln/>
        </p:spPr>
        <p:txBody>
          <a:bodyPr wrap="square" lIns="0" tIns="0" rIns="0" bIns="0" rtlCol="0" anchor="b"/>
          <a:lstStyle/>
          <a:p>
            <a:pPr algn="l" indent="0" marL="0">
              <a:buNone/>
            </a:pPr>
            <a:r>
              <a:rPr lang="en-US" sz="4000" b="1" dirty="0">
                <a:solidFill>
                  <a:srgbClr val="FFFFFF"/>
                </a:solidFill>
              </a:rPr>
              <a:t>Three things I want you to remember</a:t>
            </a:r>
            <a:endParaRPr lang="en-US" sz="4000" dirty="0"/>
          </a:p>
        </p:txBody>
      </p:sp>
      <p:pic>
        <p:nvPicPr>
          <p:cNvPr id="3" name="gif-three" descr="three.gif"/>
          <p:cNvPicPr>
            <a:picLocks noChangeAspect="1"/>
          </p:cNvPicPr>
          <p:nvPr/>
        </p:nvPicPr>
        <p:blipFill>
          <a:blip r:embed="rId3"/>
          <a:stretch>
            <a:fillRect/>
          </a:stretch>
        </p:blipFill>
        <p:spPr>
          <a:xfrm>
            <a:off x="2904135" y="3017520"/>
            <a:ext cx="6383730" cy="35204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Where to go next</a:t>
            </a:r>
            <a:endParaRPr lang="en-US" sz="3200" dirty="0"/>
          </a:p>
        </p:txBody>
      </p:sp>
      <p:sp>
        <p:nvSpPr>
          <p:cNvPr id="4" name="box-308"/>
          <p:cNvSpPr txBox="1"/>
          <p:nvPr/>
        </p:nvSpPr>
        <p:spPr>
          <a:xfrm>
            <a:off x="457200" y="1417320"/>
            <a:ext cx="2697480" cy="4709160"/>
          </a:xfrm>
          <a:prstGeom prst="roundRect">
            <a:avLst>
              <a:gd name="adj" fmla="val 2712"/>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5" name="label-309"/>
          <p:cNvSpPr txBox="1"/>
          <p:nvPr/>
        </p:nvSpPr>
        <p:spPr>
          <a:xfrm>
            <a:off x="658368" y="1600200"/>
            <a:ext cx="2286000" cy="457200"/>
          </a:xfrm>
          <a:prstGeom prst="rect">
            <a:avLst/>
          </a:prstGeom>
          <a:noFill/>
          <a:ln/>
        </p:spPr>
        <p:txBody>
          <a:bodyPr wrap="square" lIns="0" tIns="0" rIns="0" bIns="0" rtlCol="0" anchor="t"/>
          <a:lstStyle/>
          <a:p>
            <a:pPr algn="l" indent="0" marL="0">
              <a:buNone/>
            </a:pPr>
            <a:r>
              <a:rPr lang="en-US" sz="2100" b="1" dirty="0">
                <a:solidFill>
                  <a:schemeClr val="tx1"/>
                </a:solidFill>
              </a:rPr>
              <a:t>Learn</a:t>
            </a:r>
            <a:endParaRPr lang="en-US" sz="2100" dirty="0"/>
          </a:p>
        </p:txBody>
      </p:sp>
      <p:sp>
        <p:nvSpPr>
          <p:cNvPr id="6" name="label-310"/>
          <p:cNvSpPr txBox="1"/>
          <p:nvPr/>
        </p:nvSpPr>
        <p:spPr>
          <a:xfrm>
            <a:off x="658368" y="2029968"/>
            <a:ext cx="2286000" cy="365760"/>
          </a:xfrm>
          <a:prstGeom prst="rect">
            <a:avLst/>
          </a:prstGeom>
          <a:noFill/>
          <a:ln/>
        </p:spPr>
        <p:txBody>
          <a:bodyPr wrap="square" lIns="0" tIns="0" rIns="0" bIns="0" rtlCol="0" anchor="t"/>
          <a:lstStyle/>
          <a:p>
            <a:pPr algn="l" indent="0" marL="0">
              <a:buNone/>
            </a:pPr>
            <a:r>
              <a:rPr lang="en-US" sz="1200" i="1" dirty="0">
                <a:solidFill>
                  <a:schemeClr val="accent1"/>
                </a:solidFill>
              </a:rPr>
              <a:t>Badges and books</a:t>
            </a:r>
            <a:endParaRPr lang="en-US" sz="1200" dirty="0"/>
          </a:p>
        </p:txBody>
      </p:sp>
      <p:sp>
        <p:nvSpPr>
          <p:cNvPr id="7" name="dot-311"/>
          <p:cNvSpPr/>
          <p:nvPr/>
        </p:nvSpPr>
        <p:spPr>
          <a:xfrm>
            <a:off x="676656" y="2542032"/>
            <a:ext cx="146304" cy="146304"/>
          </a:xfrm>
          <a:prstGeom prst="ellipse">
            <a:avLst/>
          </a:prstGeom>
          <a:solidFill>
            <a:schemeClr val="accent2"/>
          </a:solidFill>
          <a:ln w="12700">
            <a:solidFill>
              <a:schemeClr val="accent2"/>
            </a:solidFill>
            <a:prstDash val="solid"/>
          </a:ln>
        </p:spPr>
      </p:sp>
      <p:sp>
        <p:nvSpPr>
          <p:cNvPr id="8" name="label-312"/>
          <p:cNvSpPr txBox="1"/>
          <p:nvPr/>
        </p:nvSpPr>
        <p:spPr>
          <a:xfrm>
            <a:off x="914400" y="2450592"/>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Skill Badges: Building AI Agents with MongoDB, Schema Design Patterns</a:t>
            </a:r>
            <a:endParaRPr lang="en-US" sz="1150" dirty="0"/>
          </a:p>
        </p:txBody>
      </p:sp>
      <p:sp>
        <p:nvSpPr>
          <p:cNvPr id="9" name="dot-313"/>
          <p:cNvSpPr/>
          <p:nvPr/>
        </p:nvSpPr>
        <p:spPr>
          <a:xfrm>
            <a:off x="676656" y="3108960"/>
            <a:ext cx="146304" cy="146304"/>
          </a:xfrm>
          <a:prstGeom prst="ellipse">
            <a:avLst/>
          </a:prstGeom>
          <a:solidFill>
            <a:schemeClr val="accent2"/>
          </a:solidFill>
          <a:ln w="12700">
            <a:solidFill>
              <a:schemeClr val="accent2"/>
            </a:solidFill>
            <a:prstDash val="solid"/>
          </a:ln>
        </p:spPr>
      </p:sp>
      <p:sp>
        <p:nvSpPr>
          <p:cNvPr id="10" name="label-314"/>
          <p:cNvSpPr txBox="1"/>
          <p:nvPr/>
        </p:nvSpPr>
        <p:spPr>
          <a:xfrm>
            <a:off x="914400" y="3017520"/>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Book: From Systems of Record to Agentic Systems of Action (Packt, 2026)</a:t>
            </a:r>
            <a:endParaRPr lang="en-US" sz="1150" dirty="0"/>
          </a:p>
        </p:txBody>
      </p:sp>
      <p:sp>
        <p:nvSpPr>
          <p:cNvPr id="11" name="dot-315"/>
          <p:cNvSpPr/>
          <p:nvPr/>
        </p:nvSpPr>
        <p:spPr>
          <a:xfrm>
            <a:off x="676656" y="3675888"/>
            <a:ext cx="146304" cy="146304"/>
          </a:xfrm>
          <a:prstGeom prst="ellipse">
            <a:avLst/>
          </a:prstGeom>
          <a:solidFill>
            <a:schemeClr val="accent2"/>
          </a:solidFill>
          <a:ln w="12700">
            <a:solidFill>
              <a:schemeClr val="accent2"/>
            </a:solidFill>
            <a:prstDash val="solid"/>
          </a:ln>
        </p:spPr>
      </p:sp>
      <p:sp>
        <p:nvSpPr>
          <p:cNvPr id="12" name="label-316"/>
          <p:cNvSpPr txBox="1"/>
          <p:nvPr/>
        </p:nvSpPr>
        <p:spPr>
          <a:xfrm>
            <a:off x="914400" y="3584448"/>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The Official MongoDB Guide</a:t>
            </a:r>
            <a:endParaRPr lang="en-US" sz="1150" dirty="0"/>
          </a:p>
        </p:txBody>
      </p:sp>
      <p:pic>
        <p:nvPicPr>
          <p:cNvPr id="13" name="qr-317" descr="preencoded.png">    </p:cNvPr>
          <p:cNvPicPr>
            <a:picLocks noChangeAspect="1"/>
          </p:cNvPicPr>
          <p:nvPr/>
        </p:nvPicPr>
        <p:blipFill>
          <a:blip r:embed="rId1"/>
          <a:stretch>
            <a:fillRect/>
          </a:stretch>
        </p:blipFill>
        <p:spPr>
          <a:xfrm>
            <a:off x="1234440" y="4343400"/>
            <a:ext cx="1143000" cy="1143000"/>
          </a:xfrm>
          <a:prstGeom prst="rect">
            <a:avLst/>
          </a:prstGeom>
        </p:spPr>
      </p:pic>
      <p:sp>
        <p:nvSpPr>
          <p:cNvPr id="14" name="label-318"/>
          <p:cNvSpPr txBox="1"/>
          <p:nvPr/>
        </p:nvSpPr>
        <p:spPr>
          <a:xfrm>
            <a:off x="594360" y="5577840"/>
            <a:ext cx="2423160" cy="457200"/>
          </a:xfrm>
          <a:prstGeom prst="rect">
            <a:avLst/>
          </a:prstGeom>
          <a:noFill/>
          <a:ln/>
        </p:spPr>
        <p:txBody>
          <a:bodyPr wrap="square" lIns="0" tIns="0" rIns="0" bIns="0" rtlCol="0" anchor="t"/>
          <a:lstStyle/>
          <a:p>
            <a:pPr algn="ctr" indent="0" marL="0">
              <a:buNone/>
            </a:pPr>
            <a:r>
              <a:rPr lang="en-US" sz="950" dirty="0">
                <a:solidFill>
                  <a:schemeClr val="accent1"/>
                </a:solidFill>
              </a:rPr>
              <a:t>learn.mongodb.com/skills · mongodb.com/books</a:t>
            </a:r>
            <a:endParaRPr lang="en-US" sz="950" dirty="0"/>
          </a:p>
        </p:txBody>
      </p:sp>
      <p:sp>
        <p:nvSpPr>
          <p:cNvPr id="15" name="box-319"/>
          <p:cNvSpPr txBox="1"/>
          <p:nvPr/>
        </p:nvSpPr>
        <p:spPr>
          <a:xfrm>
            <a:off x="3291840" y="1417320"/>
            <a:ext cx="2697480" cy="4709160"/>
          </a:xfrm>
          <a:prstGeom prst="roundRect">
            <a:avLst>
              <a:gd name="adj" fmla="val 2712"/>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16" name="label-320"/>
          <p:cNvSpPr txBox="1"/>
          <p:nvPr/>
        </p:nvSpPr>
        <p:spPr>
          <a:xfrm>
            <a:off x="3493008" y="1600200"/>
            <a:ext cx="2286000" cy="457200"/>
          </a:xfrm>
          <a:prstGeom prst="rect">
            <a:avLst/>
          </a:prstGeom>
          <a:noFill/>
          <a:ln/>
        </p:spPr>
        <p:txBody>
          <a:bodyPr wrap="square" lIns="0" tIns="0" rIns="0" bIns="0" rtlCol="0" anchor="t"/>
          <a:lstStyle/>
          <a:p>
            <a:pPr algn="l" indent="0" marL="0">
              <a:buNone/>
            </a:pPr>
            <a:r>
              <a:rPr lang="en-US" sz="2100" b="1" dirty="0">
                <a:solidFill>
                  <a:schemeClr val="tx1"/>
                </a:solidFill>
              </a:rPr>
              <a:t>Ask</a:t>
            </a:r>
            <a:endParaRPr lang="en-US" sz="2100" dirty="0"/>
          </a:p>
        </p:txBody>
      </p:sp>
      <p:sp>
        <p:nvSpPr>
          <p:cNvPr id="17" name="label-321"/>
          <p:cNvSpPr txBox="1"/>
          <p:nvPr/>
        </p:nvSpPr>
        <p:spPr>
          <a:xfrm>
            <a:off x="3493008" y="2029968"/>
            <a:ext cx="2286000" cy="365760"/>
          </a:xfrm>
          <a:prstGeom prst="rect">
            <a:avLst/>
          </a:prstGeom>
          <a:noFill/>
          <a:ln/>
        </p:spPr>
        <p:txBody>
          <a:bodyPr wrap="square" lIns="0" tIns="0" rIns="0" bIns="0" rtlCol="0" anchor="t"/>
          <a:lstStyle/>
          <a:p>
            <a:pPr algn="l" indent="0" marL="0">
              <a:buNone/>
            </a:pPr>
            <a:r>
              <a:rPr lang="en-US" sz="1200" i="1" dirty="0">
                <a:solidFill>
                  <a:schemeClr val="accent1"/>
                </a:solidFill>
              </a:rPr>
              <a:t>Answered directly</a:t>
            </a:r>
            <a:endParaRPr lang="en-US" sz="1200" dirty="0"/>
          </a:p>
        </p:txBody>
      </p:sp>
      <p:sp>
        <p:nvSpPr>
          <p:cNvPr id="18" name="dot-322"/>
          <p:cNvSpPr/>
          <p:nvPr/>
        </p:nvSpPr>
        <p:spPr>
          <a:xfrm>
            <a:off x="3511296" y="2542032"/>
            <a:ext cx="146304" cy="146304"/>
          </a:xfrm>
          <a:prstGeom prst="ellipse">
            <a:avLst/>
          </a:prstGeom>
          <a:solidFill>
            <a:schemeClr val="accent2"/>
          </a:solidFill>
          <a:ln w="12700">
            <a:solidFill>
              <a:schemeClr val="accent2"/>
            </a:solidFill>
            <a:prstDash val="solid"/>
          </a:ln>
        </p:spPr>
      </p:sp>
      <p:sp>
        <p:nvSpPr>
          <p:cNvPr id="19" name="label-323"/>
          <p:cNvSpPr txBox="1"/>
          <p:nvPr/>
        </p:nvSpPr>
        <p:spPr>
          <a:xfrm>
            <a:off x="3749040" y="2450592"/>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Community Forums — engineers answer</a:t>
            </a:r>
            <a:endParaRPr lang="en-US" sz="1150" dirty="0"/>
          </a:p>
        </p:txBody>
      </p:sp>
      <p:sp>
        <p:nvSpPr>
          <p:cNvPr id="20" name="dot-324"/>
          <p:cNvSpPr/>
          <p:nvPr/>
        </p:nvSpPr>
        <p:spPr>
          <a:xfrm>
            <a:off x="3511296" y="3108960"/>
            <a:ext cx="146304" cy="146304"/>
          </a:xfrm>
          <a:prstGeom prst="ellipse">
            <a:avLst/>
          </a:prstGeom>
          <a:solidFill>
            <a:schemeClr val="accent2"/>
          </a:solidFill>
          <a:ln w="12700">
            <a:solidFill>
              <a:schemeClr val="accent2"/>
            </a:solidFill>
            <a:prstDash val="solid"/>
          </a:ln>
        </p:spPr>
      </p:sp>
      <p:sp>
        <p:nvSpPr>
          <p:cNvPr id="21" name="label-325"/>
          <p:cNvSpPr txBox="1"/>
          <p:nvPr/>
        </p:nvSpPr>
        <p:spPr>
          <a:xfrm>
            <a:off x="3749040" y="3017520"/>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Docs, and the docs assistant</a:t>
            </a:r>
            <a:endParaRPr lang="en-US" sz="1150" dirty="0"/>
          </a:p>
        </p:txBody>
      </p:sp>
      <p:sp>
        <p:nvSpPr>
          <p:cNvPr id="22" name="dot-326"/>
          <p:cNvSpPr/>
          <p:nvPr/>
        </p:nvSpPr>
        <p:spPr>
          <a:xfrm>
            <a:off x="3511296" y="3675888"/>
            <a:ext cx="146304" cy="146304"/>
          </a:xfrm>
          <a:prstGeom prst="ellipse">
            <a:avLst/>
          </a:prstGeom>
          <a:solidFill>
            <a:schemeClr val="accent2"/>
          </a:solidFill>
          <a:ln w="12700">
            <a:solidFill>
              <a:schemeClr val="accent2"/>
            </a:solidFill>
            <a:prstDash val="solid"/>
          </a:ln>
        </p:spPr>
      </p:sp>
      <p:sp>
        <p:nvSpPr>
          <p:cNvPr id="23" name="label-327"/>
          <p:cNvSpPr txBox="1"/>
          <p:nvPr/>
        </p:nvSpPr>
        <p:spPr>
          <a:xfrm>
            <a:off x="3749040" y="3584448"/>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The four doc pages behind this talk (corner QRs)</a:t>
            </a:r>
            <a:endParaRPr lang="en-US" sz="1150" dirty="0"/>
          </a:p>
        </p:txBody>
      </p:sp>
      <p:pic>
        <p:nvPicPr>
          <p:cNvPr id="24" name="qr-328" descr="preencoded.png">    </p:cNvPr>
          <p:cNvPicPr>
            <a:picLocks noChangeAspect="1"/>
          </p:cNvPicPr>
          <p:nvPr/>
        </p:nvPicPr>
        <p:blipFill>
          <a:blip r:embed="rId2"/>
          <a:stretch>
            <a:fillRect/>
          </a:stretch>
        </p:blipFill>
        <p:spPr>
          <a:xfrm>
            <a:off x="4069080" y="4343400"/>
            <a:ext cx="1143000" cy="1143000"/>
          </a:xfrm>
          <a:prstGeom prst="rect">
            <a:avLst/>
          </a:prstGeom>
        </p:spPr>
      </p:pic>
      <p:sp>
        <p:nvSpPr>
          <p:cNvPr id="25" name="label-329"/>
          <p:cNvSpPr txBox="1"/>
          <p:nvPr/>
        </p:nvSpPr>
        <p:spPr>
          <a:xfrm>
            <a:off x="3429000" y="5577840"/>
            <a:ext cx="2423160" cy="457200"/>
          </a:xfrm>
          <a:prstGeom prst="rect">
            <a:avLst/>
          </a:prstGeom>
          <a:noFill/>
          <a:ln/>
        </p:spPr>
        <p:txBody>
          <a:bodyPr wrap="square" lIns="0" tIns="0" rIns="0" bIns="0" rtlCol="0" anchor="t"/>
          <a:lstStyle/>
          <a:p>
            <a:pPr algn="ctr" indent="0" marL="0">
              <a:buNone/>
            </a:pPr>
            <a:r>
              <a:rPr lang="en-US" sz="950" dirty="0">
                <a:solidFill>
                  <a:schemeClr val="accent1"/>
                </a:solidFill>
              </a:rPr>
              <a:t>mongodb.com/community/forums</a:t>
            </a:r>
            <a:endParaRPr lang="en-US" sz="950" dirty="0"/>
          </a:p>
        </p:txBody>
      </p:sp>
      <p:sp>
        <p:nvSpPr>
          <p:cNvPr id="26" name="box-330"/>
          <p:cNvSpPr txBox="1"/>
          <p:nvPr/>
        </p:nvSpPr>
        <p:spPr>
          <a:xfrm>
            <a:off x="6126480" y="1417320"/>
            <a:ext cx="2697480" cy="4709160"/>
          </a:xfrm>
          <a:prstGeom prst="roundRect">
            <a:avLst>
              <a:gd name="adj" fmla="val 2712"/>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27" name="label-331"/>
          <p:cNvSpPr txBox="1"/>
          <p:nvPr/>
        </p:nvSpPr>
        <p:spPr>
          <a:xfrm>
            <a:off x="6327648" y="1600200"/>
            <a:ext cx="2286000" cy="457200"/>
          </a:xfrm>
          <a:prstGeom prst="rect">
            <a:avLst/>
          </a:prstGeom>
          <a:noFill/>
          <a:ln/>
        </p:spPr>
        <p:txBody>
          <a:bodyPr wrap="square" lIns="0" tIns="0" rIns="0" bIns="0" rtlCol="0" anchor="t"/>
          <a:lstStyle/>
          <a:p>
            <a:pPr algn="l" indent="0" marL="0">
              <a:buNone/>
            </a:pPr>
            <a:r>
              <a:rPr lang="en-US" sz="2100" b="1" dirty="0">
                <a:solidFill>
                  <a:schemeClr val="tx1"/>
                </a:solidFill>
              </a:rPr>
              <a:t>Build</a:t>
            </a:r>
            <a:endParaRPr lang="en-US" sz="2100" dirty="0"/>
          </a:p>
        </p:txBody>
      </p:sp>
      <p:sp>
        <p:nvSpPr>
          <p:cNvPr id="28" name="label-332"/>
          <p:cNvSpPr txBox="1"/>
          <p:nvPr/>
        </p:nvSpPr>
        <p:spPr>
          <a:xfrm>
            <a:off x="6327648" y="2029968"/>
            <a:ext cx="2286000" cy="365760"/>
          </a:xfrm>
          <a:prstGeom prst="rect">
            <a:avLst/>
          </a:prstGeom>
          <a:noFill/>
          <a:ln/>
        </p:spPr>
        <p:txBody>
          <a:bodyPr wrap="square" lIns="0" tIns="0" rIns="0" bIns="0" rtlCol="0" anchor="t"/>
          <a:lstStyle/>
          <a:p>
            <a:pPr algn="l" indent="0" marL="0">
              <a:buNone/>
            </a:pPr>
            <a:r>
              <a:rPr lang="en-US" sz="1200" i="1" dirty="0">
                <a:solidFill>
                  <a:schemeClr val="accent1"/>
                </a:solidFill>
              </a:rPr>
              <a:t>Give your coding agent the skills</a:t>
            </a:r>
            <a:endParaRPr lang="en-US" sz="1200" dirty="0"/>
          </a:p>
        </p:txBody>
      </p:sp>
      <p:sp>
        <p:nvSpPr>
          <p:cNvPr id="29" name="dot-333"/>
          <p:cNvSpPr/>
          <p:nvPr/>
        </p:nvSpPr>
        <p:spPr>
          <a:xfrm>
            <a:off x="6345936" y="2542032"/>
            <a:ext cx="146304" cy="146304"/>
          </a:xfrm>
          <a:prstGeom prst="ellipse">
            <a:avLst/>
          </a:prstGeom>
          <a:solidFill>
            <a:schemeClr val="accent2"/>
          </a:solidFill>
          <a:ln w="12700">
            <a:solidFill>
              <a:schemeClr val="accent2"/>
            </a:solidFill>
            <a:prstDash val="solid"/>
          </a:ln>
        </p:spPr>
      </p:sp>
      <p:sp>
        <p:nvSpPr>
          <p:cNvPr id="30" name="label-334"/>
          <p:cNvSpPr txBox="1"/>
          <p:nvPr/>
        </p:nvSpPr>
        <p:spPr>
          <a:xfrm>
            <a:off x="6583680" y="2450592"/>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MongoDB Agent Skills: schema design, query optimizer, MCP setup</a:t>
            </a:r>
            <a:endParaRPr lang="en-US" sz="1150" dirty="0"/>
          </a:p>
        </p:txBody>
      </p:sp>
      <p:sp>
        <p:nvSpPr>
          <p:cNvPr id="31" name="dot-335"/>
          <p:cNvSpPr/>
          <p:nvPr/>
        </p:nvSpPr>
        <p:spPr>
          <a:xfrm>
            <a:off x="6345936" y="3108960"/>
            <a:ext cx="146304" cy="146304"/>
          </a:xfrm>
          <a:prstGeom prst="ellipse">
            <a:avLst/>
          </a:prstGeom>
          <a:solidFill>
            <a:schemeClr val="accent2"/>
          </a:solidFill>
          <a:ln w="12700">
            <a:solidFill>
              <a:schemeClr val="accent2"/>
            </a:solidFill>
            <a:prstDash val="solid"/>
          </a:ln>
        </p:spPr>
      </p:sp>
      <p:sp>
        <p:nvSpPr>
          <p:cNvPr id="32" name="label-336"/>
          <p:cNvSpPr txBox="1"/>
          <p:nvPr/>
        </p:nvSpPr>
        <p:spPr>
          <a:xfrm>
            <a:off x="6583680" y="3017520"/>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npx skills add mongodb/agent-skills</a:t>
            </a:r>
            <a:endParaRPr lang="en-US" sz="1150" dirty="0"/>
          </a:p>
        </p:txBody>
      </p:sp>
      <p:sp>
        <p:nvSpPr>
          <p:cNvPr id="33" name="dot-337"/>
          <p:cNvSpPr/>
          <p:nvPr/>
        </p:nvSpPr>
        <p:spPr>
          <a:xfrm>
            <a:off x="6345936" y="3675888"/>
            <a:ext cx="146304" cy="146304"/>
          </a:xfrm>
          <a:prstGeom prst="ellipse">
            <a:avLst/>
          </a:prstGeom>
          <a:solidFill>
            <a:schemeClr val="accent2"/>
          </a:solidFill>
          <a:ln w="12700">
            <a:solidFill>
              <a:schemeClr val="accent2"/>
            </a:solidFill>
            <a:prstDash val="solid"/>
          </a:ln>
        </p:spPr>
      </p:sp>
      <p:sp>
        <p:nvSpPr>
          <p:cNvPr id="34" name="label-338"/>
          <p:cNvSpPr txBox="1"/>
          <p:nvPr/>
        </p:nvSpPr>
        <p:spPr>
          <a:xfrm>
            <a:off x="6583680" y="3584448"/>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Bundled in the Claude, Codex, Cursor and Gemini plugins</a:t>
            </a:r>
            <a:endParaRPr lang="en-US" sz="1150" dirty="0"/>
          </a:p>
        </p:txBody>
      </p:sp>
      <p:pic>
        <p:nvPicPr>
          <p:cNvPr id="35" name="qr-339" descr="preencoded.png">    </p:cNvPr>
          <p:cNvPicPr>
            <a:picLocks noChangeAspect="1"/>
          </p:cNvPicPr>
          <p:nvPr/>
        </p:nvPicPr>
        <p:blipFill>
          <a:blip r:embed="rId3"/>
          <a:stretch>
            <a:fillRect/>
          </a:stretch>
        </p:blipFill>
        <p:spPr>
          <a:xfrm>
            <a:off x="6903720" y="4343400"/>
            <a:ext cx="1143000" cy="1143000"/>
          </a:xfrm>
          <a:prstGeom prst="rect">
            <a:avLst/>
          </a:prstGeom>
        </p:spPr>
      </p:pic>
      <p:sp>
        <p:nvSpPr>
          <p:cNvPr id="36" name="label-340"/>
          <p:cNvSpPr txBox="1"/>
          <p:nvPr/>
        </p:nvSpPr>
        <p:spPr>
          <a:xfrm>
            <a:off x="6263640" y="5577840"/>
            <a:ext cx="2423160" cy="457200"/>
          </a:xfrm>
          <a:prstGeom prst="rect">
            <a:avLst/>
          </a:prstGeom>
          <a:noFill/>
          <a:ln/>
        </p:spPr>
        <p:txBody>
          <a:bodyPr wrap="square" lIns="0" tIns="0" rIns="0" bIns="0" rtlCol="0" anchor="t"/>
          <a:lstStyle/>
          <a:p>
            <a:pPr algn="ctr" indent="0" marL="0">
              <a:buNone/>
            </a:pPr>
            <a:r>
              <a:rPr lang="en-US" sz="950" dirty="0">
                <a:solidFill>
                  <a:schemeClr val="accent1"/>
                </a:solidFill>
              </a:rPr>
              <a:t>mongodb.com/docs/agent-skills</a:t>
            </a:r>
            <a:endParaRPr lang="en-US" sz="950" dirty="0"/>
          </a:p>
        </p:txBody>
      </p:sp>
      <p:sp>
        <p:nvSpPr>
          <p:cNvPr id="37" name="box-341"/>
          <p:cNvSpPr txBox="1"/>
          <p:nvPr/>
        </p:nvSpPr>
        <p:spPr>
          <a:xfrm>
            <a:off x="8961120" y="1417320"/>
            <a:ext cx="2697480" cy="4709160"/>
          </a:xfrm>
          <a:prstGeom prst="roundRect">
            <a:avLst>
              <a:gd name="adj" fmla="val 2712"/>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38" name="label-342"/>
          <p:cNvSpPr txBox="1"/>
          <p:nvPr/>
        </p:nvSpPr>
        <p:spPr>
          <a:xfrm>
            <a:off x="9162288" y="1600200"/>
            <a:ext cx="2286000" cy="457200"/>
          </a:xfrm>
          <a:prstGeom prst="rect">
            <a:avLst/>
          </a:prstGeom>
          <a:noFill/>
          <a:ln/>
        </p:spPr>
        <p:txBody>
          <a:bodyPr wrap="square" lIns="0" tIns="0" rIns="0" bIns="0" rtlCol="0" anchor="t"/>
          <a:lstStyle/>
          <a:p>
            <a:pPr algn="l" indent="0" marL="0">
              <a:buNone/>
            </a:pPr>
            <a:r>
              <a:rPr lang="en-US" sz="2100" b="1" dirty="0">
                <a:solidFill>
                  <a:schemeClr val="tx1"/>
                </a:solidFill>
              </a:rPr>
              <a:t>Scale</a:t>
            </a:r>
            <a:endParaRPr lang="en-US" sz="2100" dirty="0"/>
          </a:p>
        </p:txBody>
      </p:sp>
      <p:sp>
        <p:nvSpPr>
          <p:cNvPr id="39" name="label-343"/>
          <p:cNvSpPr txBox="1"/>
          <p:nvPr/>
        </p:nvSpPr>
        <p:spPr>
          <a:xfrm>
            <a:off x="9162288" y="2029968"/>
            <a:ext cx="2286000" cy="365760"/>
          </a:xfrm>
          <a:prstGeom prst="rect">
            <a:avLst/>
          </a:prstGeom>
          <a:noFill/>
          <a:ln/>
        </p:spPr>
        <p:txBody>
          <a:bodyPr wrap="square" lIns="0" tIns="0" rIns="0" bIns="0" rtlCol="0" anchor="t"/>
          <a:lstStyle/>
          <a:p>
            <a:pPr algn="l" indent="0" marL="0">
              <a:buNone/>
            </a:pPr>
            <a:r>
              <a:rPr lang="en-US" sz="1200" i="1" dirty="0">
                <a:solidFill>
                  <a:schemeClr val="accent1"/>
                </a:solidFill>
              </a:rPr>
              <a:t>Customers and partners</a:t>
            </a:r>
            <a:endParaRPr lang="en-US" sz="1200" dirty="0"/>
          </a:p>
        </p:txBody>
      </p:sp>
      <p:sp>
        <p:nvSpPr>
          <p:cNvPr id="40" name="dot-344"/>
          <p:cNvSpPr/>
          <p:nvPr/>
        </p:nvSpPr>
        <p:spPr>
          <a:xfrm>
            <a:off x="9180576" y="2542032"/>
            <a:ext cx="146304" cy="146304"/>
          </a:xfrm>
          <a:prstGeom prst="ellipse">
            <a:avLst/>
          </a:prstGeom>
          <a:solidFill>
            <a:schemeClr val="accent2"/>
          </a:solidFill>
          <a:ln w="12700">
            <a:solidFill>
              <a:schemeClr val="accent2"/>
            </a:solidFill>
            <a:prstDash val="solid"/>
          </a:ln>
        </p:spPr>
      </p:sp>
      <p:sp>
        <p:nvSpPr>
          <p:cNvPr id="41" name="label-345"/>
          <p:cNvSpPr txBox="1"/>
          <p:nvPr/>
        </p:nvSpPr>
        <p:spPr>
          <a:xfrm>
            <a:off x="9418320" y="2450592"/>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Your account team</a:t>
            </a:r>
            <a:endParaRPr lang="en-US" sz="1150" dirty="0"/>
          </a:p>
        </p:txBody>
      </p:sp>
      <p:sp>
        <p:nvSpPr>
          <p:cNvPr id="42" name="dot-346"/>
          <p:cNvSpPr/>
          <p:nvPr/>
        </p:nvSpPr>
        <p:spPr>
          <a:xfrm>
            <a:off x="9180576" y="3108960"/>
            <a:ext cx="146304" cy="146304"/>
          </a:xfrm>
          <a:prstGeom prst="ellipse">
            <a:avLst/>
          </a:prstGeom>
          <a:solidFill>
            <a:schemeClr val="accent2"/>
          </a:solidFill>
          <a:ln w="12700">
            <a:solidFill>
              <a:schemeClr val="accent2"/>
            </a:solidFill>
            <a:prstDash val="solid"/>
          </a:ln>
        </p:spPr>
      </p:sp>
      <p:sp>
        <p:nvSpPr>
          <p:cNvPr id="43" name="label-347"/>
          <p:cNvSpPr txBox="1"/>
          <p:nvPr/>
        </p:nvSpPr>
        <p:spPr>
          <a:xfrm>
            <a:off x="9418320" y="3017520"/>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Or connect with an expert</a:t>
            </a:r>
            <a:endParaRPr lang="en-US" sz="1150" dirty="0"/>
          </a:p>
        </p:txBody>
      </p:sp>
      <p:sp>
        <p:nvSpPr>
          <p:cNvPr id="44" name="dot-348"/>
          <p:cNvSpPr/>
          <p:nvPr/>
        </p:nvSpPr>
        <p:spPr>
          <a:xfrm>
            <a:off x="9180576" y="3675888"/>
            <a:ext cx="146304" cy="146304"/>
          </a:xfrm>
          <a:prstGeom prst="ellipse">
            <a:avLst/>
          </a:prstGeom>
          <a:solidFill>
            <a:schemeClr val="accent2"/>
          </a:solidFill>
          <a:ln w="12700">
            <a:solidFill>
              <a:schemeClr val="accent2"/>
            </a:solidFill>
            <a:prstDash val="solid"/>
          </a:ln>
        </p:spPr>
      </p:sp>
      <p:sp>
        <p:nvSpPr>
          <p:cNvPr id="45" name="label-349"/>
          <p:cNvSpPr txBox="1"/>
          <p:nvPr/>
        </p:nvSpPr>
        <p:spPr>
          <a:xfrm>
            <a:off x="9418320" y="3584448"/>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Bring the run document — it's the conversation starter</a:t>
            </a:r>
            <a:endParaRPr lang="en-US" sz="1150" dirty="0"/>
          </a:p>
        </p:txBody>
      </p:sp>
      <p:pic>
        <p:nvPicPr>
          <p:cNvPr id="46" name="qr-350" descr="preencoded.png">    </p:cNvPr>
          <p:cNvPicPr>
            <a:picLocks noChangeAspect="1"/>
          </p:cNvPicPr>
          <p:nvPr/>
        </p:nvPicPr>
        <p:blipFill>
          <a:blip r:embed="rId4"/>
          <a:stretch>
            <a:fillRect/>
          </a:stretch>
        </p:blipFill>
        <p:spPr>
          <a:xfrm>
            <a:off x="9738360" y="4343400"/>
            <a:ext cx="1143000" cy="1143000"/>
          </a:xfrm>
          <a:prstGeom prst="rect">
            <a:avLst/>
          </a:prstGeom>
        </p:spPr>
      </p:pic>
      <p:sp>
        <p:nvSpPr>
          <p:cNvPr id="47" name="label-351"/>
          <p:cNvSpPr txBox="1"/>
          <p:nvPr/>
        </p:nvSpPr>
        <p:spPr>
          <a:xfrm>
            <a:off x="9098280" y="5577840"/>
            <a:ext cx="2423160" cy="457200"/>
          </a:xfrm>
          <a:prstGeom prst="rect">
            <a:avLst/>
          </a:prstGeom>
          <a:noFill/>
          <a:ln/>
        </p:spPr>
        <p:txBody>
          <a:bodyPr wrap="square" lIns="0" tIns="0" rIns="0" bIns="0" rtlCol="0" anchor="t"/>
          <a:lstStyle/>
          <a:p>
            <a:pPr algn="ctr" indent="0" marL="0">
              <a:buNone/>
            </a:pPr>
            <a:r>
              <a:rPr lang="en-US" sz="950" dirty="0">
                <a:solidFill>
                  <a:schemeClr val="accent1"/>
                </a:solidFill>
              </a:rPr>
              <a:t>mongodb.com/company/contact</a:t>
            </a:r>
            <a:endParaRPr lang="en-US" sz="95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828800"/>
          </a:xfrm>
          <a:prstGeom prst="rect">
            <a:avLst/>
          </a:prstGeom>
          <a:noFill/>
          <a:ln/>
        </p:spPr>
        <p:txBody>
          <a:bodyPr wrap="square" lIns="0" tIns="0" rIns="0" bIns="0" rtlCol="0" anchor="b"/>
          <a:lstStyle/>
          <a:p>
            <a:pPr algn="l" indent="0" marL="0">
              <a:buNone/>
            </a:pPr>
            <a:r>
              <a:rPr lang="en-US" sz="4000" b="1" dirty="0">
                <a:solidFill>
                  <a:srgbClr val="FFFFFF"/>
                </a:solidFill>
              </a:rPr>
              <a:t>Thank you</a:t>
            </a:r>
            <a:endParaRPr lang="en-US" sz="4000" dirty="0"/>
          </a:p>
        </p:txBody>
      </p:sp>
      <p:sp>
        <p:nvSpPr>
          <p:cNvPr id="4" name="Text 0"/>
          <p:cNvSpPr/>
          <p:nvPr>
            <p:ph idx="101" type="body" hasCustomPrompt="1"/>
          </p:nvPr>
        </p:nvSpPr>
        <p:spPr>
          <a:xfrm>
            <a:off x="822960" y="4069080"/>
            <a:ext cx="10515600" cy="1097280"/>
          </a:xfrm>
          <a:prstGeom prst="rect">
            <a:avLst/>
          </a:prstGeom>
          <a:noFill/>
          <a:ln/>
        </p:spPr>
        <p:txBody>
          <a:bodyPr wrap="square" lIns="0" tIns="0" rIns="0" bIns="0" rtlCol="0" anchor="t"/>
          <a:lstStyle/>
          <a:p>
            <a:pPr indent="0" marL="0">
              <a:buNone/>
            </a:pPr>
            <a:r>
              <a:rPr lang="en-US" sz="2000" dirty="0">
                <a:solidFill>
                  <a:srgbClr val="C9CFCD"/>
                </a:solidFill>
              </a:rPr>
              <a:t>Questions — and I can screen-share the RUBIK Pi demo for any of this.</a:t>
            </a:r>
            <a:endParaRPr lang="en-US" sz="2000" dirty="0"/>
          </a:p>
        </p:txBody>
      </p:sp>
      <p:sp>
        <p:nvSpPr>
          <p:cNvPr id="5" name="card-352"/>
          <p:cNvSpPr/>
          <p:nvPr/>
        </p:nvSpPr>
        <p:spPr>
          <a:xfrm>
            <a:off x="822960" y="4572000"/>
            <a:ext cx="3383280" cy="1920240"/>
          </a:xfrm>
          <a:prstGeom prst="roundRect">
            <a:avLst>
              <a:gd name="adj" fmla="val 3810"/>
            </a:avLst>
          </a:prstGeom>
          <a:solidFill>
            <a:schemeClr val="bg1"/>
          </a:solidFill>
          <a:ln w="12700">
            <a:solidFill>
              <a:schemeClr val="bg1"/>
            </a:solidFill>
            <a:prstDash val="solid"/>
          </a:ln>
        </p:spPr>
        <p:txBody>
          <a:bodyPr/>
          <a:p/>
        </p:txBody>
      </p:sp>
      <p:pic>
        <p:nvPicPr>
          <p:cNvPr id="6" name="qr-353" descr="preencoded.png">    </p:cNvPr>
          <p:cNvPicPr>
            <a:picLocks noChangeAspect="1"/>
          </p:cNvPicPr>
          <p:nvPr/>
        </p:nvPicPr>
        <p:blipFill>
          <a:blip r:embed="rId1"/>
          <a:stretch>
            <a:fillRect/>
          </a:stretch>
        </p:blipFill>
        <p:spPr>
          <a:xfrm>
            <a:off x="1005840" y="4754880"/>
            <a:ext cx="1554480" cy="1554480"/>
          </a:xfrm>
          <a:prstGeom prst="rect">
            <a:avLst/>
          </a:prstGeom>
        </p:spPr>
      </p:pic>
      <p:sp>
        <p:nvSpPr>
          <p:cNvPr id="7" name="label-354"/>
          <p:cNvSpPr txBox="1"/>
          <p:nvPr/>
        </p:nvSpPr>
        <p:spPr>
          <a:xfrm>
            <a:off x="2651760" y="4846320"/>
            <a:ext cx="1463040" cy="548640"/>
          </a:xfrm>
          <a:prstGeom prst="rect">
            <a:avLst/>
          </a:prstGeom>
          <a:noFill/>
          <a:ln/>
        </p:spPr>
        <p:txBody>
          <a:bodyPr wrap="square" lIns="0" tIns="0" rIns="0" bIns="0" rtlCol="0" anchor="t"/>
          <a:lstStyle/>
          <a:p>
            <a:pPr algn="l" indent="0" marL="0">
              <a:buNone/>
            </a:pPr>
            <a:r>
              <a:rPr lang="en-US" sz="1400" b="1" dirty="0">
                <a:solidFill>
                  <a:srgbClr val="1A1A1A"/>
                </a:solidFill>
              </a:rPr>
              <a:t>Code</a:t>
            </a:r>
            <a:endParaRPr lang="en-US" sz="1400" dirty="0"/>
          </a:p>
        </p:txBody>
      </p:sp>
      <p:sp>
        <p:nvSpPr>
          <p:cNvPr id="8" name="label-355"/>
          <p:cNvSpPr txBox="1"/>
          <p:nvPr/>
        </p:nvSpPr>
        <p:spPr>
          <a:xfrm>
            <a:off x="2651760" y="5440680"/>
            <a:ext cx="1463040" cy="1005840"/>
          </a:xfrm>
          <a:prstGeom prst="rect">
            <a:avLst/>
          </a:prstGeom>
          <a:noFill/>
          <a:ln/>
        </p:spPr>
        <p:txBody>
          <a:bodyPr wrap="square" lIns="0" tIns="0" rIns="0" bIns="0" rtlCol="0" anchor="t"/>
          <a:lstStyle/>
          <a:p>
            <a:pPr algn="l" indent="0" marL="0">
              <a:buNone/>
            </a:pPr>
            <a:r>
              <a:rPr lang="en-US" sz="1000" dirty="0">
                <a:solidFill>
                  <a:srgbClr val="5C6670"/>
                </a:solidFill>
              </a:rPr>
              <a:t>github.com/eoinjordan</a:t>
            </a:r>
            <a:endParaRPr lang="en-US" sz="1000" dirty="0"/>
          </a:p>
          <a:p>
            <a:pPr algn="l" indent="0" marL="0">
              <a:buNone/>
            </a:pPr>
            <a:r>
              <a:rPr lang="en-US" sz="1000" dirty="0">
                <a:solidFill>
                  <a:srgbClr val="5C6670"/>
                </a:solidFill>
              </a:rPr>
              <a:t>linkedin.com/in/eoin-jordan</a:t>
            </a:r>
            <a:endParaRPr lang="en-US" sz="1000" dirty="0"/>
          </a:p>
        </p:txBody>
      </p:sp>
      <p:sp>
        <p:nvSpPr>
          <p:cNvPr id="9" name="card-356"/>
          <p:cNvSpPr/>
          <p:nvPr/>
        </p:nvSpPr>
        <p:spPr>
          <a:xfrm>
            <a:off x="4572000" y="4572000"/>
            <a:ext cx="3383280" cy="1920240"/>
          </a:xfrm>
          <a:prstGeom prst="roundRect">
            <a:avLst>
              <a:gd name="adj" fmla="val 3810"/>
            </a:avLst>
          </a:prstGeom>
          <a:solidFill>
            <a:schemeClr val="bg1"/>
          </a:solidFill>
          <a:ln w="12700">
            <a:solidFill>
              <a:schemeClr val="bg1"/>
            </a:solidFill>
            <a:prstDash val="solid"/>
          </a:ln>
        </p:spPr>
        <p:txBody>
          <a:bodyPr/>
          <a:p/>
        </p:txBody>
      </p:sp>
      <p:pic>
        <p:nvPicPr>
          <p:cNvPr id="10" name="qr-357" descr="preencoded.png">    </p:cNvPr>
          <p:cNvPicPr>
            <a:picLocks noChangeAspect="1"/>
          </p:cNvPicPr>
          <p:nvPr/>
        </p:nvPicPr>
        <p:blipFill>
          <a:blip r:embed="rId2"/>
          <a:stretch>
            <a:fillRect/>
          </a:stretch>
        </p:blipFill>
        <p:spPr>
          <a:xfrm>
            <a:off x="4754880" y="4754880"/>
            <a:ext cx="1554480" cy="1554480"/>
          </a:xfrm>
          <a:prstGeom prst="rect">
            <a:avLst/>
          </a:prstGeom>
        </p:spPr>
      </p:pic>
      <p:sp>
        <p:nvSpPr>
          <p:cNvPr id="11" name="label-358"/>
          <p:cNvSpPr txBox="1"/>
          <p:nvPr/>
        </p:nvSpPr>
        <p:spPr>
          <a:xfrm>
            <a:off x="6400800" y="4846320"/>
            <a:ext cx="1463040" cy="548640"/>
          </a:xfrm>
          <a:prstGeom prst="rect">
            <a:avLst/>
          </a:prstGeom>
          <a:noFill/>
          <a:ln/>
        </p:spPr>
        <p:txBody>
          <a:bodyPr wrap="square" lIns="0" tIns="0" rIns="0" bIns="0" rtlCol="0" anchor="t"/>
          <a:lstStyle/>
          <a:p>
            <a:pPr algn="l" indent="0" marL="0">
              <a:buNone/>
            </a:pPr>
            <a:r>
              <a:rPr lang="en-US" sz="1400" b="1" dirty="0">
                <a:solidFill>
                  <a:srgbClr val="1A1A1A"/>
                </a:solidFill>
              </a:rPr>
              <a:t>The model</a:t>
            </a:r>
            <a:endParaRPr lang="en-US" sz="1400" dirty="0"/>
          </a:p>
        </p:txBody>
      </p:sp>
      <p:sp>
        <p:nvSpPr>
          <p:cNvPr id="12" name="label-359"/>
          <p:cNvSpPr txBox="1"/>
          <p:nvPr/>
        </p:nvSpPr>
        <p:spPr>
          <a:xfrm>
            <a:off x="6400800" y="5440680"/>
            <a:ext cx="1463040" cy="1005840"/>
          </a:xfrm>
          <a:prstGeom prst="rect">
            <a:avLst/>
          </a:prstGeom>
          <a:noFill/>
          <a:ln/>
        </p:spPr>
        <p:txBody>
          <a:bodyPr wrap="square" lIns="0" tIns="0" rIns="0" bIns="0" rtlCol="0" anchor="t"/>
          <a:lstStyle/>
          <a:p>
            <a:pPr algn="l" indent="0" marL="0">
              <a:buNone/>
            </a:pPr>
            <a:r>
              <a:rPr lang="en-US" sz="1000" dirty="0">
                <a:solidFill>
                  <a:srgbClr val="5C6670"/>
                </a:solidFill>
              </a:rPr>
              <a:t>eoinjordan.github.io/MongoDBSimCity</a:t>
            </a:r>
            <a:endParaRPr lang="en-US" sz="1000" dirty="0"/>
          </a:p>
        </p:txBody>
      </p:sp>
      <p:sp>
        <p:nvSpPr>
          <p:cNvPr id="13" name="card-360"/>
          <p:cNvSpPr/>
          <p:nvPr/>
        </p:nvSpPr>
        <p:spPr>
          <a:xfrm>
            <a:off x="8321040" y="4572000"/>
            <a:ext cx="3383280" cy="1920240"/>
          </a:xfrm>
          <a:prstGeom prst="roundRect">
            <a:avLst>
              <a:gd name="adj" fmla="val 3810"/>
            </a:avLst>
          </a:prstGeom>
          <a:solidFill>
            <a:schemeClr val="bg1"/>
          </a:solidFill>
          <a:ln w="12700">
            <a:solidFill>
              <a:schemeClr val="bg1"/>
            </a:solidFill>
            <a:prstDash val="solid"/>
          </a:ln>
        </p:spPr>
        <p:txBody>
          <a:bodyPr/>
          <a:p/>
        </p:txBody>
      </p:sp>
      <p:pic>
        <p:nvPicPr>
          <p:cNvPr id="14" name="qr-361" descr="preencoded.png">    </p:cNvPr>
          <p:cNvPicPr>
            <a:picLocks noChangeAspect="1"/>
          </p:cNvPicPr>
          <p:nvPr/>
        </p:nvPicPr>
        <p:blipFill>
          <a:blip r:embed="rId3"/>
          <a:stretch>
            <a:fillRect/>
          </a:stretch>
        </p:blipFill>
        <p:spPr>
          <a:xfrm>
            <a:off x="8503920" y="4754880"/>
            <a:ext cx="1554480" cy="1554480"/>
          </a:xfrm>
          <a:prstGeom prst="rect">
            <a:avLst/>
          </a:prstGeom>
        </p:spPr>
      </p:pic>
      <p:sp>
        <p:nvSpPr>
          <p:cNvPr id="15" name="label-362"/>
          <p:cNvSpPr txBox="1"/>
          <p:nvPr/>
        </p:nvSpPr>
        <p:spPr>
          <a:xfrm>
            <a:off x="10149840" y="4846320"/>
            <a:ext cx="1463040" cy="548640"/>
          </a:xfrm>
          <a:prstGeom prst="rect">
            <a:avLst/>
          </a:prstGeom>
          <a:noFill/>
          <a:ln/>
        </p:spPr>
        <p:txBody>
          <a:bodyPr wrap="square" lIns="0" tIns="0" rIns="0" bIns="0" rtlCol="0" anchor="t"/>
          <a:lstStyle/>
          <a:p>
            <a:pPr algn="l" indent="0" marL="0">
              <a:buNone/>
            </a:pPr>
            <a:r>
              <a:rPr lang="en-US" sz="1400" b="1" dirty="0">
                <a:solidFill>
                  <a:srgbClr val="1A1A1A"/>
                </a:solidFill>
              </a:rPr>
              <a:t>The write-up</a:t>
            </a:r>
            <a:endParaRPr lang="en-US" sz="1400" dirty="0"/>
          </a:p>
        </p:txBody>
      </p:sp>
      <p:sp>
        <p:nvSpPr>
          <p:cNvPr id="16" name="label-363"/>
          <p:cNvSpPr txBox="1"/>
          <p:nvPr/>
        </p:nvSpPr>
        <p:spPr>
          <a:xfrm>
            <a:off x="10149840" y="5440680"/>
            <a:ext cx="1463040" cy="1005840"/>
          </a:xfrm>
          <a:prstGeom prst="rect">
            <a:avLst/>
          </a:prstGeom>
          <a:noFill/>
          <a:ln/>
        </p:spPr>
        <p:txBody>
          <a:bodyPr wrap="square" lIns="0" tIns="0" rIns="0" bIns="0" rtlCol="0" anchor="t"/>
          <a:lstStyle/>
          <a:p>
            <a:pPr algn="l" indent="0" marL="0">
              <a:buNone/>
            </a:pPr>
            <a:r>
              <a:rPr lang="en-US" sz="1000" dirty="0">
                <a:solidFill>
                  <a:srgbClr val="5C6670"/>
                </a:solidFill>
              </a:rPr>
              <a:t>Lessons learned building an agentic MCP server — Edge Impulse blog</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A 10-minute lab from this talk</a:t>
            </a:r>
            <a:endParaRPr lang="en-US" sz="3200" dirty="0"/>
          </a:p>
        </p:txBody>
      </p:sp>
      <p:sp>
        <p:nvSpPr>
          <p:cNvPr id="4" name="num-364"/>
          <p:cNvSpPr txBox="1"/>
          <p:nvPr/>
        </p:nvSpPr>
        <p:spPr>
          <a:xfrm>
            <a:off x="822960" y="160020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label-365"/>
          <p:cNvSpPr txBox="1"/>
          <p:nvPr/>
        </p:nvSpPr>
        <p:spPr>
          <a:xfrm>
            <a:off x="1554480" y="1554480"/>
            <a:ext cx="9601200" cy="640080"/>
          </a:xfrm>
          <a:prstGeom prst="rect">
            <a:avLst/>
          </a:prstGeom>
          <a:noFill/>
          <a:ln/>
        </p:spPr>
        <p:txBody>
          <a:bodyPr wrap="square" lIns="0" tIns="0" rIns="0" bIns="0" rtlCol="0" anchor="ctr"/>
          <a:lstStyle/>
          <a:p>
            <a:pPr algn="l" indent="0" marL="0">
              <a:buNone/>
            </a:pPr>
            <a:r>
              <a:rPr lang="en-US" sz="1800" dirty="0">
                <a:solidFill>
                  <a:schemeClr val="tx1"/>
                </a:solidFill>
              </a:rPr>
              <a:t>Given a messy agent workflow log, identify the state that must persist.</a:t>
            </a:r>
            <a:endParaRPr lang="en-US" sz="1800" dirty="0"/>
          </a:p>
        </p:txBody>
      </p:sp>
      <p:sp>
        <p:nvSpPr>
          <p:cNvPr id="6" name="num-366"/>
          <p:cNvSpPr txBox="1"/>
          <p:nvPr/>
        </p:nvSpPr>
        <p:spPr>
          <a:xfrm>
            <a:off x="822960" y="242316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label-367"/>
          <p:cNvSpPr txBox="1"/>
          <p:nvPr/>
        </p:nvSpPr>
        <p:spPr>
          <a:xfrm>
            <a:off x="1554480" y="2377440"/>
            <a:ext cx="9601200" cy="640080"/>
          </a:xfrm>
          <a:prstGeom prst="rect">
            <a:avLst/>
          </a:prstGeom>
          <a:noFill/>
          <a:ln/>
        </p:spPr>
        <p:txBody>
          <a:bodyPr wrap="square" lIns="0" tIns="0" rIns="0" bIns="0" rtlCol="0" anchor="ctr"/>
          <a:lstStyle/>
          <a:p>
            <a:pPr algn="l" indent="0" marL="0">
              <a:buNone/>
            </a:pPr>
            <a:r>
              <a:rPr lang="en-US" sz="1800" dirty="0">
                <a:solidFill>
                  <a:schemeClr val="tx1"/>
                </a:solidFill>
              </a:rPr>
              <a:t>Create a first run document and argue what to embed, reference or log.</a:t>
            </a:r>
            <a:endParaRPr lang="en-US" sz="1800" dirty="0"/>
          </a:p>
        </p:txBody>
      </p:sp>
      <p:sp>
        <p:nvSpPr>
          <p:cNvPr id="8" name="num-368"/>
          <p:cNvSpPr txBox="1"/>
          <p:nvPr/>
        </p:nvSpPr>
        <p:spPr>
          <a:xfrm>
            <a:off x="822960" y="32461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label-369"/>
          <p:cNvSpPr txBox="1"/>
          <p:nvPr/>
        </p:nvSpPr>
        <p:spPr>
          <a:xfrm>
            <a:off x="1554480" y="3200400"/>
            <a:ext cx="9601200" cy="640080"/>
          </a:xfrm>
          <a:prstGeom prst="rect">
            <a:avLst/>
          </a:prstGeom>
          <a:noFill/>
          <a:ln/>
        </p:spPr>
        <p:txBody>
          <a:bodyPr wrap="square" lIns="0" tIns="0" rIns="0" bIns="0" rtlCol="0" anchor="ctr"/>
          <a:lstStyle/>
          <a:p>
            <a:pPr algn="l" indent="0" marL="0">
              <a:buNone/>
            </a:pPr>
            <a:r>
              <a:rPr lang="en-US" sz="1800" dirty="0">
                <a:solidFill>
                  <a:schemeClr val="tx1"/>
                </a:solidFill>
              </a:rPr>
              <a:t>Write two query patterns and derive one compound index — then name its write cost.</a:t>
            </a:r>
            <a:endParaRPr lang="en-US" sz="1800" dirty="0"/>
          </a:p>
        </p:txBody>
      </p:sp>
      <p:sp>
        <p:nvSpPr>
          <p:cNvPr id="10" name="num-370"/>
          <p:cNvSpPr txBox="1"/>
          <p:nvPr/>
        </p:nvSpPr>
        <p:spPr>
          <a:xfrm>
            <a:off x="822960" y="406908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label-371"/>
          <p:cNvSpPr txBox="1"/>
          <p:nvPr/>
        </p:nvSpPr>
        <p:spPr>
          <a:xfrm>
            <a:off x="1554480" y="4023360"/>
            <a:ext cx="9601200" cy="640080"/>
          </a:xfrm>
          <a:prstGeom prst="rect">
            <a:avLst/>
          </a:prstGeom>
          <a:noFill/>
          <a:ln/>
        </p:spPr>
        <p:txBody>
          <a:bodyPr wrap="square" lIns="0" tIns="0" rIns="0" bIns="0" rtlCol="0" anchor="ctr"/>
          <a:lstStyle/>
          <a:p>
            <a:pPr algn="l" indent="0" marL="0">
              <a:buNone/>
            </a:pPr>
            <a:r>
              <a:rPr lang="en-US" sz="1800" dirty="0">
                <a:solidFill>
                  <a:schemeClr val="tx1"/>
                </a:solidFill>
              </a:rPr>
              <a:t>Replace one polling loop with a change-stream consumer that survives a restart.</a:t>
            </a:r>
            <a:endParaRPr lang="en-US" sz="1800" dirty="0"/>
          </a:p>
        </p:txBody>
      </p:sp>
      <p:sp>
        <p:nvSpPr>
          <p:cNvPr id="12" name="num-372"/>
          <p:cNvSpPr txBox="1"/>
          <p:nvPr/>
        </p:nvSpPr>
        <p:spPr>
          <a:xfrm>
            <a:off x="822960" y="489204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3" name="label-373"/>
          <p:cNvSpPr txBox="1"/>
          <p:nvPr/>
        </p:nvSpPr>
        <p:spPr>
          <a:xfrm>
            <a:off x="1554480" y="4846320"/>
            <a:ext cx="9601200" cy="640080"/>
          </a:xfrm>
          <a:prstGeom prst="rect">
            <a:avLst/>
          </a:prstGeom>
          <a:noFill/>
          <a:ln/>
        </p:spPr>
        <p:txBody>
          <a:bodyPr wrap="square" lIns="0" tIns="0" rIns="0" bIns="0" rtlCol="0" anchor="ctr"/>
          <a:lstStyle/>
          <a:p>
            <a:pPr algn="l" indent="0" marL="0">
              <a:buNone/>
            </a:pPr>
            <a:r>
              <a:rPr lang="en-US" sz="1800" dirty="0">
                <a:solidFill>
                  <a:schemeClr val="tx1"/>
                </a:solidFill>
              </a:rPr>
              <a:t>Add TTL for temporary session data and keep the audit history.</a:t>
            </a:r>
            <a:endParaRPr lang="en-US" sz="1800" dirty="0"/>
          </a:p>
        </p:txBody>
      </p:sp>
      <p:sp>
        <p:nvSpPr>
          <p:cNvPr id="14" name="label-374"/>
          <p:cNvSpPr txBox="1"/>
          <p:nvPr/>
        </p:nvSpPr>
        <p:spPr>
          <a:xfrm>
            <a:off x="822960" y="5760720"/>
            <a:ext cx="10515600" cy="457200"/>
          </a:xfrm>
          <a:prstGeom prst="rect">
            <a:avLst/>
          </a:prstGeom>
          <a:noFill/>
          <a:ln/>
        </p:spPr>
        <p:txBody>
          <a:bodyPr wrap="square" lIns="0" tIns="0" rIns="0" bIns="0" rtlCol="0" anchor="t"/>
          <a:lstStyle/>
          <a:p>
            <a:pPr algn="l" indent="0" marL="0">
              <a:buNone/>
            </a:pPr>
            <a:r>
              <a:rPr lang="en-US" sz="1500" i="1" dirty="0">
                <a:solidFill>
                  <a:schemeClr val="accent1"/>
                </a:solidFill>
              </a:rPr>
              <a:t>Not “watch me explain” — build the design habit on a problem the learner has already felt.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Agent memory is data: short-term and long-term</a:t>
            </a:r>
            <a:endParaRPr lang="en-US" sz="3200" dirty="0"/>
          </a:p>
        </p:txBody>
      </p:sp>
      <p:pic>
        <p:nvPicPr>
          <p:cNvPr id="4" name="qr-375" descr="preencoded.png">    </p:cNvPr>
          <p:cNvPicPr>
            <a:picLocks noChangeAspect="1"/>
          </p:cNvPicPr>
          <p:nvPr/>
        </p:nvPicPr>
        <p:blipFill>
          <a:blip r:embed="rId1"/>
          <a:stretch>
            <a:fillRect/>
          </a:stretch>
        </p:blipFill>
        <p:spPr>
          <a:xfrm>
            <a:off x="10835640" y="274320"/>
            <a:ext cx="868680" cy="868680"/>
          </a:xfrm>
          <a:prstGeom prst="rect">
            <a:avLst/>
          </a:prstGeom>
        </p:spPr>
      </p:pic>
      <p:sp>
        <p:nvSpPr>
          <p:cNvPr id="5" name="label-376"/>
          <p:cNvSpPr txBox="1"/>
          <p:nvPr/>
        </p:nvSpPr>
        <p:spPr>
          <a:xfrm>
            <a:off x="10149840" y="1161288"/>
            <a:ext cx="1554480" cy="228600"/>
          </a:xfrm>
          <a:prstGeom prst="rect">
            <a:avLst/>
          </a:prstGeom>
          <a:noFill/>
          <a:ln/>
        </p:spPr>
        <p:txBody>
          <a:bodyPr wrap="square" lIns="0" tIns="0" rIns="0" bIns="0" rtlCol="0" anchor="t"/>
          <a:lstStyle/>
          <a:p>
            <a:pPr algn="ctr" indent="0" marL="0">
              <a:buNone/>
            </a:pPr>
            <a:r>
              <a:rPr lang="en-US" sz="900" dirty="0">
                <a:solidFill>
                  <a:schemeClr val="tx2"/>
                </a:solidFill>
              </a:rPr>
              <a:t>LangGraph integration</a:t>
            </a:r>
            <a:endParaRPr lang="en-US" sz="900" dirty="0"/>
          </a:p>
        </p:txBody>
      </p:sp>
      <p:sp>
        <p:nvSpPr>
          <p:cNvPr id="6" name="box-377"/>
          <p:cNvSpPr txBox="1"/>
          <p:nvPr/>
        </p:nvSpPr>
        <p:spPr>
          <a:xfrm>
            <a:off x="822960" y="1508760"/>
            <a:ext cx="5029200" cy="3840480"/>
          </a:xfrm>
          <a:prstGeom prst="roundRect">
            <a:avLst>
              <a:gd name="adj" fmla="val 1905"/>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7" name="label-378"/>
          <p:cNvSpPr txBox="1"/>
          <p:nvPr/>
        </p:nvSpPr>
        <p:spPr>
          <a:xfrm>
            <a:off x="1143000" y="1737360"/>
            <a:ext cx="4389120" cy="457200"/>
          </a:xfrm>
          <a:prstGeom prst="rect">
            <a:avLst/>
          </a:prstGeom>
          <a:noFill/>
          <a:ln/>
        </p:spPr>
        <p:txBody>
          <a:bodyPr wrap="square" lIns="0" tIns="0" rIns="0" bIns="0" rtlCol="0" anchor="t"/>
          <a:lstStyle/>
          <a:p>
            <a:pPr algn="l" indent="0" marL="0">
              <a:buNone/>
            </a:pPr>
            <a:r>
              <a:rPr lang="en-US" sz="2400" b="1" dirty="0">
                <a:solidFill>
                  <a:schemeClr val="tx1"/>
                </a:solidFill>
              </a:rPr>
              <a:t>Short-term</a:t>
            </a:r>
            <a:endParaRPr lang="en-US" sz="2400" dirty="0"/>
          </a:p>
        </p:txBody>
      </p:sp>
      <p:sp>
        <p:nvSpPr>
          <p:cNvPr id="8" name="label-379"/>
          <p:cNvSpPr txBox="1"/>
          <p:nvPr/>
        </p:nvSpPr>
        <p:spPr>
          <a:xfrm>
            <a:off x="1143000" y="2240280"/>
            <a:ext cx="4389120" cy="365760"/>
          </a:xfrm>
          <a:prstGeom prst="rect">
            <a:avLst/>
          </a:prstGeom>
          <a:noFill/>
          <a:ln/>
        </p:spPr>
        <p:txBody>
          <a:bodyPr wrap="square" lIns="0" tIns="0" rIns="0" bIns="0" rtlCol="0" anchor="t"/>
          <a:lstStyle/>
          <a:p>
            <a:pPr algn="l" indent="0" marL="0">
              <a:buNone/>
            </a:pPr>
            <a:r>
              <a:rPr lang="en-US" sz="1500" i="1" dirty="0">
                <a:solidFill>
                  <a:schemeClr val="accent1"/>
                </a:solidFill>
              </a:rPr>
              <a:t>State between steps</a:t>
            </a:r>
            <a:endParaRPr lang="en-US" sz="1500" dirty="0"/>
          </a:p>
        </p:txBody>
      </p:sp>
      <p:sp>
        <p:nvSpPr>
          <p:cNvPr id="9" name="label-380"/>
          <p:cNvSpPr txBox="1"/>
          <p:nvPr/>
        </p:nvSpPr>
        <p:spPr>
          <a:xfrm>
            <a:off x="1143000" y="2697480"/>
            <a:ext cx="4389120" cy="1097280"/>
          </a:xfrm>
          <a:prstGeom prst="rect">
            <a:avLst/>
          </a:prstGeom>
          <a:noFill/>
          <a:ln/>
        </p:spPr>
        <p:txBody>
          <a:bodyPr wrap="square" lIns="0" tIns="0" rIns="0" bIns="0" rtlCol="0" anchor="t"/>
          <a:lstStyle/>
          <a:p>
            <a:pPr algn="l" indent="0" marL="0">
              <a:buNone/>
            </a:pPr>
            <a:r>
              <a:rPr lang="en-US" sz="1500" dirty="0">
                <a:solidFill>
                  <a:schemeClr val="tx2"/>
                </a:solidFill>
              </a:rPr>
              <a:t>Checkpoint per node transition, keyed by the run. Survives a restart. Pauses for human approval.</a:t>
            </a:r>
            <a:endParaRPr lang="en-US" sz="1500" dirty="0"/>
          </a:p>
        </p:txBody>
      </p:sp>
      <p:sp>
        <p:nvSpPr>
          <p:cNvPr id="10" name="code-381"/>
          <p:cNvSpPr txBox="1"/>
          <p:nvPr/>
        </p:nvSpPr>
        <p:spPr>
          <a:xfrm>
            <a:off x="1143000" y="3840480"/>
            <a:ext cx="4389120" cy="1234440"/>
          </a:xfrm>
          <a:prstGeom prst="roundRect">
            <a:avLst>
              <a:gd name="adj" fmla="val 5926"/>
            </a:avLst>
          </a:prstGeom>
          <a:solidFill>
            <a:schemeClr val="bg2"/>
          </a:solidFill>
          <a:ln w="12700">
            <a:solidFill>
              <a:schemeClr val="accent4"/>
            </a:solidFill>
          </a:ln>
        </p:spPr>
        <p:txBody>
          <a:bodyPr wrap="square" lIns="2286" tIns="2286" rIns="2286" bIns="2286"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MongoDBSaver(client)</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thread_id = run["runId"]</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interrupt_before=["tools"]</a:t>
            </a:r>
            <a:endParaRPr lang="en-US" sz="1200" dirty="0"/>
          </a:p>
        </p:txBody>
      </p:sp>
      <p:sp>
        <p:nvSpPr>
          <p:cNvPr id="11" name="box-382"/>
          <p:cNvSpPr txBox="1"/>
          <p:nvPr/>
        </p:nvSpPr>
        <p:spPr>
          <a:xfrm>
            <a:off x="6309360" y="1508760"/>
            <a:ext cx="5029200" cy="3840480"/>
          </a:xfrm>
          <a:prstGeom prst="roundRect">
            <a:avLst>
              <a:gd name="adj" fmla="val 1905"/>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12" name="label-383"/>
          <p:cNvSpPr txBox="1"/>
          <p:nvPr/>
        </p:nvSpPr>
        <p:spPr>
          <a:xfrm>
            <a:off x="6629400" y="1737360"/>
            <a:ext cx="4389120" cy="457200"/>
          </a:xfrm>
          <a:prstGeom prst="rect">
            <a:avLst/>
          </a:prstGeom>
          <a:noFill/>
          <a:ln/>
        </p:spPr>
        <p:txBody>
          <a:bodyPr wrap="square" lIns="0" tIns="0" rIns="0" bIns="0" rtlCol="0" anchor="t"/>
          <a:lstStyle/>
          <a:p>
            <a:pPr algn="l" indent="0" marL="0">
              <a:buNone/>
            </a:pPr>
            <a:r>
              <a:rPr lang="en-US" sz="2400" b="1" dirty="0">
                <a:solidFill>
                  <a:schemeClr val="tx1"/>
                </a:solidFill>
              </a:rPr>
              <a:t>Long-term</a:t>
            </a:r>
            <a:endParaRPr lang="en-US" sz="2400" dirty="0"/>
          </a:p>
        </p:txBody>
      </p:sp>
      <p:sp>
        <p:nvSpPr>
          <p:cNvPr id="13" name="label-384"/>
          <p:cNvSpPr txBox="1"/>
          <p:nvPr/>
        </p:nvSpPr>
        <p:spPr>
          <a:xfrm>
            <a:off x="6629400" y="2240280"/>
            <a:ext cx="4389120" cy="365760"/>
          </a:xfrm>
          <a:prstGeom prst="rect">
            <a:avLst/>
          </a:prstGeom>
          <a:noFill/>
          <a:ln/>
        </p:spPr>
        <p:txBody>
          <a:bodyPr wrap="square" lIns="0" tIns="0" rIns="0" bIns="0" rtlCol="0" anchor="t"/>
          <a:lstStyle/>
          <a:p>
            <a:pPr algn="l" indent="0" marL="0">
              <a:buNone/>
            </a:pPr>
            <a:r>
              <a:rPr lang="en-US" sz="1500" i="1" dirty="0">
                <a:solidFill>
                  <a:schemeClr val="accent1"/>
                </a:solidFill>
              </a:rPr>
              <a:t>What the agent learned across runs</a:t>
            </a:r>
            <a:endParaRPr lang="en-US" sz="1500" dirty="0"/>
          </a:p>
        </p:txBody>
      </p:sp>
      <p:sp>
        <p:nvSpPr>
          <p:cNvPr id="14" name="label-385"/>
          <p:cNvSpPr txBox="1"/>
          <p:nvPr/>
        </p:nvSpPr>
        <p:spPr>
          <a:xfrm>
            <a:off x="6629400" y="2697480"/>
            <a:ext cx="4389120" cy="1097280"/>
          </a:xfrm>
          <a:prstGeom prst="rect">
            <a:avLst/>
          </a:prstGeom>
          <a:noFill/>
          <a:ln/>
        </p:spPr>
        <p:txBody>
          <a:bodyPr wrap="square" lIns="0" tIns="0" rIns="0" bIns="0" rtlCol="0" anchor="t"/>
          <a:lstStyle/>
          <a:p>
            <a:pPr algn="l" indent="0" marL="0">
              <a:buNone/>
            </a:pPr>
            <a:r>
              <a:rPr lang="en-US" sz="1500" dirty="0">
                <a:solidFill>
                  <a:schemeClr val="tx2"/>
                </a:solidFill>
              </a:rPr>
              <a:t>Memories namespaced by project. Looked up by key, or semantically with a vector index.</a:t>
            </a:r>
            <a:endParaRPr lang="en-US" sz="1500" dirty="0"/>
          </a:p>
        </p:txBody>
      </p:sp>
      <p:sp>
        <p:nvSpPr>
          <p:cNvPr id="15" name="code-386"/>
          <p:cNvSpPr txBox="1"/>
          <p:nvPr/>
        </p:nvSpPr>
        <p:spPr>
          <a:xfrm>
            <a:off x="6629400" y="3840480"/>
            <a:ext cx="4389120" cy="1234440"/>
          </a:xfrm>
          <a:prstGeom prst="roundRect">
            <a:avLst>
              <a:gd name="adj" fmla="val 5926"/>
            </a:avLst>
          </a:prstGeom>
          <a:solidFill>
            <a:schemeClr val="bg2"/>
          </a:solidFill>
          <a:ln w="12700">
            <a:solidFill>
              <a:schemeClr val="accent4"/>
            </a:solidFill>
          </a:ln>
        </p:spPr>
        <p:txBody>
          <a:bodyPr wrap="square" lIns="2286" tIns="2286" rIns="2286" bIns="2286"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MongoDBStore(...)</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namespace = ("project-512482",</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"experiments")</a:t>
            </a:r>
            <a:endParaRPr lang="en-US" sz="1200" dirty="0"/>
          </a:p>
        </p:txBody>
      </p:sp>
      <p:sp>
        <p:nvSpPr>
          <p:cNvPr id="16" name="label-387"/>
          <p:cNvSpPr txBox="1"/>
          <p:nvPr/>
        </p:nvSpPr>
        <p:spPr>
          <a:xfrm>
            <a:off x="822960" y="5623560"/>
            <a:ext cx="10515600" cy="457200"/>
          </a:xfrm>
          <a:prstGeom prst="rect">
            <a:avLst/>
          </a:prstGeom>
          <a:noFill/>
          <a:ln/>
        </p:spPr>
        <p:txBody>
          <a:bodyPr wrap="square" lIns="0" tIns="0" rIns="0" bIns="0" rtlCol="0" anchor="t"/>
          <a:lstStyle/>
          <a:p>
            <a:pPr algn="l" indent="0" marL="0">
              <a:buNone/>
            </a:pPr>
            <a:r>
              <a:rPr lang="en-US" sz="1400" i="1" dirty="0">
                <a:solidFill>
                  <a:schemeClr val="accent1"/>
                </a:solidFill>
              </a:rPr>
              <a:t>The helpers I bolted on in five evenings are what these libraries now do for you — on top of the same collections.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When documents aren't enough</a:t>
            </a:r>
            <a:endParaRPr lang="en-US" sz="3200" dirty="0"/>
          </a:p>
        </p:txBody>
      </p:sp>
      <p:sp>
        <p:nvSpPr>
          <p:cNvPr id="4" name="box-388"/>
          <p:cNvSpPr txBox="1"/>
          <p:nvPr/>
        </p:nvSpPr>
        <p:spPr>
          <a:xfrm>
            <a:off x="640080" y="1463040"/>
            <a:ext cx="3474720" cy="4114800"/>
          </a:xfrm>
          <a:prstGeom prst="roundRect">
            <a:avLst>
              <a:gd name="adj" fmla="val 2105"/>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5" name="label-389"/>
          <p:cNvSpPr txBox="1"/>
          <p:nvPr/>
        </p:nvSpPr>
        <p:spPr>
          <a:xfrm>
            <a:off x="914400" y="1691640"/>
            <a:ext cx="2926080" cy="457200"/>
          </a:xfrm>
          <a:prstGeom prst="rect">
            <a:avLst/>
          </a:prstGeom>
          <a:noFill/>
          <a:ln/>
        </p:spPr>
        <p:txBody>
          <a:bodyPr wrap="square" lIns="0" tIns="0" rIns="0" bIns="0" rtlCol="0" anchor="t"/>
          <a:lstStyle/>
          <a:p>
            <a:pPr algn="l" indent="0" marL="0">
              <a:buNone/>
            </a:pPr>
            <a:r>
              <a:rPr lang="en-US" sz="2200" b="1" dirty="0">
                <a:solidFill>
                  <a:schemeClr val="tx1"/>
                </a:solidFill>
              </a:rPr>
              <a:t>Documents</a:t>
            </a:r>
            <a:endParaRPr lang="en-US" sz="2200" dirty="0"/>
          </a:p>
        </p:txBody>
      </p:sp>
      <p:sp>
        <p:nvSpPr>
          <p:cNvPr id="6" name="label-390"/>
          <p:cNvSpPr txBox="1"/>
          <p:nvPr/>
        </p:nvSpPr>
        <p:spPr>
          <a:xfrm>
            <a:off x="914400" y="2194560"/>
            <a:ext cx="2926080" cy="457200"/>
          </a:xfrm>
          <a:prstGeom prst="rect">
            <a:avLst/>
          </a:prstGeom>
          <a:noFill/>
          <a:ln/>
        </p:spPr>
        <p:txBody>
          <a:bodyPr wrap="square" lIns="0" tIns="0" rIns="0" bIns="0" rtlCol="0" anchor="t"/>
          <a:lstStyle/>
          <a:p>
            <a:pPr algn="l" indent="0" marL="0">
              <a:buNone/>
            </a:pPr>
            <a:r>
              <a:rPr lang="en-US" sz="1400" i="1" dirty="0">
                <a:solidFill>
                  <a:schemeClr val="accent1"/>
                </a:solidFill>
              </a:rPr>
              <a:t>Records and workflow state</a:t>
            </a:r>
            <a:endParaRPr lang="en-US" sz="1400" dirty="0"/>
          </a:p>
        </p:txBody>
      </p:sp>
      <p:sp>
        <p:nvSpPr>
          <p:cNvPr id="7" name="label-391"/>
          <p:cNvSpPr txBox="1"/>
          <p:nvPr/>
        </p:nvSpPr>
        <p:spPr>
          <a:xfrm>
            <a:off x="914400" y="2834640"/>
            <a:ext cx="2926080" cy="1097280"/>
          </a:xfrm>
          <a:prstGeom prst="rect">
            <a:avLst/>
          </a:prstGeom>
          <a:noFill/>
          <a:ln/>
        </p:spPr>
        <p:txBody>
          <a:bodyPr wrap="square" lIns="0" tIns="0" rIns="0" bIns="0" rtlCol="0" anchor="t"/>
          <a:lstStyle/>
          <a:p>
            <a:pPr algn="l" indent="0" marL="0">
              <a:buNone/>
            </a:pPr>
            <a:r>
              <a:rPr lang="en-US" sz="1500" dirty="0">
                <a:solidFill>
                  <a:schemeClr val="tx1"/>
                </a:solidFill>
              </a:rPr>
              <a:t>“What is the status of run 1842?”</a:t>
            </a:r>
            <a:endParaRPr lang="en-US" sz="1500" dirty="0"/>
          </a:p>
        </p:txBody>
      </p:sp>
      <p:sp>
        <p:nvSpPr>
          <p:cNvPr id="8" name="label-392"/>
          <p:cNvSpPr txBox="1"/>
          <p:nvPr/>
        </p:nvSpPr>
        <p:spPr>
          <a:xfrm>
            <a:off x="914400" y="4114800"/>
            <a:ext cx="2926080" cy="1371600"/>
          </a:xfrm>
          <a:prstGeom prst="rect">
            <a:avLst/>
          </a:prstGeom>
          <a:noFill/>
          <a:ln/>
        </p:spPr>
        <p:txBody>
          <a:bodyPr wrap="square" lIns="0" tIns="0" rIns="0" bIns="0" rtlCol="0" anchor="t"/>
          <a:lstStyle/>
          <a:p>
            <a:pPr algn="l" indent="0" marL="0">
              <a:buNone/>
            </a:pPr>
            <a:r>
              <a:rPr lang="en-US" sz="1300" dirty="0">
                <a:solidFill>
                  <a:schemeClr val="tx2"/>
                </a:solidFill>
              </a:rPr>
              <a:t>the operational truth: fast, indexed, audited</a:t>
            </a:r>
            <a:endParaRPr lang="en-US" sz="1300" dirty="0"/>
          </a:p>
        </p:txBody>
      </p:sp>
      <p:sp>
        <p:nvSpPr>
          <p:cNvPr id="9" name="box-393"/>
          <p:cNvSpPr txBox="1"/>
          <p:nvPr/>
        </p:nvSpPr>
        <p:spPr>
          <a:xfrm>
            <a:off x="4389120" y="1463040"/>
            <a:ext cx="3474720" cy="4114800"/>
          </a:xfrm>
          <a:prstGeom prst="roundRect">
            <a:avLst>
              <a:gd name="adj" fmla="val 2105"/>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10" name="label-394"/>
          <p:cNvSpPr txBox="1"/>
          <p:nvPr/>
        </p:nvSpPr>
        <p:spPr>
          <a:xfrm>
            <a:off x="4663440" y="1691640"/>
            <a:ext cx="2926080" cy="457200"/>
          </a:xfrm>
          <a:prstGeom prst="rect">
            <a:avLst/>
          </a:prstGeom>
          <a:noFill/>
          <a:ln/>
        </p:spPr>
        <p:txBody>
          <a:bodyPr wrap="square" lIns="0" tIns="0" rIns="0" bIns="0" rtlCol="0" anchor="t"/>
          <a:lstStyle/>
          <a:p>
            <a:pPr algn="l" indent="0" marL="0">
              <a:buNone/>
            </a:pPr>
            <a:r>
              <a:rPr lang="en-US" sz="2200" b="1" dirty="0">
                <a:solidFill>
                  <a:schemeClr val="tx1"/>
                </a:solidFill>
              </a:rPr>
              <a:t>Vectors</a:t>
            </a:r>
            <a:endParaRPr lang="en-US" sz="2200" dirty="0"/>
          </a:p>
        </p:txBody>
      </p:sp>
      <p:sp>
        <p:nvSpPr>
          <p:cNvPr id="11" name="label-395"/>
          <p:cNvSpPr txBox="1"/>
          <p:nvPr/>
        </p:nvSpPr>
        <p:spPr>
          <a:xfrm>
            <a:off x="4663440" y="2194560"/>
            <a:ext cx="2926080" cy="457200"/>
          </a:xfrm>
          <a:prstGeom prst="rect">
            <a:avLst/>
          </a:prstGeom>
          <a:noFill/>
          <a:ln/>
        </p:spPr>
        <p:txBody>
          <a:bodyPr wrap="square" lIns="0" tIns="0" rIns="0" bIns="0" rtlCol="0" anchor="t"/>
          <a:lstStyle/>
          <a:p>
            <a:pPr algn="l" indent="0" marL="0">
              <a:buNone/>
            </a:pPr>
            <a:r>
              <a:rPr lang="en-US" sz="1400" i="1" dirty="0">
                <a:solidFill>
                  <a:schemeClr val="accent1"/>
                </a:solidFill>
              </a:rPr>
              <a:t>Similarity over messy context</a:t>
            </a:r>
            <a:endParaRPr lang="en-US" sz="1400" dirty="0"/>
          </a:p>
        </p:txBody>
      </p:sp>
      <p:sp>
        <p:nvSpPr>
          <p:cNvPr id="12" name="label-396"/>
          <p:cNvSpPr txBox="1"/>
          <p:nvPr/>
        </p:nvSpPr>
        <p:spPr>
          <a:xfrm>
            <a:off x="4663440" y="2834640"/>
            <a:ext cx="2926080" cy="1097280"/>
          </a:xfrm>
          <a:prstGeom prst="rect">
            <a:avLst/>
          </a:prstGeom>
          <a:noFill/>
          <a:ln/>
        </p:spPr>
        <p:txBody>
          <a:bodyPr wrap="square" lIns="0" tIns="0" rIns="0" bIns="0" rtlCol="0" anchor="t"/>
          <a:lstStyle/>
          <a:p>
            <a:pPr algn="l" indent="0" marL="0">
              <a:buNone/>
            </a:pPr>
            <a:r>
              <a:rPr lang="en-US" sz="1500" dirty="0">
                <a:solidFill>
                  <a:schemeClr val="tx1"/>
                </a:solidFill>
              </a:rPr>
              <a:t>“Which failures look like this one?”</a:t>
            </a:r>
            <a:endParaRPr lang="en-US" sz="1500" dirty="0"/>
          </a:p>
        </p:txBody>
      </p:sp>
      <p:sp>
        <p:nvSpPr>
          <p:cNvPr id="13" name="label-397"/>
          <p:cNvSpPr txBox="1"/>
          <p:nvPr/>
        </p:nvSpPr>
        <p:spPr>
          <a:xfrm>
            <a:off x="4663440" y="4114800"/>
            <a:ext cx="2926080" cy="1371600"/>
          </a:xfrm>
          <a:prstGeom prst="rect">
            <a:avLst/>
          </a:prstGeom>
          <a:noFill/>
          <a:ln/>
        </p:spPr>
        <p:txBody>
          <a:bodyPr wrap="square" lIns="0" tIns="0" rIns="0" bIns="0" rtlCol="0" anchor="t"/>
          <a:lstStyle/>
          <a:p>
            <a:pPr algn="l" indent="0" marL="0">
              <a:buNone/>
            </a:pPr>
            <a:r>
              <a:rPr lang="en-US" sz="1300" dirty="0">
                <a:solidFill>
                  <a:schemeClr val="tx2"/>
                </a:solidFill>
              </a:rPr>
              <a:t>a query mode beside the record, filtered by it</a:t>
            </a:r>
            <a:endParaRPr lang="en-US" sz="1300" dirty="0"/>
          </a:p>
        </p:txBody>
      </p:sp>
      <p:sp>
        <p:nvSpPr>
          <p:cNvPr id="14" name="box-398"/>
          <p:cNvSpPr txBox="1"/>
          <p:nvPr/>
        </p:nvSpPr>
        <p:spPr>
          <a:xfrm>
            <a:off x="8138160" y="1463040"/>
            <a:ext cx="3474720" cy="4114800"/>
          </a:xfrm>
          <a:prstGeom prst="roundRect">
            <a:avLst>
              <a:gd name="adj" fmla="val 2105"/>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15" name="label-399"/>
          <p:cNvSpPr txBox="1"/>
          <p:nvPr/>
        </p:nvSpPr>
        <p:spPr>
          <a:xfrm>
            <a:off x="8412480" y="1691640"/>
            <a:ext cx="2926080" cy="457200"/>
          </a:xfrm>
          <a:prstGeom prst="rect">
            <a:avLst/>
          </a:prstGeom>
          <a:noFill/>
          <a:ln/>
        </p:spPr>
        <p:txBody>
          <a:bodyPr wrap="square" lIns="0" tIns="0" rIns="0" bIns="0" rtlCol="0" anchor="t"/>
          <a:lstStyle/>
          <a:p>
            <a:pPr algn="l" indent="0" marL="0">
              <a:buNone/>
            </a:pPr>
            <a:r>
              <a:rPr lang="en-US" sz="2200" b="1" dirty="0">
                <a:solidFill>
                  <a:schemeClr val="tx1"/>
                </a:solidFill>
              </a:rPr>
              <a:t>Graph / RDF</a:t>
            </a:r>
            <a:endParaRPr lang="en-US" sz="2200" dirty="0"/>
          </a:p>
        </p:txBody>
      </p:sp>
      <p:sp>
        <p:nvSpPr>
          <p:cNvPr id="16" name="label-400"/>
          <p:cNvSpPr txBox="1"/>
          <p:nvPr/>
        </p:nvSpPr>
        <p:spPr>
          <a:xfrm>
            <a:off x="8412480" y="2194560"/>
            <a:ext cx="2926080" cy="457200"/>
          </a:xfrm>
          <a:prstGeom prst="rect">
            <a:avLst/>
          </a:prstGeom>
          <a:noFill/>
          <a:ln/>
        </p:spPr>
        <p:txBody>
          <a:bodyPr wrap="square" lIns="0" tIns="0" rIns="0" bIns="0" rtlCol="0" anchor="t"/>
          <a:lstStyle/>
          <a:p>
            <a:pPr algn="l" indent="0" marL="0">
              <a:buNone/>
            </a:pPr>
            <a:r>
              <a:rPr lang="en-US" sz="1400" i="1" dirty="0">
                <a:solidFill>
                  <a:schemeClr val="accent1"/>
                </a:solidFill>
              </a:rPr>
              <a:t>Relationships and inference</a:t>
            </a:r>
            <a:endParaRPr lang="en-US" sz="1400" dirty="0"/>
          </a:p>
        </p:txBody>
      </p:sp>
      <p:sp>
        <p:nvSpPr>
          <p:cNvPr id="17" name="label-401"/>
          <p:cNvSpPr txBox="1"/>
          <p:nvPr/>
        </p:nvSpPr>
        <p:spPr>
          <a:xfrm>
            <a:off x="8412480" y="2834640"/>
            <a:ext cx="2926080" cy="1097280"/>
          </a:xfrm>
          <a:prstGeom prst="rect">
            <a:avLst/>
          </a:prstGeom>
          <a:noFill/>
          <a:ln/>
        </p:spPr>
        <p:txBody>
          <a:bodyPr wrap="square" lIns="0" tIns="0" rIns="0" bIns="0" rtlCol="0" anchor="t"/>
          <a:lstStyle/>
          <a:p>
            <a:pPr algn="l" indent="0" marL="0">
              <a:buNone/>
            </a:pPr>
            <a:r>
              <a:rPr lang="en-US" sz="1500" dirty="0">
                <a:solidFill>
                  <a:schemeClr val="tx1"/>
                </a:solidFill>
              </a:rPr>
              <a:t>“Which devices are affected by this dataset change?”</a:t>
            </a:r>
            <a:endParaRPr lang="en-US" sz="1500" dirty="0"/>
          </a:p>
        </p:txBody>
      </p:sp>
      <p:sp>
        <p:nvSpPr>
          <p:cNvPr id="18" name="label-402"/>
          <p:cNvSpPr txBox="1"/>
          <p:nvPr/>
        </p:nvSpPr>
        <p:spPr>
          <a:xfrm>
            <a:off x="8412480" y="4114800"/>
            <a:ext cx="2926080" cy="1371600"/>
          </a:xfrm>
          <a:prstGeom prst="rect">
            <a:avLst/>
          </a:prstGeom>
          <a:noFill/>
          <a:ln/>
        </p:spPr>
        <p:txBody>
          <a:bodyPr wrap="square" lIns="0" tIns="0" rIns="0" bIns="0" rtlCol="0" anchor="t"/>
          <a:lstStyle/>
          <a:p>
            <a:pPr algn="l" indent="0" marL="0">
              <a:buNone/>
            </a:pPr>
            <a:r>
              <a:rPr lang="en-US" sz="1300" dirty="0">
                <a:solidFill>
                  <a:schemeClr val="tx2"/>
                </a:solidFill>
              </a:rPr>
              <a:t>$graphLookup for bounded hops; a triple store when you need reasoning</a:t>
            </a:r>
            <a:endParaRPr lang="en-US" sz="1300" dirty="0"/>
          </a:p>
        </p:txBody>
      </p:sp>
      <p:sp>
        <p:nvSpPr>
          <p:cNvPr id="19" name="label-403"/>
          <p:cNvSpPr txBox="1"/>
          <p:nvPr/>
        </p:nvSpPr>
        <p:spPr>
          <a:xfrm>
            <a:off x="640080" y="5806440"/>
            <a:ext cx="10972800" cy="365760"/>
          </a:xfrm>
          <a:prstGeom prst="rect">
            <a:avLst/>
          </a:prstGeom>
          <a:noFill/>
          <a:ln/>
        </p:spPr>
        <p:txBody>
          <a:bodyPr wrap="square" lIns="0" tIns="0" rIns="0" bIns="0" rtlCol="0" anchor="t"/>
          <a:lstStyle/>
          <a:p>
            <a:pPr algn="l" indent="0" marL="0">
              <a:buNone/>
            </a:pPr>
            <a:r>
              <a:rPr lang="en-US" sz="1500" i="1" dirty="0">
                <a:solidFill>
                  <a:schemeClr val="accent1"/>
                </a:solidFill>
              </a:rPr>
              <a:t>Pick the store by the shape of the question, not the shape of the data.</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Answering off-script</a:t>
            </a:r>
            <a:endParaRPr lang="en-US" sz="3200" dirty="0"/>
          </a:p>
        </p:txBody>
      </p:sp>
      <p:sp>
        <p:nvSpPr>
          <p:cNvPr id="4" name="num-404"/>
          <p:cNvSpPr txBox="1"/>
          <p:nvPr/>
        </p:nvSpPr>
        <p:spPr>
          <a:xfrm>
            <a:off x="822960" y="160020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label-405"/>
          <p:cNvSpPr txBox="1"/>
          <p:nvPr/>
        </p:nvSpPr>
        <p:spPr>
          <a:xfrm>
            <a:off x="1554480" y="1554480"/>
            <a:ext cx="9601200" cy="457200"/>
          </a:xfrm>
          <a:prstGeom prst="rect">
            <a:avLst/>
          </a:prstGeom>
          <a:noFill/>
          <a:ln/>
        </p:spPr>
        <p:txBody>
          <a:bodyPr wrap="square" lIns="0" tIns="0" rIns="0" bIns="0" rtlCol="0" anchor="t"/>
          <a:lstStyle/>
          <a:p>
            <a:pPr algn="l" indent="0" marL="0">
              <a:buNone/>
            </a:pPr>
            <a:r>
              <a:rPr lang="en-US" sz="2200" b="1" dirty="0">
                <a:solidFill>
                  <a:schemeClr val="tx1"/>
                </a:solidFill>
              </a:rPr>
              <a:t>Say it back</a:t>
            </a:r>
            <a:endParaRPr lang="en-US" sz="2200" dirty="0"/>
          </a:p>
        </p:txBody>
      </p:sp>
      <p:sp>
        <p:nvSpPr>
          <p:cNvPr id="6" name="label-406"/>
          <p:cNvSpPr txBox="1"/>
          <p:nvPr/>
        </p:nvSpPr>
        <p:spPr>
          <a:xfrm>
            <a:off x="1554480" y="2029968"/>
            <a:ext cx="9601200" cy="457200"/>
          </a:xfrm>
          <a:prstGeom prst="rect">
            <a:avLst/>
          </a:prstGeom>
          <a:noFill/>
          <a:ln/>
        </p:spPr>
        <p:txBody>
          <a:bodyPr wrap="square" lIns="0" tIns="0" rIns="0" bIns="0" rtlCol="0" anchor="t"/>
          <a:lstStyle/>
          <a:p>
            <a:pPr algn="l" indent="0" marL="0">
              <a:buNone/>
            </a:pPr>
            <a:r>
              <a:rPr lang="en-US" sz="1400" dirty="0">
                <a:solidFill>
                  <a:schemeClr val="tx2"/>
                </a:solidFill>
              </a:rPr>
              <a:t>one sentence, so you're answering the question they asked</a:t>
            </a:r>
            <a:endParaRPr lang="en-US" sz="1400" dirty="0"/>
          </a:p>
        </p:txBody>
      </p:sp>
      <p:sp>
        <p:nvSpPr>
          <p:cNvPr id="7" name="num-407"/>
          <p:cNvSpPr txBox="1"/>
          <p:nvPr/>
        </p:nvSpPr>
        <p:spPr>
          <a:xfrm>
            <a:off x="822960" y="265176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label-408"/>
          <p:cNvSpPr txBox="1"/>
          <p:nvPr/>
        </p:nvSpPr>
        <p:spPr>
          <a:xfrm>
            <a:off x="1554480" y="2606040"/>
            <a:ext cx="9601200" cy="457200"/>
          </a:xfrm>
          <a:prstGeom prst="rect">
            <a:avLst/>
          </a:prstGeom>
          <a:noFill/>
          <a:ln/>
        </p:spPr>
        <p:txBody>
          <a:bodyPr wrap="square" lIns="0" tIns="0" rIns="0" bIns="0" rtlCol="0" anchor="t"/>
          <a:lstStyle/>
          <a:p>
            <a:pPr algn="l" indent="0" marL="0">
              <a:buNone/>
            </a:pPr>
            <a:r>
              <a:rPr lang="en-US" sz="2200" b="1" dirty="0">
                <a:solidFill>
                  <a:schemeClr val="tx1"/>
                </a:solidFill>
              </a:rPr>
              <a:t>Name the mechanism</a:t>
            </a:r>
            <a:endParaRPr lang="en-US" sz="2200" dirty="0"/>
          </a:p>
        </p:txBody>
      </p:sp>
      <p:sp>
        <p:nvSpPr>
          <p:cNvPr id="9" name="label-409"/>
          <p:cNvSpPr txBox="1"/>
          <p:nvPr/>
        </p:nvSpPr>
        <p:spPr>
          <a:xfrm>
            <a:off x="1554480" y="3081528"/>
            <a:ext cx="9601200" cy="457200"/>
          </a:xfrm>
          <a:prstGeom prst="rect">
            <a:avLst/>
          </a:prstGeom>
          <a:noFill/>
          <a:ln/>
        </p:spPr>
        <p:txBody>
          <a:bodyPr wrap="square" lIns="0" tIns="0" rIns="0" bIns="0" rtlCol="0" anchor="t"/>
          <a:lstStyle/>
          <a:p>
            <a:pPr algn="l" indent="0" marL="0">
              <a:buNone/>
            </a:pPr>
            <a:r>
              <a:rPr lang="en-US" sz="1400" dirty="0">
                <a:solidFill>
                  <a:schemeClr val="tx2"/>
                </a:solidFill>
              </a:rPr>
              <a:t>“this is really a question about where the write cost lands”</a:t>
            </a:r>
            <a:endParaRPr lang="en-US" sz="1400" dirty="0"/>
          </a:p>
        </p:txBody>
      </p:sp>
      <p:sp>
        <p:nvSpPr>
          <p:cNvPr id="10" name="num-410"/>
          <p:cNvSpPr txBox="1"/>
          <p:nvPr/>
        </p:nvSpPr>
        <p:spPr>
          <a:xfrm>
            <a:off x="822960" y="37033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label-411"/>
          <p:cNvSpPr txBox="1"/>
          <p:nvPr/>
        </p:nvSpPr>
        <p:spPr>
          <a:xfrm>
            <a:off x="1554480" y="3657600"/>
            <a:ext cx="9601200" cy="457200"/>
          </a:xfrm>
          <a:prstGeom prst="rect">
            <a:avLst/>
          </a:prstGeom>
          <a:noFill/>
          <a:ln/>
        </p:spPr>
        <p:txBody>
          <a:bodyPr wrap="square" lIns="0" tIns="0" rIns="0" bIns="0" rtlCol="0" anchor="t"/>
          <a:lstStyle/>
          <a:p>
            <a:pPr algn="l" indent="0" marL="0">
              <a:buNone/>
            </a:pPr>
            <a:r>
              <a:rPr lang="en-US" sz="2200" b="1" dirty="0">
                <a:solidFill>
                  <a:schemeClr val="tx1"/>
                </a:solidFill>
              </a:rPr>
              <a:t>Walk it on the example</a:t>
            </a:r>
            <a:endParaRPr lang="en-US" sz="2200" dirty="0"/>
          </a:p>
        </p:txBody>
      </p:sp>
      <p:sp>
        <p:nvSpPr>
          <p:cNvPr id="12" name="label-412"/>
          <p:cNvSpPr txBox="1"/>
          <p:nvPr/>
        </p:nvSpPr>
        <p:spPr>
          <a:xfrm>
            <a:off x="1554480" y="4133088"/>
            <a:ext cx="9601200" cy="457200"/>
          </a:xfrm>
          <a:prstGeom prst="rect">
            <a:avLst/>
          </a:prstGeom>
          <a:noFill/>
          <a:ln/>
        </p:spPr>
        <p:txBody>
          <a:bodyPr wrap="square" lIns="0" tIns="0" rIns="0" bIns="0" rtlCol="0" anchor="t"/>
          <a:lstStyle/>
          <a:p>
            <a:pPr algn="l" indent="0" marL="0">
              <a:buNone/>
            </a:pPr>
            <a:r>
              <a:rPr lang="en-US" sz="1400" dirty="0">
                <a:solidFill>
                  <a:schemeClr val="tx2"/>
                </a:solidFill>
              </a:rPr>
              <a:t>two or three steps: a run, a job, a status change</a:t>
            </a:r>
            <a:endParaRPr lang="en-US" sz="1400" dirty="0"/>
          </a:p>
        </p:txBody>
      </p:sp>
      <p:sp>
        <p:nvSpPr>
          <p:cNvPr id="13" name="num-413"/>
          <p:cNvSpPr txBox="1"/>
          <p:nvPr/>
        </p:nvSpPr>
        <p:spPr>
          <a:xfrm>
            <a:off x="822960" y="475488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label-414"/>
          <p:cNvSpPr txBox="1"/>
          <p:nvPr/>
        </p:nvSpPr>
        <p:spPr>
          <a:xfrm>
            <a:off x="1554480" y="4709160"/>
            <a:ext cx="9601200" cy="457200"/>
          </a:xfrm>
          <a:prstGeom prst="rect">
            <a:avLst/>
          </a:prstGeom>
          <a:noFill/>
          <a:ln/>
        </p:spPr>
        <p:txBody>
          <a:bodyPr wrap="square" lIns="0" tIns="0" rIns="0" bIns="0" rtlCol="0" anchor="t"/>
          <a:lstStyle/>
          <a:p>
            <a:pPr algn="l" indent="0" marL="0">
              <a:buNone/>
            </a:pPr>
            <a:r>
              <a:rPr lang="en-US" sz="2200" b="1" dirty="0">
                <a:solidFill>
                  <a:schemeClr val="tx1"/>
                </a:solidFill>
              </a:rPr>
              <a:t>Say what you'd check</a:t>
            </a:r>
            <a:endParaRPr lang="en-US" sz="2200" dirty="0"/>
          </a:p>
        </p:txBody>
      </p:sp>
      <p:sp>
        <p:nvSpPr>
          <p:cNvPr id="15" name="label-415"/>
          <p:cNvSpPr txBox="1"/>
          <p:nvPr/>
        </p:nvSpPr>
        <p:spPr>
          <a:xfrm>
            <a:off x="1554480" y="5184648"/>
            <a:ext cx="9601200" cy="457200"/>
          </a:xfrm>
          <a:prstGeom prst="rect">
            <a:avLst/>
          </a:prstGeom>
          <a:noFill/>
          <a:ln/>
        </p:spPr>
        <p:txBody>
          <a:bodyPr wrap="square" lIns="0" tIns="0" rIns="0" bIns="0" rtlCol="0" anchor="t"/>
          <a:lstStyle/>
          <a:p>
            <a:pPr algn="l" indent="0" marL="0">
              <a:buNone/>
            </a:pPr>
            <a:r>
              <a:rPr lang="en-US" sz="1400" dirty="0">
                <a:solidFill>
                  <a:schemeClr val="tx2"/>
                </a:solidFill>
              </a:rPr>
              <a:t>what you'd measure before committing, and where you're unsure</a:t>
            </a:r>
            <a:endParaRPr lang="en-US" sz="1400" dirty="0"/>
          </a:p>
        </p:txBody>
      </p:sp>
      <p:sp>
        <p:nvSpPr>
          <p:cNvPr id="16" name="label-416"/>
          <p:cNvSpPr txBox="1"/>
          <p:nvPr/>
        </p:nvSpPr>
        <p:spPr>
          <a:xfrm>
            <a:off x="822960" y="5852160"/>
            <a:ext cx="10515600" cy="365760"/>
          </a:xfrm>
          <a:prstGeom prst="rect">
            <a:avLst/>
          </a:prstGeom>
          <a:noFill/>
          <a:ln/>
        </p:spPr>
        <p:txBody>
          <a:bodyPr wrap="square" lIns="0" tIns="0" rIns="0" bIns="0" rtlCol="0" anchor="t"/>
          <a:lstStyle/>
          <a:p>
            <a:pPr algn="l" indent="0" marL="0">
              <a:buNone/>
            </a:pPr>
            <a:r>
              <a:rPr lang="en-US" sz="1400" i="1" dirty="0">
                <a:solidFill>
                  <a:schemeClr val="accent1"/>
                </a:solidFill>
              </a:rPr>
              <a:t>They are scoring the method, not the answer. Reasoning aloud is the deliverable.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The helpers I wrote by hand now ship</a:t>
            </a:r>
            <a:endParaRPr lang="en-US" sz="3200" dirty="0"/>
          </a:p>
        </p:txBody>
      </p:sp>
      <p:sp>
        <p:nvSpPr>
          <p:cNvPr id="4" name="label-417"/>
          <p:cNvSpPr txBox="1"/>
          <p:nvPr/>
        </p:nvSpPr>
        <p:spPr>
          <a:xfrm>
            <a:off x="640080" y="1325880"/>
            <a:ext cx="3657600" cy="365760"/>
          </a:xfrm>
          <a:prstGeom prst="rect">
            <a:avLst/>
          </a:prstGeom>
          <a:noFill/>
          <a:ln/>
        </p:spPr>
        <p:txBody>
          <a:bodyPr wrap="square" lIns="0" tIns="0" rIns="0" bIns="0" rtlCol="0" anchor="t"/>
          <a:lstStyle/>
          <a:p>
            <a:pPr algn="l" indent="0" marL="0">
              <a:buNone/>
            </a:pPr>
            <a:r>
              <a:rPr lang="en-US" sz="1400" b="1" dirty="0">
                <a:solidFill>
                  <a:schemeClr val="tx2"/>
                </a:solidFill>
              </a:rPr>
              <a:t>What I built in five evenings</a:t>
            </a:r>
            <a:endParaRPr lang="en-US" sz="1400" dirty="0"/>
          </a:p>
        </p:txBody>
      </p:sp>
      <p:sp>
        <p:nvSpPr>
          <p:cNvPr id="5" name="label-418"/>
          <p:cNvSpPr txBox="1"/>
          <p:nvPr/>
        </p:nvSpPr>
        <p:spPr>
          <a:xfrm>
            <a:off x="4846320" y="1325880"/>
            <a:ext cx="6400800" cy="365760"/>
          </a:xfrm>
          <a:prstGeom prst="rect">
            <a:avLst/>
          </a:prstGeom>
          <a:noFill/>
          <a:ln/>
        </p:spPr>
        <p:txBody>
          <a:bodyPr wrap="square" lIns="0" tIns="0" rIns="0" bIns="0" rtlCol="0" anchor="t"/>
          <a:lstStyle/>
          <a:p>
            <a:pPr algn="l" indent="0" marL="0">
              <a:buNone/>
            </a:pPr>
            <a:r>
              <a:rPr lang="en-US" sz="1400" b="1" dirty="0">
                <a:solidFill>
                  <a:schemeClr val="accent1"/>
                </a:solidFill>
              </a:rPr>
              <a:t>What MongoDB ships as Agent Skills</a:t>
            </a:r>
            <a:endParaRPr lang="en-US" sz="1400" dirty="0"/>
          </a:p>
        </p:txBody>
      </p:sp>
      <p:sp>
        <p:nvSpPr>
          <p:cNvPr id="6" name="box-419"/>
          <p:cNvSpPr txBox="1"/>
          <p:nvPr/>
        </p:nvSpPr>
        <p:spPr>
          <a:xfrm>
            <a:off x="640080" y="1783080"/>
            <a:ext cx="3657600" cy="914400"/>
          </a:xfrm>
          <a:prstGeom prst="roundRect">
            <a:avLst>
              <a:gd name="adj" fmla="val 8000"/>
            </a:avLst>
          </a:prstGeom>
          <a:solidFill>
            <a:schemeClr val="bg2"/>
          </a:solidFill>
          <a:ln w="12700">
            <a:solidFill>
              <a:schemeClr val="accent4"/>
            </a:solidFill>
          </a:ln>
        </p:spPr>
        <p:txBody>
          <a:bodyPr wrap="square" lIns="1016" tIns="1016" rIns="1016" bIns="1016" rtlCol="0" anchor="ctr"/>
          <a:lstStyle/>
          <a:p>
            <a:pPr algn="ctr" indent="0" marL="0">
              <a:buNone/>
            </a:pPr>
            <a:r>
              <a:rPr lang="en-US" sz="1600" b="1" dirty="0">
                <a:solidFill>
                  <a:schemeClr val="tx1"/>
                </a:solidFill>
              </a:rPr>
              <a:t>Stub the whole API</a:t>
            </a:r>
            <a:endParaRPr lang="en-US" sz="1600" dirty="0"/>
          </a:p>
        </p:txBody>
      </p:sp>
      <p:sp>
        <p:nvSpPr>
          <p:cNvPr id="7" name="arrow-420"/>
          <p:cNvSpPr/>
          <p:nvPr/>
        </p:nvSpPr>
        <p:spPr>
          <a:xfrm>
            <a:off x="4297680" y="2240280"/>
            <a:ext cx="548640" cy="0"/>
          </a:xfrm>
          <a:prstGeom prst="line">
            <a:avLst/>
          </a:prstGeom>
          <a:noFill/>
          <a:ln w="25400">
            <a:solidFill>
              <a:schemeClr val="accent1"/>
            </a:solidFill>
            <a:prstDash val="solid"/>
            <a:tailEnd type="triangle"/>
          </a:ln>
        </p:spPr>
      </p:sp>
      <p:sp>
        <p:nvSpPr>
          <p:cNvPr id="8" name="box-421"/>
          <p:cNvSpPr txBox="1"/>
          <p:nvPr/>
        </p:nvSpPr>
        <p:spPr>
          <a:xfrm>
            <a:off x="4846320" y="1783080"/>
            <a:ext cx="3108960" cy="914400"/>
          </a:xfrm>
          <a:prstGeom prst="roundRect">
            <a:avLst>
              <a:gd name="adj" fmla="val 8000"/>
            </a:avLst>
          </a:prstGeom>
          <a:solidFill>
            <a:schemeClr val="accent3"/>
          </a:solidFill>
          <a:ln w="12700">
            <a:solidFill>
              <a:schemeClr val="accent1"/>
            </a:solidFill>
          </a:ln>
        </p:spPr>
        <p:txBody>
          <a:bodyPr wrap="square" lIns="1016" tIns="1016" rIns="1016" bIns="1016" rtlCol="0" anchor="ctr"/>
          <a:lstStyle/>
          <a:p>
            <a:pPr algn="ctr" indent="0" marL="0">
              <a:buNone/>
            </a:pPr>
            <a:r>
              <a:rPr lang="en-US" sz="1500" b="1" dirty="0">
                <a:solidFill>
                  <a:schemeClr val="tx1"/>
                </a:solidFill>
              </a:rPr>
              <a:t>MongoDB MCP Server</a:t>
            </a:r>
            <a:endParaRPr lang="en-US" sz="1500" dirty="0"/>
          </a:p>
        </p:txBody>
      </p:sp>
      <p:sp>
        <p:nvSpPr>
          <p:cNvPr id="9" name="label-422"/>
          <p:cNvSpPr txBox="1"/>
          <p:nvPr/>
        </p:nvSpPr>
        <p:spPr>
          <a:xfrm>
            <a:off x="8138160" y="1874520"/>
            <a:ext cx="3474720" cy="822960"/>
          </a:xfrm>
          <a:prstGeom prst="rect">
            <a:avLst/>
          </a:prstGeom>
          <a:noFill/>
          <a:ln/>
        </p:spPr>
        <p:txBody>
          <a:bodyPr wrap="square" lIns="0" tIns="0" rIns="0" bIns="0" rtlCol="0" anchor="ctr"/>
          <a:lstStyle/>
          <a:p>
            <a:pPr algn="l" indent="0" marL="0">
              <a:buNone/>
            </a:pPr>
            <a:r>
              <a:rPr lang="en-US" sz="1300" dirty="0">
                <a:solidFill>
                  <a:schemeClr val="tx2"/>
                </a:solidFill>
              </a:rPr>
              <a:t>the agent talks to the real database — real schemas, real indexes, no guessing</a:t>
            </a:r>
            <a:endParaRPr lang="en-US" sz="1300" dirty="0"/>
          </a:p>
        </p:txBody>
      </p:sp>
      <p:sp>
        <p:nvSpPr>
          <p:cNvPr id="10" name="box-423"/>
          <p:cNvSpPr txBox="1"/>
          <p:nvPr/>
        </p:nvSpPr>
        <p:spPr>
          <a:xfrm>
            <a:off x="640080" y="2971800"/>
            <a:ext cx="3657600" cy="914400"/>
          </a:xfrm>
          <a:prstGeom prst="roundRect">
            <a:avLst>
              <a:gd name="adj" fmla="val 8000"/>
            </a:avLst>
          </a:prstGeom>
          <a:solidFill>
            <a:schemeClr val="bg2"/>
          </a:solidFill>
          <a:ln w="12700">
            <a:solidFill>
              <a:schemeClr val="accent4"/>
            </a:solidFill>
          </a:ln>
        </p:spPr>
        <p:txBody>
          <a:bodyPr wrap="square" lIns="1016" tIns="1016" rIns="1016" bIns="1016" rtlCol="0" anchor="ctr"/>
          <a:lstStyle/>
          <a:p>
            <a:pPr algn="ctr" indent="0" marL="0">
              <a:buNone/>
            </a:pPr>
            <a:r>
              <a:rPr lang="en-US" sz="1600" b="1" dirty="0">
                <a:solidFill>
                  <a:schemeClr val="tx1"/>
                </a:solidFill>
              </a:rPr>
              <a:t>Test every tool</a:t>
            </a:r>
            <a:endParaRPr lang="en-US" sz="1600" dirty="0"/>
          </a:p>
        </p:txBody>
      </p:sp>
      <p:sp>
        <p:nvSpPr>
          <p:cNvPr id="11" name="arrow-424"/>
          <p:cNvSpPr/>
          <p:nvPr/>
        </p:nvSpPr>
        <p:spPr>
          <a:xfrm>
            <a:off x="4297680" y="3429000"/>
            <a:ext cx="548640" cy="0"/>
          </a:xfrm>
          <a:prstGeom prst="line">
            <a:avLst/>
          </a:prstGeom>
          <a:noFill/>
          <a:ln w="25400">
            <a:solidFill>
              <a:schemeClr val="accent1"/>
            </a:solidFill>
            <a:prstDash val="solid"/>
            <a:tailEnd type="triangle"/>
          </a:ln>
        </p:spPr>
      </p:sp>
      <p:sp>
        <p:nvSpPr>
          <p:cNvPr id="12" name="box-425"/>
          <p:cNvSpPr txBox="1"/>
          <p:nvPr/>
        </p:nvSpPr>
        <p:spPr>
          <a:xfrm>
            <a:off x="4846320" y="2971800"/>
            <a:ext cx="3108960" cy="914400"/>
          </a:xfrm>
          <a:prstGeom prst="roundRect">
            <a:avLst>
              <a:gd name="adj" fmla="val 8000"/>
            </a:avLst>
          </a:prstGeom>
          <a:solidFill>
            <a:schemeClr val="accent3"/>
          </a:solidFill>
          <a:ln w="12700">
            <a:solidFill>
              <a:schemeClr val="accent1"/>
            </a:solidFill>
          </a:ln>
        </p:spPr>
        <p:txBody>
          <a:bodyPr wrap="square" lIns="1016" tIns="1016" rIns="1016" bIns="1016" rtlCol="0" anchor="ctr"/>
          <a:lstStyle/>
          <a:p>
            <a:pPr algn="ctr" indent="0" marL="0">
              <a:buNone/>
            </a:pPr>
            <a:r>
              <a:rPr lang="en-US" sz="1500" b="1" dirty="0">
                <a:solidFill>
                  <a:schemeClr val="tx1"/>
                </a:solidFill>
              </a:rPr>
              <a:t>Query Optimizer skill</a:t>
            </a:r>
            <a:endParaRPr lang="en-US" sz="1500" dirty="0"/>
          </a:p>
        </p:txBody>
      </p:sp>
      <p:sp>
        <p:nvSpPr>
          <p:cNvPr id="13" name="label-426"/>
          <p:cNvSpPr txBox="1"/>
          <p:nvPr/>
        </p:nvSpPr>
        <p:spPr>
          <a:xfrm>
            <a:off x="8138160" y="3063240"/>
            <a:ext cx="3474720" cy="822960"/>
          </a:xfrm>
          <a:prstGeom prst="rect">
            <a:avLst/>
          </a:prstGeom>
          <a:noFill/>
          <a:ln/>
        </p:spPr>
        <p:txBody>
          <a:bodyPr wrap="square" lIns="0" tIns="0" rIns="0" bIns="0" rtlCol="0" anchor="ctr"/>
          <a:lstStyle/>
          <a:p>
            <a:pPr algn="l" indent="0" marL="0">
              <a:buNone/>
            </a:pPr>
            <a:r>
              <a:rPr lang="en-US" sz="1300" dirty="0">
                <a:solidFill>
                  <a:schemeClr val="tx2"/>
                </a:solidFill>
              </a:rPr>
              <a:t>checks the index serves the query; finds the equality-sort-range order</a:t>
            </a:r>
            <a:endParaRPr lang="en-US" sz="1300" dirty="0"/>
          </a:p>
        </p:txBody>
      </p:sp>
      <p:sp>
        <p:nvSpPr>
          <p:cNvPr id="14" name="box-427"/>
          <p:cNvSpPr txBox="1"/>
          <p:nvPr/>
        </p:nvSpPr>
        <p:spPr>
          <a:xfrm>
            <a:off x="640080" y="4160520"/>
            <a:ext cx="3657600" cy="914400"/>
          </a:xfrm>
          <a:prstGeom prst="roundRect">
            <a:avLst>
              <a:gd name="adj" fmla="val 8000"/>
            </a:avLst>
          </a:prstGeom>
          <a:solidFill>
            <a:schemeClr val="bg2"/>
          </a:solidFill>
          <a:ln w="12700">
            <a:solidFill>
              <a:schemeClr val="accent4"/>
            </a:solidFill>
          </a:ln>
        </p:spPr>
        <p:txBody>
          <a:bodyPr wrap="square" lIns="1016" tIns="1016" rIns="1016" bIns="1016" rtlCol="0" anchor="ctr"/>
          <a:lstStyle/>
          <a:p>
            <a:pPr algn="ctr" indent="0" marL="0">
              <a:buNone/>
            </a:pPr>
            <a:r>
              <a:rPr lang="en-US" sz="1600" b="1" dirty="0">
                <a:solidFill>
                  <a:schemeClr val="tx1"/>
                </a:solidFill>
              </a:rPr>
              <a:t>Agent-friendly helpers</a:t>
            </a:r>
            <a:endParaRPr lang="en-US" sz="1600" dirty="0"/>
          </a:p>
        </p:txBody>
      </p:sp>
      <p:sp>
        <p:nvSpPr>
          <p:cNvPr id="15" name="arrow-428"/>
          <p:cNvSpPr/>
          <p:nvPr/>
        </p:nvSpPr>
        <p:spPr>
          <a:xfrm>
            <a:off x="4297680" y="4617720"/>
            <a:ext cx="548640" cy="0"/>
          </a:xfrm>
          <a:prstGeom prst="line">
            <a:avLst/>
          </a:prstGeom>
          <a:noFill/>
          <a:ln w="25400">
            <a:solidFill>
              <a:schemeClr val="accent1"/>
            </a:solidFill>
            <a:prstDash val="solid"/>
            <a:tailEnd type="triangle"/>
          </a:ln>
        </p:spPr>
      </p:sp>
      <p:sp>
        <p:nvSpPr>
          <p:cNvPr id="16" name="box-429"/>
          <p:cNvSpPr txBox="1"/>
          <p:nvPr/>
        </p:nvSpPr>
        <p:spPr>
          <a:xfrm>
            <a:off x="4846320" y="4160520"/>
            <a:ext cx="3108960" cy="914400"/>
          </a:xfrm>
          <a:prstGeom prst="roundRect">
            <a:avLst>
              <a:gd name="adj" fmla="val 8000"/>
            </a:avLst>
          </a:prstGeom>
          <a:solidFill>
            <a:schemeClr val="accent3"/>
          </a:solidFill>
          <a:ln w="12700">
            <a:solidFill>
              <a:schemeClr val="accent1"/>
            </a:solidFill>
          </a:ln>
        </p:spPr>
        <p:txBody>
          <a:bodyPr wrap="square" lIns="1016" tIns="1016" rIns="1016" bIns="1016" rtlCol="0" anchor="ctr"/>
          <a:lstStyle/>
          <a:p>
            <a:pPr algn="ctr" indent="0" marL="0">
              <a:buNone/>
            </a:pPr>
            <a:r>
              <a:rPr lang="en-US" sz="1500" b="1" dirty="0">
                <a:solidFill>
                  <a:schemeClr val="tx1"/>
                </a:solidFill>
              </a:rPr>
              <a:t>Schema Design + NL Querying skills</a:t>
            </a:r>
            <a:endParaRPr lang="en-US" sz="1500" dirty="0"/>
          </a:p>
        </p:txBody>
      </p:sp>
      <p:sp>
        <p:nvSpPr>
          <p:cNvPr id="17" name="label-430"/>
          <p:cNvSpPr txBox="1"/>
          <p:nvPr/>
        </p:nvSpPr>
        <p:spPr>
          <a:xfrm>
            <a:off x="8138160" y="4251960"/>
            <a:ext cx="3474720" cy="822960"/>
          </a:xfrm>
          <a:prstGeom prst="rect">
            <a:avLst/>
          </a:prstGeom>
          <a:noFill/>
          <a:ln/>
        </p:spPr>
        <p:txBody>
          <a:bodyPr wrap="square" lIns="0" tIns="0" rIns="0" bIns="0" rtlCol="0" anchor="ctr"/>
          <a:lstStyle/>
          <a:p>
            <a:pPr algn="l" indent="0" marL="0">
              <a:buNone/>
            </a:pPr>
            <a:r>
              <a:rPr lang="en-US" sz="1300" dirty="0">
                <a:solidFill>
                  <a:schemeClr val="tx2"/>
                </a:solidFill>
              </a:rPr>
              <a:t>embed vs reference, validation rules, natural language to aggregation</a:t>
            </a:r>
            <a:endParaRPr lang="en-US" sz="1300" dirty="0"/>
          </a:p>
        </p:txBody>
      </p:sp>
      <p:sp>
        <p:nvSpPr>
          <p:cNvPr id="18" name="code-431"/>
          <p:cNvSpPr txBox="1"/>
          <p:nvPr/>
        </p:nvSpPr>
        <p:spPr>
          <a:xfrm>
            <a:off x="640080" y="5440680"/>
            <a:ext cx="5486400" cy="685800"/>
          </a:xfrm>
          <a:prstGeom prst="roundRect">
            <a:avLst>
              <a:gd name="adj" fmla="val 10667"/>
            </a:avLst>
          </a:prstGeom>
          <a:solidFill>
            <a:schemeClr val="bg2"/>
          </a:solidFill>
          <a:ln w="12700">
            <a:solidFill>
              <a:schemeClr val="accent4"/>
            </a:solidFill>
          </a:ln>
        </p:spPr>
        <p:txBody>
          <a:bodyPr wrap="square" lIns="2286" tIns="2286" rIns="2286" bIns="2286"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npx skills add mongodb/agent-skills   ·   /schema-design   /query-optimizer</a:t>
            </a:r>
            <a:endParaRPr lang="en-US" sz="1200" dirty="0"/>
          </a:p>
        </p:txBody>
      </p:sp>
      <p:sp>
        <p:nvSpPr>
          <p:cNvPr id="19" name="label-432"/>
          <p:cNvSpPr txBox="1"/>
          <p:nvPr/>
        </p:nvSpPr>
        <p:spPr>
          <a:xfrm>
            <a:off x="6309360" y="5440680"/>
            <a:ext cx="5303520" cy="731520"/>
          </a:xfrm>
          <a:prstGeom prst="rect">
            <a:avLst/>
          </a:prstGeom>
          <a:noFill/>
          <a:ln/>
        </p:spPr>
        <p:txBody>
          <a:bodyPr wrap="square" lIns="0" tIns="0" rIns="0" bIns="0" rtlCol="0" anchor="t"/>
          <a:lstStyle/>
          <a:p>
            <a:pPr algn="l" indent="0" marL="0">
              <a:buNone/>
            </a:pPr>
            <a:r>
              <a:rPr lang="en-US" sz="1300" i="1" dirty="0">
                <a:solidFill>
                  <a:schemeClr val="accent1"/>
                </a:solidFill>
              </a:rPr>
              <a:t>Skills are curriculum, encoded for the agent. Bundled with the MCP Server in the Claude, Codex, Cursor and Gemini plugins.</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Likely questions</a:t>
            </a:r>
            <a:endParaRPr lang="en-US" sz="3200" dirty="0"/>
          </a:p>
        </p:txBody>
      </p:sp>
      <p:sp>
        <p:nvSpPr>
          <p:cNvPr id="4" name="label-433"/>
          <p:cNvSpPr txBox="1"/>
          <p:nvPr/>
        </p:nvSpPr>
        <p:spPr>
          <a:xfrm>
            <a:off x="822960" y="1463040"/>
            <a:ext cx="2011680" cy="640080"/>
          </a:xfrm>
          <a:prstGeom prst="rect">
            <a:avLst/>
          </a:prstGeom>
          <a:noFill/>
          <a:ln/>
        </p:spPr>
        <p:txBody>
          <a:bodyPr wrap="square" lIns="0" tIns="0" rIns="0" bIns="0" rtlCol="0" anchor="ctr"/>
          <a:lstStyle/>
          <a:p>
            <a:pPr algn="l" indent="0" marL="0">
              <a:buNone/>
            </a:pPr>
            <a:r>
              <a:rPr lang="en-US" sz="1600" b="1" dirty="0">
                <a:solidFill>
                  <a:schemeClr val="accent1"/>
                </a:solidFill>
              </a:rPr>
              <a:t>Schema</a:t>
            </a:r>
            <a:endParaRPr lang="en-US" sz="1600" dirty="0"/>
          </a:p>
        </p:txBody>
      </p:sp>
      <p:sp>
        <p:nvSpPr>
          <p:cNvPr id="5" name="label-434"/>
          <p:cNvSpPr txBox="1"/>
          <p:nvPr/>
        </p:nvSpPr>
        <p:spPr>
          <a:xfrm>
            <a:off x="2926080" y="1463040"/>
            <a:ext cx="8686800" cy="640080"/>
          </a:xfrm>
          <a:prstGeom prst="rect">
            <a:avLst/>
          </a:prstGeom>
          <a:noFill/>
          <a:ln/>
        </p:spPr>
        <p:txBody>
          <a:bodyPr wrap="square" lIns="0" tIns="0" rIns="0" bIns="0" rtlCol="0" anchor="ctr"/>
          <a:lstStyle/>
          <a:p>
            <a:pPr algn="l" indent="0" marL="0">
              <a:buNone/>
            </a:pPr>
            <a:r>
              <a:rPr lang="en-US" sz="1400" dirty="0">
                <a:solidFill>
                  <a:schemeClr val="tx2"/>
                </a:solidFill>
              </a:rPr>
              <a:t>What if jobs grow without bound? When would you split runs / jobs / events? The 16 MB limit and the subset pattern.</a:t>
            </a:r>
            <a:endParaRPr lang="en-US" sz="1400" dirty="0"/>
          </a:p>
        </p:txBody>
      </p:sp>
      <p:sp>
        <p:nvSpPr>
          <p:cNvPr id="6" name="label-435"/>
          <p:cNvSpPr txBox="1"/>
          <p:nvPr/>
        </p:nvSpPr>
        <p:spPr>
          <a:xfrm>
            <a:off x="822960" y="2240280"/>
            <a:ext cx="2011680" cy="640080"/>
          </a:xfrm>
          <a:prstGeom prst="rect">
            <a:avLst/>
          </a:prstGeom>
          <a:noFill/>
          <a:ln/>
        </p:spPr>
        <p:txBody>
          <a:bodyPr wrap="square" lIns="0" tIns="0" rIns="0" bIns="0" rtlCol="0" anchor="ctr"/>
          <a:lstStyle/>
          <a:p>
            <a:pPr algn="l" indent="0" marL="0">
              <a:buNone/>
            </a:pPr>
            <a:r>
              <a:rPr lang="en-US" sz="1600" b="1" dirty="0">
                <a:solidFill>
                  <a:schemeClr val="accent1"/>
                </a:solidFill>
              </a:rPr>
              <a:t>Indexing</a:t>
            </a:r>
            <a:endParaRPr lang="en-US" sz="1600" dirty="0"/>
          </a:p>
        </p:txBody>
      </p:sp>
      <p:sp>
        <p:nvSpPr>
          <p:cNvPr id="7" name="label-436"/>
          <p:cNvSpPr txBox="1"/>
          <p:nvPr/>
        </p:nvSpPr>
        <p:spPr>
          <a:xfrm>
            <a:off x="2926080" y="2240280"/>
            <a:ext cx="8686800" cy="640080"/>
          </a:xfrm>
          <a:prstGeom prst="rect">
            <a:avLst/>
          </a:prstGeom>
          <a:noFill/>
          <a:ln/>
        </p:spPr>
        <p:txBody>
          <a:bodyPr wrap="square" lIns="0" tIns="0" rIns="0" bIns="0" rtlCol="0" anchor="ctr"/>
          <a:lstStyle/>
          <a:p>
            <a:pPr algn="l" indent="0" marL="0">
              <a:buNone/>
            </a:pPr>
            <a:r>
              <a:rPr lang="en-US" sz="1400" dirty="0">
                <a:solidFill>
                  <a:schemeClr val="tx2"/>
                </a:solidFill>
              </a:rPr>
              <a:t>Why this compound order? What write cost is acceptable for a status field that changes every few seconds? Covered queries.</a:t>
            </a:r>
            <a:endParaRPr lang="en-US" sz="1400" dirty="0"/>
          </a:p>
        </p:txBody>
      </p:sp>
      <p:sp>
        <p:nvSpPr>
          <p:cNvPr id="8" name="label-437"/>
          <p:cNvSpPr txBox="1"/>
          <p:nvPr/>
        </p:nvSpPr>
        <p:spPr>
          <a:xfrm>
            <a:off x="822960" y="3017520"/>
            <a:ext cx="2011680" cy="640080"/>
          </a:xfrm>
          <a:prstGeom prst="rect">
            <a:avLst/>
          </a:prstGeom>
          <a:noFill/>
          <a:ln/>
        </p:spPr>
        <p:txBody>
          <a:bodyPr wrap="square" lIns="0" tIns="0" rIns="0" bIns="0" rtlCol="0" anchor="ctr"/>
          <a:lstStyle/>
          <a:p>
            <a:pPr algn="l" indent="0" marL="0">
              <a:buNone/>
            </a:pPr>
            <a:r>
              <a:rPr lang="en-US" sz="1600" b="1" dirty="0">
                <a:solidFill>
                  <a:schemeClr val="accent1"/>
                </a:solidFill>
              </a:rPr>
              <a:t>Change streams</a:t>
            </a:r>
            <a:endParaRPr lang="en-US" sz="1600" dirty="0"/>
          </a:p>
        </p:txBody>
      </p:sp>
      <p:sp>
        <p:nvSpPr>
          <p:cNvPr id="9" name="label-438"/>
          <p:cNvSpPr txBox="1"/>
          <p:nvPr/>
        </p:nvSpPr>
        <p:spPr>
          <a:xfrm>
            <a:off x="2926080" y="3017520"/>
            <a:ext cx="8686800" cy="640080"/>
          </a:xfrm>
          <a:prstGeom prst="rect">
            <a:avLst/>
          </a:prstGeom>
          <a:noFill/>
          <a:ln/>
        </p:spPr>
        <p:txBody>
          <a:bodyPr wrap="square" lIns="0" tIns="0" rIns="0" bIns="0" rtlCol="0" anchor="ctr"/>
          <a:lstStyle/>
          <a:p>
            <a:pPr algn="l" indent="0" marL="0">
              <a:buNone/>
            </a:pPr>
            <a:r>
              <a:rPr lang="en-US" sz="1400" dirty="0">
                <a:solidFill>
                  <a:schemeClr val="tx2"/>
                </a:solidFill>
              </a:rPr>
              <a:t>What happens when the consumer is down? Resume tokens, at-least-once delivery, idempotent handlers.</a:t>
            </a:r>
            <a:endParaRPr lang="en-US" sz="1400" dirty="0"/>
          </a:p>
        </p:txBody>
      </p:sp>
      <p:sp>
        <p:nvSpPr>
          <p:cNvPr id="10" name="label-439"/>
          <p:cNvSpPr txBox="1"/>
          <p:nvPr/>
        </p:nvSpPr>
        <p:spPr>
          <a:xfrm>
            <a:off x="822960" y="3794760"/>
            <a:ext cx="2011680" cy="640080"/>
          </a:xfrm>
          <a:prstGeom prst="rect">
            <a:avLst/>
          </a:prstGeom>
          <a:noFill/>
          <a:ln/>
        </p:spPr>
        <p:txBody>
          <a:bodyPr wrap="square" lIns="0" tIns="0" rIns="0" bIns="0" rtlCol="0" anchor="ctr"/>
          <a:lstStyle/>
          <a:p>
            <a:pPr algn="l" indent="0" marL="0">
              <a:buNone/>
            </a:pPr>
            <a:r>
              <a:rPr lang="en-US" sz="1600" b="1" dirty="0">
                <a:solidFill>
                  <a:schemeClr val="accent1"/>
                </a:solidFill>
              </a:rPr>
              <a:t>Lifecycle</a:t>
            </a:r>
            <a:endParaRPr lang="en-US" sz="1600" dirty="0"/>
          </a:p>
        </p:txBody>
      </p:sp>
      <p:sp>
        <p:nvSpPr>
          <p:cNvPr id="11" name="label-440"/>
          <p:cNvSpPr txBox="1"/>
          <p:nvPr/>
        </p:nvSpPr>
        <p:spPr>
          <a:xfrm>
            <a:off x="2926080" y="3794760"/>
            <a:ext cx="8686800" cy="640080"/>
          </a:xfrm>
          <a:prstGeom prst="rect">
            <a:avLst/>
          </a:prstGeom>
          <a:noFill/>
          <a:ln/>
        </p:spPr>
        <p:txBody>
          <a:bodyPr wrap="square" lIns="0" tIns="0" rIns="0" bIns="0" rtlCol="0" anchor="ctr"/>
          <a:lstStyle/>
          <a:p>
            <a:pPr algn="l" indent="0" marL="0">
              <a:buNone/>
            </a:pPr>
            <a:r>
              <a:rPr lang="en-US" sz="1400" dirty="0">
                <a:solidFill>
                  <a:schemeClr val="tx2"/>
                </a:solidFill>
              </a:rPr>
              <a:t>TTL runs roughly once a minute — what does that mean for correctness? What never gets a TTL?</a:t>
            </a:r>
            <a:endParaRPr lang="en-US" sz="1400" dirty="0"/>
          </a:p>
        </p:txBody>
      </p:sp>
      <p:sp>
        <p:nvSpPr>
          <p:cNvPr id="12" name="label-441"/>
          <p:cNvSpPr txBox="1"/>
          <p:nvPr/>
        </p:nvSpPr>
        <p:spPr>
          <a:xfrm>
            <a:off x="822960" y="4572000"/>
            <a:ext cx="2011680" cy="640080"/>
          </a:xfrm>
          <a:prstGeom prst="rect">
            <a:avLst/>
          </a:prstGeom>
          <a:noFill/>
          <a:ln/>
        </p:spPr>
        <p:txBody>
          <a:bodyPr wrap="square" lIns="0" tIns="0" rIns="0" bIns="0" rtlCol="0" anchor="ctr"/>
          <a:lstStyle/>
          <a:p>
            <a:pPr algn="l" indent="0" marL="0">
              <a:buNone/>
            </a:pPr>
            <a:r>
              <a:rPr lang="en-US" sz="1600" b="1" dirty="0">
                <a:solidFill>
                  <a:schemeClr val="accent1"/>
                </a:solidFill>
              </a:rPr>
              <a:t>Vectors</a:t>
            </a:r>
            <a:endParaRPr lang="en-US" sz="1600" dirty="0"/>
          </a:p>
        </p:txBody>
      </p:sp>
      <p:sp>
        <p:nvSpPr>
          <p:cNvPr id="13" name="label-442"/>
          <p:cNvSpPr txBox="1"/>
          <p:nvPr/>
        </p:nvSpPr>
        <p:spPr>
          <a:xfrm>
            <a:off x="2926080" y="4572000"/>
            <a:ext cx="8686800" cy="640080"/>
          </a:xfrm>
          <a:prstGeom prst="rect">
            <a:avLst/>
          </a:prstGeom>
          <a:noFill/>
          <a:ln/>
        </p:spPr>
        <p:txBody>
          <a:bodyPr wrap="square" lIns="0" tIns="0" rIns="0" bIns="0" rtlCol="0" anchor="ctr"/>
          <a:lstStyle/>
          <a:p>
            <a:pPr algn="l" indent="0" marL="0">
              <a:buNone/>
            </a:pPr>
            <a:r>
              <a:rPr lang="en-US" sz="1400" dirty="0">
                <a:solidFill>
                  <a:schemeClr val="tx2"/>
                </a:solidFill>
              </a:rPr>
              <a:t>What to embed, what to filter on metadata, how to evaluate retrieval. Why not a separate vector store?</a:t>
            </a:r>
            <a:endParaRPr lang="en-US" sz="1400" dirty="0"/>
          </a:p>
        </p:txBody>
      </p:sp>
      <p:sp>
        <p:nvSpPr>
          <p:cNvPr id="14" name="label-443"/>
          <p:cNvSpPr txBox="1"/>
          <p:nvPr/>
        </p:nvSpPr>
        <p:spPr>
          <a:xfrm>
            <a:off x="822960" y="5349240"/>
            <a:ext cx="2011680" cy="640080"/>
          </a:xfrm>
          <a:prstGeom prst="rect">
            <a:avLst/>
          </a:prstGeom>
          <a:noFill/>
          <a:ln/>
        </p:spPr>
        <p:txBody>
          <a:bodyPr wrap="square" lIns="0" tIns="0" rIns="0" bIns="0" rtlCol="0" anchor="ctr"/>
          <a:lstStyle/>
          <a:p>
            <a:pPr algn="l" indent="0" marL="0">
              <a:buNone/>
            </a:pPr>
            <a:r>
              <a:rPr lang="en-US" sz="1600" b="1" dirty="0">
                <a:solidFill>
                  <a:schemeClr val="accent1"/>
                </a:solidFill>
              </a:rPr>
              <a:t>Safety</a:t>
            </a:r>
            <a:endParaRPr lang="en-US" sz="1600" dirty="0"/>
          </a:p>
        </p:txBody>
      </p:sp>
      <p:sp>
        <p:nvSpPr>
          <p:cNvPr id="15" name="label-444"/>
          <p:cNvSpPr txBox="1"/>
          <p:nvPr/>
        </p:nvSpPr>
        <p:spPr>
          <a:xfrm>
            <a:off x="2926080" y="5349240"/>
            <a:ext cx="8686800" cy="640080"/>
          </a:xfrm>
          <a:prstGeom prst="rect">
            <a:avLst/>
          </a:prstGeom>
          <a:noFill/>
          <a:ln/>
        </p:spPr>
        <p:txBody>
          <a:bodyPr wrap="square" lIns="0" tIns="0" rIns="0" bIns="0" rtlCol="0" anchor="ctr"/>
          <a:lstStyle/>
          <a:p>
            <a:pPr algn="l" indent="0" marL="0">
              <a:buNone/>
            </a:pPr>
            <a:r>
              <a:rPr lang="en-US" sz="1400" dirty="0">
                <a:solidFill>
                  <a:schemeClr val="tx2"/>
                </a:solidFill>
              </a:rPr>
              <a:t>How to represent approvals, scopes and destructive actions. Transactions for the approval step.</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If runs outgrow one node: sharding</a:t>
            </a:r>
            <a:endParaRPr lang="en-US" sz="3200" dirty="0"/>
          </a:p>
        </p:txBody>
      </p:sp>
      <p:sp>
        <p:nvSpPr>
          <p:cNvPr id="4" name="box-445"/>
          <p:cNvSpPr txBox="1"/>
          <p:nvPr/>
        </p:nvSpPr>
        <p:spPr>
          <a:xfrm>
            <a:off x="822960" y="1463040"/>
            <a:ext cx="2926080" cy="640080"/>
          </a:xfrm>
          <a:prstGeom prst="roundRect">
            <a:avLst>
              <a:gd name="adj" fmla="val 11429"/>
            </a:avLst>
          </a:prstGeom>
          <a:solidFill>
            <a:schemeClr val="bg2"/>
          </a:solidFill>
          <a:ln w="12700">
            <a:solidFill>
              <a:schemeClr val="accent4"/>
            </a:solidFill>
          </a:ln>
        </p:spPr>
        <p:txBody>
          <a:bodyPr wrap="square" lIns="1016" tIns="1016" rIns="1016" bIns="1016"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runId</a:t>
            </a:r>
            <a:endParaRPr lang="en-US" sz="1400" dirty="0"/>
          </a:p>
        </p:txBody>
      </p:sp>
      <p:sp>
        <p:nvSpPr>
          <p:cNvPr id="5" name="label-446"/>
          <p:cNvSpPr txBox="1"/>
          <p:nvPr/>
        </p:nvSpPr>
        <p:spPr>
          <a:xfrm>
            <a:off x="4023360" y="1463040"/>
            <a:ext cx="7589520" cy="685800"/>
          </a:xfrm>
          <a:prstGeom prst="rect">
            <a:avLst/>
          </a:prstGeom>
          <a:noFill/>
          <a:ln/>
        </p:spPr>
        <p:txBody>
          <a:bodyPr wrap="square" lIns="0" tIns="0" rIns="0" bIns="0" rtlCol="0" anchor="ctr"/>
          <a:lstStyle/>
          <a:p>
            <a:pPr algn="l" indent="0" marL="0">
              <a:buNone/>
            </a:pPr>
            <a:r>
              <a:rPr lang="en-US" sz="1400" dirty="0">
                <a:solidFill>
                  <a:schemeClr val="tx2"/>
                </a:solidFill>
              </a:rPr>
              <a:t>Unique, spreads evenly — but every project query becomes scatter-gather. Wrong key for our questions.</a:t>
            </a:r>
            <a:endParaRPr lang="en-US" sz="1400" dirty="0"/>
          </a:p>
        </p:txBody>
      </p:sp>
      <p:sp>
        <p:nvSpPr>
          <p:cNvPr id="6" name="box-447"/>
          <p:cNvSpPr txBox="1"/>
          <p:nvPr/>
        </p:nvSpPr>
        <p:spPr>
          <a:xfrm>
            <a:off x="822960" y="2331720"/>
            <a:ext cx="2926080" cy="640080"/>
          </a:xfrm>
          <a:prstGeom prst="roundRect">
            <a:avLst>
              <a:gd name="adj" fmla="val 11429"/>
            </a:avLst>
          </a:prstGeom>
          <a:solidFill>
            <a:schemeClr val="bg2"/>
          </a:solidFill>
          <a:ln w="12700">
            <a:solidFill>
              <a:schemeClr val="accent4"/>
            </a:solidFill>
          </a:ln>
        </p:spPr>
        <p:txBody>
          <a:bodyPr wrap="square" lIns="1016" tIns="1016" rIns="1016" bIns="1016"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projectId</a:t>
            </a:r>
            <a:endParaRPr lang="en-US" sz="1400" dirty="0"/>
          </a:p>
        </p:txBody>
      </p:sp>
      <p:sp>
        <p:nvSpPr>
          <p:cNvPr id="7" name="label-448"/>
          <p:cNvSpPr txBox="1"/>
          <p:nvPr/>
        </p:nvSpPr>
        <p:spPr>
          <a:xfrm>
            <a:off x="4023360" y="2331720"/>
            <a:ext cx="7589520" cy="685800"/>
          </a:xfrm>
          <a:prstGeom prst="rect">
            <a:avLst/>
          </a:prstGeom>
          <a:noFill/>
          <a:ln/>
        </p:spPr>
        <p:txBody>
          <a:bodyPr wrap="square" lIns="0" tIns="0" rIns="0" bIns="0" rtlCol="0" anchor="ctr"/>
          <a:lstStyle/>
          <a:p>
            <a:pPr algn="l" indent="0" marL="0">
              <a:buNone/>
            </a:pPr>
            <a:r>
              <a:rPr lang="en-US" sz="1400" dirty="0">
                <a:solidFill>
                  <a:schemeClr val="tx2"/>
                </a:solidFill>
              </a:rPr>
              <a:t>Targets both hot queries. Risk: one very busy project is a hot shard.</a:t>
            </a:r>
            <a:endParaRPr lang="en-US" sz="1400" dirty="0"/>
          </a:p>
        </p:txBody>
      </p:sp>
      <p:sp>
        <p:nvSpPr>
          <p:cNvPr id="8" name="box-449"/>
          <p:cNvSpPr txBox="1"/>
          <p:nvPr/>
        </p:nvSpPr>
        <p:spPr>
          <a:xfrm>
            <a:off x="822960" y="3200400"/>
            <a:ext cx="2926080" cy="640080"/>
          </a:xfrm>
          <a:prstGeom prst="roundRect">
            <a:avLst>
              <a:gd name="adj" fmla="val 11429"/>
            </a:avLst>
          </a:prstGeom>
          <a:solidFill>
            <a:schemeClr val="bg2"/>
          </a:solidFill>
          <a:ln w="12700">
            <a:solidFill>
              <a:schemeClr val="accent4"/>
            </a:solidFill>
          </a:ln>
        </p:spPr>
        <p:txBody>
          <a:bodyPr wrap="square" lIns="1016" tIns="1016" rIns="1016" bIns="1016"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orgId</a:t>
            </a:r>
            <a:endParaRPr lang="en-US" sz="1400" dirty="0"/>
          </a:p>
        </p:txBody>
      </p:sp>
      <p:sp>
        <p:nvSpPr>
          <p:cNvPr id="9" name="label-450"/>
          <p:cNvSpPr txBox="1"/>
          <p:nvPr/>
        </p:nvSpPr>
        <p:spPr>
          <a:xfrm>
            <a:off x="4023360" y="3200400"/>
            <a:ext cx="7589520" cy="685800"/>
          </a:xfrm>
          <a:prstGeom prst="rect">
            <a:avLst/>
          </a:prstGeom>
          <a:noFill/>
          <a:ln/>
        </p:spPr>
        <p:txBody>
          <a:bodyPr wrap="square" lIns="0" tIns="0" rIns="0" bIns="0" rtlCol="0" anchor="ctr"/>
          <a:lstStyle/>
          <a:p>
            <a:pPr algn="l" indent="0" marL="0">
              <a:buNone/>
            </a:pPr>
            <a:r>
              <a:rPr lang="en-US" sz="1400" dirty="0">
                <a:solidFill>
                  <a:schemeClr val="tx2"/>
                </a:solidFill>
              </a:rPr>
              <a:t>Even coarser. Fine for isolation, worse for balance.</a:t>
            </a:r>
            <a:endParaRPr lang="en-US" sz="1400" dirty="0"/>
          </a:p>
        </p:txBody>
      </p:sp>
      <p:sp>
        <p:nvSpPr>
          <p:cNvPr id="10" name="box-451"/>
          <p:cNvSpPr txBox="1"/>
          <p:nvPr/>
        </p:nvSpPr>
        <p:spPr>
          <a:xfrm>
            <a:off x="822960" y="4069080"/>
            <a:ext cx="2926080" cy="640080"/>
          </a:xfrm>
          <a:prstGeom prst="roundRect">
            <a:avLst>
              <a:gd name="adj" fmla="val 11429"/>
            </a:avLst>
          </a:prstGeom>
          <a:solidFill>
            <a:schemeClr val="accent3"/>
          </a:solidFill>
          <a:ln w="12700">
            <a:solidFill>
              <a:schemeClr val="accent1"/>
            </a:solidFill>
          </a:ln>
        </p:spPr>
        <p:txBody>
          <a:bodyPr wrap="square" lIns="1016" tIns="1016" rIns="1016" bIns="1016"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 projectId, createdAt }</a:t>
            </a:r>
            <a:endParaRPr lang="en-US" sz="1400" dirty="0"/>
          </a:p>
        </p:txBody>
      </p:sp>
      <p:sp>
        <p:nvSpPr>
          <p:cNvPr id="11" name="label-452"/>
          <p:cNvSpPr txBox="1"/>
          <p:nvPr/>
        </p:nvSpPr>
        <p:spPr>
          <a:xfrm>
            <a:off x="4023360" y="4069080"/>
            <a:ext cx="7589520" cy="685800"/>
          </a:xfrm>
          <a:prstGeom prst="rect">
            <a:avLst/>
          </a:prstGeom>
          <a:noFill/>
          <a:ln/>
        </p:spPr>
        <p:txBody>
          <a:bodyPr wrap="square" lIns="0" tIns="0" rIns="0" bIns="0" rtlCol="0" anchor="ctr"/>
          <a:lstStyle/>
          <a:p>
            <a:pPr algn="l" indent="0" marL="0">
              <a:buNone/>
            </a:pPr>
            <a:r>
              <a:rPr lang="en-US" sz="1400" dirty="0">
                <a:solidFill>
                  <a:schemeClr val="tx2"/>
                </a:solidFill>
              </a:rPr>
              <a:t>Targeted and time-ordered within a project; the usual compromise for append-heavy workflows.</a:t>
            </a:r>
            <a:endParaRPr lang="en-US" sz="1400" dirty="0"/>
          </a:p>
        </p:txBody>
      </p:sp>
      <p:sp>
        <p:nvSpPr>
          <p:cNvPr id="12" name="box-453"/>
          <p:cNvSpPr txBox="1"/>
          <p:nvPr/>
        </p:nvSpPr>
        <p:spPr>
          <a:xfrm>
            <a:off x="822960" y="4937760"/>
            <a:ext cx="2926080" cy="640080"/>
          </a:xfrm>
          <a:prstGeom prst="roundRect">
            <a:avLst>
              <a:gd name="adj" fmla="val 11429"/>
            </a:avLst>
          </a:prstGeom>
          <a:solidFill>
            <a:schemeClr val="bg2"/>
          </a:solidFill>
          <a:ln w="12700">
            <a:solidFill>
              <a:schemeClr val="accent4"/>
            </a:solidFill>
          </a:ln>
        </p:spPr>
        <p:txBody>
          <a:bodyPr wrap="square" lIns="1016" tIns="1016" rIns="1016" bIns="1016"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hashed projectId</a:t>
            </a:r>
            <a:endParaRPr lang="en-US" sz="1400" dirty="0"/>
          </a:p>
        </p:txBody>
      </p:sp>
      <p:sp>
        <p:nvSpPr>
          <p:cNvPr id="13" name="label-454"/>
          <p:cNvSpPr txBox="1"/>
          <p:nvPr/>
        </p:nvSpPr>
        <p:spPr>
          <a:xfrm>
            <a:off x="4023360" y="4937760"/>
            <a:ext cx="7589520" cy="685800"/>
          </a:xfrm>
          <a:prstGeom prst="rect">
            <a:avLst/>
          </a:prstGeom>
          <a:noFill/>
          <a:ln/>
        </p:spPr>
        <p:txBody>
          <a:bodyPr wrap="square" lIns="0" tIns="0" rIns="0" bIns="0" rtlCol="0" anchor="ctr"/>
          <a:lstStyle/>
          <a:p>
            <a:pPr algn="l" indent="0" marL="0">
              <a:buNone/>
            </a:pPr>
            <a:r>
              <a:rPr lang="en-US" sz="1400" dirty="0">
                <a:solidFill>
                  <a:schemeClr val="tx2"/>
                </a:solidFill>
              </a:rPr>
              <a:t>Best spread, loses range-by-time. Choose when balance matters more than recency scans.</a:t>
            </a:r>
            <a:endParaRPr lang="en-US" sz="1400" dirty="0"/>
          </a:p>
        </p:txBody>
      </p:sp>
      <p:sp>
        <p:nvSpPr>
          <p:cNvPr id="14" name="label-455"/>
          <p:cNvSpPr txBox="1"/>
          <p:nvPr/>
        </p:nvSpPr>
        <p:spPr>
          <a:xfrm>
            <a:off x="822960" y="5852160"/>
            <a:ext cx="10515600" cy="365760"/>
          </a:xfrm>
          <a:prstGeom prst="rect">
            <a:avLst/>
          </a:prstGeom>
          <a:noFill/>
          <a:ln/>
        </p:spPr>
        <p:txBody>
          <a:bodyPr wrap="square" lIns="0" tIns="0" rIns="0" bIns="0" rtlCol="0" anchor="t"/>
          <a:lstStyle/>
          <a:p>
            <a:pPr algn="l" indent="0" marL="0">
              <a:buNone/>
            </a:pPr>
            <a:r>
              <a:rPr lang="en-US" sz="1400" i="1" dirty="0">
                <a:solidFill>
                  <a:schemeClr val="accent1"/>
                </a:solidFill>
              </a:rPr>
              <a:t>Shard by what you query by. Change streams still work across shards; ordering is per-shard.</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What the server is doing underneath</a:t>
            </a:r>
            <a:endParaRPr lang="en-US" sz="3200" dirty="0"/>
          </a:p>
        </p:txBody>
      </p:sp>
      <p:sp>
        <p:nvSpPr>
          <p:cNvPr id="4" name="box-456"/>
          <p:cNvSpPr txBox="1"/>
          <p:nvPr/>
        </p:nvSpPr>
        <p:spPr>
          <a:xfrm>
            <a:off x="640080" y="1737360"/>
            <a:ext cx="1691640" cy="914400"/>
          </a:xfrm>
          <a:prstGeom prst="roundRect">
            <a:avLst>
              <a:gd name="adj" fmla="val 8000"/>
            </a:avLst>
          </a:prstGeom>
          <a:solidFill>
            <a:schemeClr val="bg2"/>
          </a:solidFill>
          <a:ln w="12700">
            <a:solidFill>
              <a:schemeClr val="accent4"/>
            </a:solidFill>
          </a:ln>
        </p:spPr>
        <p:txBody>
          <a:bodyPr wrap="square" lIns="1016" tIns="1016" rIns="1016" bIns="1016" rtlCol="0" anchor="ctr"/>
          <a:lstStyle/>
          <a:p>
            <a:pPr algn="ctr" indent="0" marL="0">
              <a:buNone/>
            </a:pPr>
            <a:r>
              <a:rPr lang="en-US" sz="1300" b="1" dirty="0">
                <a:solidFill>
                  <a:schemeClr val="tx1"/>
                </a:solidFill>
              </a:rPr>
              <a:t>Driver</a:t>
            </a:r>
            <a:endParaRPr lang="en-US" sz="1300" dirty="0"/>
          </a:p>
        </p:txBody>
      </p:sp>
      <p:sp>
        <p:nvSpPr>
          <p:cNvPr id="5" name="label-457"/>
          <p:cNvSpPr txBox="1"/>
          <p:nvPr/>
        </p:nvSpPr>
        <p:spPr>
          <a:xfrm>
            <a:off x="640080" y="2743200"/>
            <a:ext cx="1691640" cy="914400"/>
          </a:xfrm>
          <a:prstGeom prst="rect">
            <a:avLst/>
          </a:prstGeom>
          <a:noFill/>
          <a:ln/>
        </p:spPr>
        <p:txBody>
          <a:bodyPr wrap="square" lIns="0" tIns="0" rIns="0" bIns="0" rtlCol="0" anchor="t"/>
          <a:lstStyle/>
          <a:p>
            <a:pPr algn="ctr" indent="0" marL="0">
              <a:buNone/>
            </a:pPr>
            <a:r>
              <a:rPr lang="en-US" sz="1100" dirty="0">
                <a:solidFill>
                  <a:schemeClr val="tx2"/>
                </a:solidFill>
              </a:rPr>
              <a:t>the agent's write</a:t>
            </a:r>
            <a:endParaRPr lang="en-US" sz="1100" dirty="0"/>
          </a:p>
        </p:txBody>
      </p:sp>
      <p:sp>
        <p:nvSpPr>
          <p:cNvPr id="6" name="arrow-458"/>
          <p:cNvSpPr/>
          <p:nvPr/>
        </p:nvSpPr>
        <p:spPr>
          <a:xfrm>
            <a:off x="2331720" y="2194560"/>
            <a:ext cx="182880" cy="0"/>
          </a:xfrm>
          <a:prstGeom prst="line">
            <a:avLst/>
          </a:prstGeom>
          <a:noFill/>
          <a:ln w="15875">
            <a:solidFill>
              <a:schemeClr val="accent1"/>
            </a:solidFill>
            <a:prstDash val="solid"/>
            <a:tailEnd type="triangle"/>
          </a:ln>
        </p:spPr>
      </p:sp>
      <p:sp>
        <p:nvSpPr>
          <p:cNvPr id="7" name="box-459"/>
          <p:cNvSpPr txBox="1"/>
          <p:nvPr/>
        </p:nvSpPr>
        <p:spPr>
          <a:xfrm>
            <a:off x="2514600" y="1737360"/>
            <a:ext cx="1691640" cy="914400"/>
          </a:xfrm>
          <a:prstGeom prst="roundRect">
            <a:avLst>
              <a:gd name="adj" fmla="val 8000"/>
            </a:avLst>
          </a:prstGeom>
          <a:solidFill>
            <a:schemeClr val="bg2"/>
          </a:solidFill>
          <a:ln w="12700">
            <a:solidFill>
              <a:schemeClr val="accent4"/>
            </a:solidFill>
          </a:ln>
        </p:spPr>
        <p:txBody>
          <a:bodyPr wrap="square" lIns="1016" tIns="1016" rIns="1016" bIns="1016" rtlCol="0" anchor="ctr"/>
          <a:lstStyle/>
          <a:p>
            <a:pPr algn="ctr" indent="0" marL="0">
              <a:buNone/>
            </a:pPr>
            <a:r>
              <a:rPr lang="en-US" sz="1300" b="1" dirty="0">
                <a:solidFill>
                  <a:schemeClr val="tx1"/>
                </a:solidFill>
              </a:rPr>
              <a:t>Query engine</a:t>
            </a:r>
            <a:endParaRPr lang="en-US" sz="1300" dirty="0"/>
          </a:p>
        </p:txBody>
      </p:sp>
      <p:sp>
        <p:nvSpPr>
          <p:cNvPr id="8" name="label-460"/>
          <p:cNvSpPr txBox="1"/>
          <p:nvPr/>
        </p:nvSpPr>
        <p:spPr>
          <a:xfrm>
            <a:off x="2514600" y="2743200"/>
            <a:ext cx="1691640" cy="914400"/>
          </a:xfrm>
          <a:prstGeom prst="rect">
            <a:avLst/>
          </a:prstGeom>
          <a:noFill/>
          <a:ln/>
        </p:spPr>
        <p:txBody>
          <a:bodyPr wrap="square" lIns="0" tIns="0" rIns="0" bIns="0" rtlCol="0" anchor="t"/>
          <a:lstStyle/>
          <a:p>
            <a:pPr algn="ctr" indent="0" marL="0">
              <a:buNone/>
            </a:pPr>
            <a:r>
              <a:rPr lang="en-US" sz="1100" dirty="0">
                <a:solidFill>
                  <a:schemeClr val="tx2"/>
                </a:solidFill>
              </a:rPr>
              <a:t>plan, use the index</a:t>
            </a:r>
            <a:endParaRPr lang="en-US" sz="1100" dirty="0"/>
          </a:p>
        </p:txBody>
      </p:sp>
      <p:sp>
        <p:nvSpPr>
          <p:cNvPr id="9" name="arrow-461"/>
          <p:cNvSpPr/>
          <p:nvPr/>
        </p:nvSpPr>
        <p:spPr>
          <a:xfrm>
            <a:off x="4206240" y="2194560"/>
            <a:ext cx="182880" cy="0"/>
          </a:xfrm>
          <a:prstGeom prst="line">
            <a:avLst/>
          </a:prstGeom>
          <a:noFill/>
          <a:ln w="15875">
            <a:solidFill>
              <a:schemeClr val="accent1"/>
            </a:solidFill>
            <a:prstDash val="solid"/>
            <a:tailEnd type="triangle"/>
          </a:ln>
        </p:spPr>
      </p:sp>
      <p:sp>
        <p:nvSpPr>
          <p:cNvPr id="10" name="box-462"/>
          <p:cNvSpPr txBox="1"/>
          <p:nvPr/>
        </p:nvSpPr>
        <p:spPr>
          <a:xfrm>
            <a:off x="4389120" y="1737360"/>
            <a:ext cx="1691640" cy="914400"/>
          </a:xfrm>
          <a:prstGeom prst="roundRect">
            <a:avLst>
              <a:gd name="adj" fmla="val 8000"/>
            </a:avLst>
          </a:prstGeom>
          <a:solidFill>
            <a:schemeClr val="accent3"/>
          </a:solidFill>
          <a:ln w="12700">
            <a:solidFill>
              <a:schemeClr val="accent1"/>
            </a:solidFill>
          </a:ln>
        </p:spPr>
        <p:txBody>
          <a:bodyPr wrap="square" lIns="1016" tIns="1016" rIns="1016" bIns="1016" rtlCol="0" anchor="ctr"/>
          <a:lstStyle/>
          <a:p>
            <a:pPr algn="ctr" indent="0" marL="0">
              <a:buNone/>
            </a:pPr>
            <a:r>
              <a:rPr lang="en-US" sz="1300" b="1" dirty="0">
                <a:solidFill>
                  <a:schemeClr val="tx1"/>
                </a:solidFill>
              </a:rPr>
              <a:t>WiredTiger cache</a:t>
            </a:r>
            <a:endParaRPr lang="en-US" sz="1300" dirty="0"/>
          </a:p>
        </p:txBody>
      </p:sp>
      <p:sp>
        <p:nvSpPr>
          <p:cNvPr id="11" name="label-463"/>
          <p:cNvSpPr txBox="1"/>
          <p:nvPr/>
        </p:nvSpPr>
        <p:spPr>
          <a:xfrm>
            <a:off x="4389120" y="2743200"/>
            <a:ext cx="1691640" cy="914400"/>
          </a:xfrm>
          <a:prstGeom prst="rect">
            <a:avLst/>
          </a:prstGeom>
          <a:noFill/>
          <a:ln/>
        </p:spPr>
        <p:txBody>
          <a:bodyPr wrap="square" lIns="0" tIns="0" rIns="0" bIns="0" rtlCol="0" anchor="t"/>
          <a:lstStyle/>
          <a:p>
            <a:pPr algn="ctr" indent="0" marL="0">
              <a:buNone/>
            </a:pPr>
            <a:r>
              <a:rPr lang="en-US" sz="1100" dirty="0">
                <a:solidFill>
                  <a:schemeClr val="tx2"/>
                </a:solidFill>
              </a:rPr>
              <a:t>documents + index pages; dirty pages in orange</a:t>
            </a:r>
            <a:endParaRPr lang="en-US" sz="1100" dirty="0"/>
          </a:p>
        </p:txBody>
      </p:sp>
      <p:sp>
        <p:nvSpPr>
          <p:cNvPr id="12" name="arrow-464"/>
          <p:cNvSpPr/>
          <p:nvPr/>
        </p:nvSpPr>
        <p:spPr>
          <a:xfrm>
            <a:off x="6080760" y="2194560"/>
            <a:ext cx="182880" cy="0"/>
          </a:xfrm>
          <a:prstGeom prst="line">
            <a:avLst/>
          </a:prstGeom>
          <a:noFill/>
          <a:ln w="15875">
            <a:solidFill>
              <a:schemeClr val="accent1"/>
            </a:solidFill>
            <a:prstDash val="solid"/>
            <a:tailEnd type="triangle"/>
          </a:ln>
        </p:spPr>
      </p:sp>
      <p:sp>
        <p:nvSpPr>
          <p:cNvPr id="13" name="box-465"/>
          <p:cNvSpPr txBox="1"/>
          <p:nvPr/>
        </p:nvSpPr>
        <p:spPr>
          <a:xfrm>
            <a:off x="6263640" y="1737360"/>
            <a:ext cx="1691640" cy="914400"/>
          </a:xfrm>
          <a:prstGeom prst="roundRect">
            <a:avLst>
              <a:gd name="adj" fmla="val 8000"/>
            </a:avLst>
          </a:prstGeom>
          <a:solidFill>
            <a:schemeClr val="bg2"/>
          </a:solidFill>
          <a:ln w="12700">
            <a:solidFill>
              <a:schemeClr val="accent4"/>
            </a:solidFill>
          </a:ln>
        </p:spPr>
        <p:txBody>
          <a:bodyPr wrap="square" lIns="1016" tIns="1016" rIns="1016" bIns="1016" rtlCol="0" anchor="ctr"/>
          <a:lstStyle/>
          <a:p>
            <a:pPr algn="ctr" indent="0" marL="0">
              <a:buNone/>
            </a:pPr>
            <a:r>
              <a:rPr lang="en-US" sz="1300" b="1" dirty="0">
                <a:solidFill>
                  <a:schemeClr val="tx1"/>
                </a:solidFill>
              </a:rPr>
              <a:t>Journal</a:t>
            </a:r>
            <a:endParaRPr lang="en-US" sz="1300" dirty="0"/>
          </a:p>
        </p:txBody>
      </p:sp>
      <p:sp>
        <p:nvSpPr>
          <p:cNvPr id="14" name="label-466"/>
          <p:cNvSpPr txBox="1"/>
          <p:nvPr/>
        </p:nvSpPr>
        <p:spPr>
          <a:xfrm>
            <a:off x="6263640" y="2743200"/>
            <a:ext cx="1691640" cy="914400"/>
          </a:xfrm>
          <a:prstGeom prst="rect">
            <a:avLst/>
          </a:prstGeom>
          <a:noFill/>
          <a:ln/>
        </p:spPr>
        <p:txBody>
          <a:bodyPr wrap="square" lIns="0" tIns="0" rIns="0" bIns="0" rtlCol="0" anchor="t"/>
          <a:lstStyle/>
          <a:p>
            <a:pPr algn="ctr" indent="0" marL="0">
              <a:buNone/>
            </a:pPr>
            <a:r>
              <a:rPr lang="en-US" sz="1100" dirty="0">
                <a:solidFill>
                  <a:schemeClr val="tx2"/>
                </a:solidFill>
              </a:rPr>
              <a:t>durable before the checkpoint</a:t>
            </a:r>
            <a:endParaRPr lang="en-US" sz="1100" dirty="0"/>
          </a:p>
        </p:txBody>
      </p:sp>
      <p:sp>
        <p:nvSpPr>
          <p:cNvPr id="15" name="arrow-467"/>
          <p:cNvSpPr/>
          <p:nvPr/>
        </p:nvSpPr>
        <p:spPr>
          <a:xfrm>
            <a:off x="7955280" y="2194560"/>
            <a:ext cx="182880" cy="0"/>
          </a:xfrm>
          <a:prstGeom prst="line">
            <a:avLst/>
          </a:prstGeom>
          <a:noFill/>
          <a:ln w="15875">
            <a:solidFill>
              <a:schemeClr val="accent1"/>
            </a:solidFill>
            <a:prstDash val="solid"/>
            <a:tailEnd type="triangle"/>
          </a:ln>
        </p:spPr>
      </p:sp>
      <p:sp>
        <p:nvSpPr>
          <p:cNvPr id="16" name="box-468"/>
          <p:cNvSpPr txBox="1"/>
          <p:nvPr/>
        </p:nvSpPr>
        <p:spPr>
          <a:xfrm>
            <a:off x="8138160" y="1737360"/>
            <a:ext cx="1691640" cy="914400"/>
          </a:xfrm>
          <a:prstGeom prst="roundRect">
            <a:avLst>
              <a:gd name="adj" fmla="val 8000"/>
            </a:avLst>
          </a:prstGeom>
          <a:solidFill>
            <a:schemeClr val="bg2"/>
          </a:solidFill>
          <a:ln w="12700">
            <a:solidFill>
              <a:schemeClr val="accent4"/>
            </a:solidFill>
          </a:ln>
        </p:spPr>
        <p:txBody>
          <a:bodyPr wrap="square" lIns="1016" tIns="1016" rIns="1016" bIns="1016" rtlCol="0" anchor="ctr"/>
          <a:lstStyle/>
          <a:p>
            <a:pPr algn="ctr" indent="0" marL="0">
              <a:buNone/>
            </a:pPr>
            <a:r>
              <a:rPr lang="en-US" sz="1300" b="1" dirty="0">
                <a:solidFill>
                  <a:schemeClr val="tx1"/>
                </a:solidFill>
              </a:rPr>
              <a:t>Checkpoint</a:t>
            </a:r>
            <a:endParaRPr lang="en-US" sz="1300" dirty="0"/>
          </a:p>
        </p:txBody>
      </p:sp>
      <p:sp>
        <p:nvSpPr>
          <p:cNvPr id="17" name="label-469"/>
          <p:cNvSpPr txBox="1"/>
          <p:nvPr/>
        </p:nvSpPr>
        <p:spPr>
          <a:xfrm>
            <a:off x="8138160" y="2743200"/>
            <a:ext cx="1691640" cy="914400"/>
          </a:xfrm>
          <a:prstGeom prst="rect">
            <a:avLst/>
          </a:prstGeom>
          <a:noFill/>
          <a:ln/>
        </p:spPr>
        <p:txBody>
          <a:bodyPr wrap="square" lIns="0" tIns="0" rIns="0" bIns="0" rtlCol="0" anchor="t"/>
          <a:lstStyle/>
          <a:p>
            <a:pPr algn="ctr" indent="0" marL="0">
              <a:buNone/>
            </a:pPr>
            <a:r>
              <a:rPr lang="en-US" sz="1100" dirty="0">
                <a:solidFill>
                  <a:schemeClr val="tx2"/>
                </a:solidFill>
              </a:rPr>
              <a:t>flush to collection files</a:t>
            </a:r>
            <a:endParaRPr lang="en-US" sz="1100" dirty="0"/>
          </a:p>
        </p:txBody>
      </p:sp>
      <p:sp>
        <p:nvSpPr>
          <p:cNvPr id="18" name="arrow-470"/>
          <p:cNvSpPr/>
          <p:nvPr/>
        </p:nvSpPr>
        <p:spPr>
          <a:xfrm>
            <a:off x="9829800" y="2194560"/>
            <a:ext cx="182880" cy="0"/>
          </a:xfrm>
          <a:prstGeom prst="line">
            <a:avLst/>
          </a:prstGeom>
          <a:noFill/>
          <a:ln w="15875">
            <a:solidFill>
              <a:schemeClr val="accent1"/>
            </a:solidFill>
            <a:prstDash val="solid"/>
            <a:tailEnd type="triangle"/>
          </a:ln>
        </p:spPr>
      </p:sp>
      <p:sp>
        <p:nvSpPr>
          <p:cNvPr id="19" name="box-471"/>
          <p:cNvSpPr txBox="1"/>
          <p:nvPr/>
        </p:nvSpPr>
        <p:spPr>
          <a:xfrm>
            <a:off x="10012680" y="1737360"/>
            <a:ext cx="1691640" cy="914400"/>
          </a:xfrm>
          <a:prstGeom prst="roundRect">
            <a:avLst>
              <a:gd name="adj" fmla="val 8000"/>
            </a:avLst>
          </a:prstGeom>
          <a:solidFill>
            <a:schemeClr val="bg2"/>
          </a:solidFill>
          <a:ln w="12700">
            <a:solidFill>
              <a:schemeClr val="accent4"/>
            </a:solidFill>
          </a:ln>
        </p:spPr>
        <p:txBody>
          <a:bodyPr wrap="square" lIns="1016" tIns="1016" rIns="1016" bIns="1016" rtlCol="0" anchor="ctr"/>
          <a:lstStyle/>
          <a:p>
            <a:pPr algn="ctr" indent="0" marL="0">
              <a:buNone/>
            </a:pPr>
            <a:r>
              <a:rPr lang="en-US" sz="1300" b="1" dirty="0">
                <a:solidFill>
                  <a:schemeClr val="tx1"/>
                </a:solidFill>
              </a:rPr>
              <a:t>Oplog</a:t>
            </a:r>
            <a:endParaRPr lang="en-US" sz="1300" dirty="0"/>
          </a:p>
        </p:txBody>
      </p:sp>
      <p:sp>
        <p:nvSpPr>
          <p:cNvPr id="20" name="label-472"/>
          <p:cNvSpPr txBox="1"/>
          <p:nvPr/>
        </p:nvSpPr>
        <p:spPr>
          <a:xfrm>
            <a:off x="10012680" y="2743200"/>
            <a:ext cx="1691640" cy="914400"/>
          </a:xfrm>
          <a:prstGeom prst="rect">
            <a:avLst/>
          </a:prstGeom>
          <a:noFill/>
          <a:ln/>
        </p:spPr>
        <p:txBody>
          <a:bodyPr wrap="square" lIns="0" tIns="0" rIns="0" bIns="0" rtlCol="0" anchor="t"/>
          <a:lstStyle/>
          <a:p>
            <a:pPr algn="ctr" indent="0" marL="0">
              <a:buNone/>
            </a:pPr>
            <a:r>
              <a:rPr lang="en-US" sz="1100" dirty="0">
                <a:solidFill>
                  <a:schemeClr val="tx2"/>
                </a:solidFill>
              </a:rPr>
              <a:t>replication and change streams read here</a:t>
            </a:r>
            <a:endParaRPr lang="en-US" sz="1100" dirty="0"/>
          </a:p>
        </p:txBody>
      </p:sp>
      <p:sp>
        <p:nvSpPr>
          <p:cNvPr id="21" name="label-473"/>
          <p:cNvSpPr txBox="1"/>
          <p:nvPr/>
        </p:nvSpPr>
        <p:spPr>
          <a:xfrm>
            <a:off x="640080" y="3931920"/>
            <a:ext cx="10972800" cy="457200"/>
          </a:xfrm>
          <a:prstGeom prst="rect">
            <a:avLst/>
          </a:prstGeom>
          <a:noFill/>
          <a:ln/>
        </p:spPr>
        <p:txBody>
          <a:bodyPr wrap="square" lIns="0" tIns="0" rIns="0" bIns="0" rtlCol="0" anchor="t"/>
          <a:lstStyle/>
          <a:p>
            <a:pPr algn="l" indent="0" marL="0">
              <a:buNone/>
            </a:pPr>
            <a:r>
              <a:rPr lang="en-US" sz="1800" b="1" dirty="0">
                <a:solidFill>
                  <a:schemeClr val="tx1"/>
                </a:solidFill>
              </a:rPr>
              <a:t>Why it matters for the agent</a:t>
            </a:r>
            <a:endParaRPr lang="en-US" sz="1800" dirty="0"/>
          </a:p>
        </p:txBody>
      </p:sp>
      <p:sp>
        <p:nvSpPr>
          <p:cNvPr id="22" name="label-474"/>
          <p:cNvSpPr txBox="1"/>
          <p:nvPr/>
        </p:nvSpPr>
        <p:spPr>
          <a:xfrm>
            <a:off x="640080" y="4434840"/>
            <a:ext cx="10972800" cy="128016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2"/>
                </a:solidFill>
              </a:rPr>
              <a:t>A status write every few seconds dirties a page every few seconds — unbounded arrays make that page large and the eviction (80% target, 95% trigger) more expensive.</a:t>
            </a:r>
            <a:endParaRPr lang="en-US" sz="1400" dirty="0"/>
          </a:p>
          <a:p>
            <a:pPr algn="l" marL="342900" indent="-342900">
              <a:spcAft>
                <a:spcPts val="600"/>
              </a:spcAft>
              <a:buSzPct val="100000"/>
              <a:buChar char="•"/>
            </a:pPr>
            <a:r>
              <a:rPr lang="en-US" sz="1400" dirty="0">
                <a:solidFill>
                  <a:schemeClr val="tx2"/>
                </a:solidFill>
              </a:rPr>
              <a:t>Every index is pages in the same cache as the documents — the write cost on the index slide is cache pressure, not just disk.</a:t>
            </a:r>
            <a:endParaRPr lang="en-US" sz="1400" dirty="0"/>
          </a:p>
          <a:p>
            <a:pPr algn="l" marL="342900" indent="-342900">
              <a:spcAft>
                <a:spcPts val="600"/>
              </a:spcAft>
              <a:buSzPct val="100000"/>
              <a:buChar char="•"/>
            </a:pPr>
            <a:r>
              <a:rPr lang="en-US" sz="1400" dirty="0">
                <a:solidFill>
                  <a:schemeClr val="tx2"/>
                </a:solidFill>
              </a:rPr>
              <a:t>Change streams read the oplog, so the consumer is never on the write path.</a:t>
            </a:r>
            <a:endParaRPr lang="en-US" sz="1400" dirty="0"/>
          </a:p>
        </p:txBody>
      </p:sp>
      <p:sp>
        <p:nvSpPr>
          <p:cNvPr id="23" name="label-475"/>
          <p:cNvSpPr txBox="1"/>
          <p:nvPr/>
        </p:nvSpPr>
        <p:spPr>
          <a:xfrm>
            <a:off x="640080" y="5852160"/>
            <a:ext cx="10515600" cy="365760"/>
          </a:xfrm>
          <a:prstGeom prst="rect">
            <a:avLst/>
          </a:prstGeom>
          <a:noFill/>
          <a:ln/>
        </p:spPr>
        <p:txBody>
          <a:bodyPr wrap="square" lIns="0" tIns="0" rIns="0" bIns="0" rtlCol="0" anchor="t"/>
          <a:lstStyle/>
          <a:p>
            <a:pPr algn="l" indent="0" marL="0">
              <a:buNone/>
            </a:pPr>
            <a:r>
              <a:rPr lang="en-US" sz="1200" i="1" dirty="0">
                <a:solidFill>
                  <a:schemeClr val="accent1"/>
                </a:solidFill>
              </a:rPr>
              <a:t>Live view: eoinjordan.github.io/MongoDBSimCity — illustrative numbers, documented thresholds.</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Sources</a:t>
            </a:r>
            <a:endParaRPr lang="en-US" sz="3200" dirty="0"/>
          </a:p>
        </p:txBody>
      </p:sp>
      <p:sp>
        <p:nvSpPr>
          <p:cNvPr id="4" name="label-476"/>
          <p:cNvSpPr txBox="1"/>
          <p:nvPr/>
        </p:nvSpPr>
        <p:spPr>
          <a:xfrm>
            <a:off x="822960" y="1417320"/>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Lessons learned building an agentic MCP server</a:t>
            </a:r>
            <a:endParaRPr lang="en-US" sz="1300" dirty="0"/>
          </a:p>
        </p:txBody>
      </p:sp>
      <p:sp>
        <p:nvSpPr>
          <p:cNvPr id="5" name="label-477"/>
          <p:cNvSpPr txBox="1"/>
          <p:nvPr/>
        </p:nvSpPr>
        <p:spPr>
          <a:xfrm>
            <a:off x="5486400" y="1417320"/>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edgeimpulse.com/blog/lessons-learned-from-building-an-agentic-ai-mcp-server-for-edge-impulse/</a:t>
            </a:r>
            <a:endParaRPr lang="en-US" sz="1150" dirty="0"/>
          </a:p>
        </p:txBody>
      </p:sp>
      <p:sp>
        <p:nvSpPr>
          <p:cNvPr id="6" name="label-478"/>
          <p:cNvSpPr txBox="1"/>
          <p:nvPr/>
        </p:nvSpPr>
        <p:spPr>
          <a:xfrm>
            <a:off x="822960" y="1892808"/>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MongoDB data modelling</a:t>
            </a:r>
            <a:endParaRPr lang="en-US" sz="1300" dirty="0"/>
          </a:p>
        </p:txBody>
      </p:sp>
      <p:sp>
        <p:nvSpPr>
          <p:cNvPr id="7" name="label-479"/>
          <p:cNvSpPr txBox="1"/>
          <p:nvPr/>
        </p:nvSpPr>
        <p:spPr>
          <a:xfrm>
            <a:off x="5486400" y="1892808"/>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mongodb.com/docs/manual/data-modeling/</a:t>
            </a:r>
            <a:endParaRPr lang="en-US" sz="1150" dirty="0"/>
          </a:p>
        </p:txBody>
      </p:sp>
      <p:sp>
        <p:nvSpPr>
          <p:cNvPr id="8" name="label-480"/>
          <p:cNvSpPr txBox="1"/>
          <p:nvPr/>
        </p:nvSpPr>
        <p:spPr>
          <a:xfrm>
            <a:off x="822960" y="2368296"/>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Change streams</a:t>
            </a:r>
            <a:endParaRPr lang="en-US" sz="1300" dirty="0"/>
          </a:p>
        </p:txBody>
      </p:sp>
      <p:sp>
        <p:nvSpPr>
          <p:cNvPr id="9" name="label-481"/>
          <p:cNvSpPr txBox="1"/>
          <p:nvPr/>
        </p:nvSpPr>
        <p:spPr>
          <a:xfrm>
            <a:off x="5486400" y="2368296"/>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mongodb.com/docs/manual/changeStreams/</a:t>
            </a:r>
            <a:endParaRPr lang="en-US" sz="1150" dirty="0"/>
          </a:p>
        </p:txBody>
      </p:sp>
      <p:sp>
        <p:nvSpPr>
          <p:cNvPr id="10" name="label-482"/>
          <p:cNvSpPr txBox="1"/>
          <p:nvPr/>
        </p:nvSpPr>
        <p:spPr>
          <a:xfrm>
            <a:off x="822960" y="2843784"/>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TTL indexes</a:t>
            </a:r>
            <a:endParaRPr lang="en-US" sz="1300" dirty="0"/>
          </a:p>
        </p:txBody>
      </p:sp>
      <p:sp>
        <p:nvSpPr>
          <p:cNvPr id="11" name="label-483"/>
          <p:cNvSpPr txBox="1"/>
          <p:nvPr/>
        </p:nvSpPr>
        <p:spPr>
          <a:xfrm>
            <a:off x="5486400" y="2843784"/>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mongodb.com/docs/manual/core/index-ttl/</a:t>
            </a:r>
            <a:endParaRPr lang="en-US" sz="1150" dirty="0"/>
          </a:p>
        </p:txBody>
      </p:sp>
      <p:sp>
        <p:nvSpPr>
          <p:cNvPr id="12" name="label-484"/>
          <p:cNvSpPr txBox="1"/>
          <p:nvPr/>
        </p:nvSpPr>
        <p:spPr>
          <a:xfrm>
            <a:off x="822960" y="3319272"/>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Atlas Vector Search overview</a:t>
            </a:r>
            <a:endParaRPr lang="en-US" sz="1300" dirty="0"/>
          </a:p>
        </p:txBody>
      </p:sp>
      <p:sp>
        <p:nvSpPr>
          <p:cNvPr id="13" name="label-485"/>
          <p:cNvSpPr txBox="1"/>
          <p:nvPr/>
        </p:nvSpPr>
        <p:spPr>
          <a:xfrm>
            <a:off x="5486400" y="3319272"/>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mongodb.com/docs/atlas/atlas-vector-search/vector-search-overview/</a:t>
            </a:r>
            <a:endParaRPr lang="en-US" sz="1150" dirty="0"/>
          </a:p>
        </p:txBody>
      </p:sp>
      <p:sp>
        <p:nvSpPr>
          <p:cNvPr id="14" name="label-486"/>
          <p:cNvSpPr txBox="1"/>
          <p:nvPr/>
        </p:nvSpPr>
        <p:spPr>
          <a:xfrm>
            <a:off x="822960" y="3794760"/>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LangGraph + MongoDB (checkpointer, store)</a:t>
            </a:r>
            <a:endParaRPr lang="en-US" sz="1300" dirty="0"/>
          </a:p>
        </p:txBody>
      </p:sp>
      <p:sp>
        <p:nvSpPr>
          <p:cNvPr id="15" name="label-487"/>
          <p:cNvSpPr txBox="1"/>
          <p:nvPr/>
        </p:nvSpPr>
        <p:spPr>
          <a:xfrm>
            <a:off x="5486400" y="3794760"/>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mongodb.com/docs/atlas/ai-integrations/langgraph/</a:t>
            </a:r>
            <a:endParaRPr lang="en-US" sz="1150" dirty="0"/>
          </a:p>
        </p:txBody>
      </p:sp>
      <p:sp>
        <p:nvSpPr>
          <p:cNvPr id="16" name="label-488"/>
          <p:cNvSpPr txBox="1"/>
          <p:nvPr/>
        </p:nvSpPr>
        <p:spPr>
          <a:xfrm>
            <a:off x="822960" y="4270248"/>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IDC: Your database just became your AI control point</a:t>
            </a:r>
            <a:endParaRPr lang="en-US" sz="1300" dirty="0"/>
          </a:p>
        </p:txBody>
      </p:sp>
      <p:sp>
        <p:nvSpPr>
          <p:cNvPr id="17" name="label-489"/>
          <p:cNvSpPr txBox="1"/>
          <p:nvPr/>
        </p:nvSpPr>
        <p:spPr>
          <a:xfrm>
            <a:off x="5486400" y="4270248"/>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mongodb.com/company/blog/news/your-database-just-became-your-ai-control-point</a:t>
            </a:r>
            <a:endParaRPr lang="en-US" sz="1150" dirty="0"/>
          </a:p>
        </p:txBody>
      </p:sp>
      <p:sp>
        <p:nvSpPr>
          <p:cNvPr id="18" name="label-490"/>
          <p:cNvSpPr txBox="1"/>
          <p:nvPr/>
        </p:nvSpPr>
        <p:spPr>
          <a:xfrm>
            <a:off x="822960" y="4745736"/>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MongoDB Agent Skills</a:t>
            </a:r>
            <a:endParaRPr lang="en-US" sz="1300" dirty="0"/>
          </a:p>
        </p:txBody>
      </p:sp>
      <p:sp>
        <p:nvSpPr>
          <p:cNvPr id="19" name="label-491"/>
          <p:cNvSpPr txBox="1"/>
          <p:nvPr/>
        </p:nvSpPr>
        <p:spPr>
          <a:xfrm>
            <a:off x="5486400" y="4745736"/>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mongodb.com/docs/agent-skills/ · github.com/mongodb/agent-skills</a:t>
            </a:r>
            <a:endParaRPr lang="en-US" sz="1150" dirty="0"/>
          </a:p>
        </p:txBody>
      </p:sp>
      <p:sp>
        <p:nvSpPr>
          <p:cNvPr id="20" name="label-492"/>
          <p:cNvSpPr txBox="1"/>
          <p:nvPr/>
        </p:nvSpPr>
        <p:spPr>
          <a:xfrm>
            <a:off x="822960" y="5221224"/>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From Systems of Record to Agentic Systems of Action (Packt, 2026)</a:t>
            </a:r>
            <a:endParaRPr lang="en-US" sz="1300" dirty="0"/>
          </a:p>
        </p:txBody>
      </p:sp>
      <p:sp>
        <p:nvSpPr>
          <p:cNvPr id="21" name="label-493"/>
          <p:cNvSpPr txBox="1"/>
          <p:nvPr/>
        </p:nvSpPr>
        <p:spPr>
          <a:xfrm>
            <a:off x="5486400" y="5221224"/>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mongodb.com/books</a:t>
            </a:r>
            <a:endParaRPr lang="en-US" sz="1150" dirty="0"/>
          </a:p>
        </p:txBody>
      </p:sp>
      <p:sp>
        <p:nvSpPr>
          <p:cNvPr id="22" name="label-494"/>
          <p:cNvSpPr txBox="1"/>
          <p:nvPr/>
        </p:nvSpPr>
        <p:spPr>
          <a:xfrm>
            <a:off x="822960" y="5696712"/>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GB Studio MCP server (skills vs tools, education)</a:t>
            </a:r>
            <a:endParaRPr lang="en-US" sz="1300" dirty="0"/>
          </a:p>
        </p:txBody>
      </p:sp>
      <p:sp>
        <p:nvSpPr>
          <p:cNvPr id="23" name="label-495"/>
          <p:cNvSpPr txBox="1"/>
          <p:nvPr/>
        </p:nvSpPr>
        <p:spPr>
          <a:xfrm>
            <a:off x="5486400" y="5696712"/>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github.com/eoinjordan/gb-studio-agent</a:t>
            </a:r>
            <a:endParaRPr lang="en-US" sz="115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Backup: the first document, live (slide 10)</a:t>
            </a:r>
            <a:endParaRPr lang="en-US" sz="3200" dirty="0"/>
          </a:p>
        </p:txBody>
      </p:sp>
      <p:pic>
        <p:nvPicPr>
          <p:cNvPr id="3" name="Picture 2" descr="s10-first-document.png"/>
          <p:cNvPicPr>
            <a:picLocks noChangeAspect="1"/>
          </p:cNvPicPr>
          <p:nvPr/>
        </p:nvPicPr>
        <p:blipFill>
          <a:blip r:embed="rId2"/>
          <a:stretch>
            <a:fillRect/>
          </a:stretch>
        </p:blipFill>
        <p:spPr>
          <a:xfrm>
            <a:off x="640080" y="1417320"/>
            <a:ext cx="4955666" cy="4206240"/>
          </a:xfrm>
          <a:prstGeom prst="rect">
            <a:avLst/>
          </a:prstGeom>
        </p:spPr>
      </p:pic>
      <p:pic>
        <p:nvPicPr>
          <p:cNvPr id="4" name="Picture 3" descr="s12-index-explain.png"/>
          <p:cNvPicPr>
            <a:picLocks noChangeAspect="1"/>
          </p:cNvPicPr>
          <p:nvPr/>
        </p:nvPicPr>
        <p:blipFill>
          <a:blip r:embed="rId3"/>
          <a:stretch>
            <a:fillRect/>
          </a:stretch>
        </p:blipFill>
        <p:spPr>
          <a:xfrm>
            <a:off x="5870066" y="1417320"/>
            <a:ext cx="5318760" cy="2470977"/>
          </a:xfrm>
          <a:prstGeom prst="rect">
            <a:avLst/>
          </a:prstGeom>
        </p:spPr>
      </p:pic>
      <p:sp>
        <p:nvSpPr>
          <p:cNvPr id="5" name="capture-marker"/>
          <p:cNvSpPr txBox="1"/>
          <p:nvPr/>
        </p:nvSpPr>
        <p:spPr>
          <a:xfrm>
            <a:off x="640080" y="5760720"/>
            <a:ext cx="10911840" cy="457200"/>
          </a:xfrm>
          <a:prstGeom prst="rect">
            <a:avLst/>
          </a:prstGeom>
          <a:noFill/>
        </p:spPr>
        <p:txBody>
          <a:bodyPr wrap="square">
            <a:spAutoFit/>
          </a:bodyPr>
          <a:lstStyle/>
          <a:p>
            <a:r>
              <a:rPr sz="1300"/>
              <a:t>Left: db.runs.findOne() for run-1842 on the RUBIK Pi. Right: the two slide-12 questions with explain() — each hits its index, one key examined.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Backup: from polling to events, live (slide 14)</a:t>
            </a:r>
            <a:endParaRPr lang="en-US" sz="3200" dirty="0"/>
          </a:p>
        </p:txBody>
      </p:sp>
      <p:pic>
        <p:nvPicPr>
          <p:cNvPr id="3" name="Picture 2" descr="s14-change-stream.gif"/>
          <p:cNvPicPr>
            <a:picLocks noChangeAspect="1"/>
          </p:cNvPicPr>
          <p:nvPr/>
        </p:nvPicPr>
        <p:blipFill>
          <a:blip r:embed="rId2"/>
          <a:stretch>
            <a:fillRect/>
          </a:stretch>
        </p:blipFill>
        <p:spPr>
          <a:xfrm>
            <a:off x="640080" y="1325880"/>
            <a:ext cx="10911840" cy="4836561"/>
          </a:xfrm>
          <a:prstGeom prst="rect">
            <a:avLst/>
          </a:prstGeom>
        </p:spPr>
      </p:pic>
      <p:sp>
        <p:nvSpPr>
          <p:cNvPr id="5" name="capture-marker"/>
          <p:cNvSpPr txBox="1"/>
          <p:nvPr/>
        </p:nvSpPr>
        <p:spPr>
          <a:xfrm>
            <a:off x="640080" y="6299601"/>
            <a:ext cx="10911840" cy="457200"/>
          </a:xfrm>
          <a:prstGeom prst="rect">
            <a:avLst/>
          </a:prstGeom>
          <a:noFill/>
        </p:spPr>
        <p:txBody>
          <a:bodyPr wrap="square">
            <a:spAutoFit/>
          </a:bodyPr>
          <a:lstStyle/>
          <a:p>
            <a:r>
              <a:rPr sz="1300"/>
              <a:t>complete.js updates the run; the change stream fires; the consumer resumes the agent by thread_id and saves its resume token.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Backup: the consumer survives a restart (slide 25)</a:t>
            </a:r>
            <a:endParaRPr lang="en-US" sz="3200" dirty="0"/>
          </a:p>
        </p:txBody>
      </p:sp>
      <p:pic>
        <p:nvPicPr>
          <p:cNvPr id="3" name="Picture 2" descr="s14-resume-token.gif"/>
          <p:cNvPicPr>
            <a:picLocks noChangeAspect="1"/>
          </p:cNvPicPr>
          <p:nvPr/>
        </p:nvPicPr>
        <p:blipFill>
          <a:blip r:embed="rId2"/>
          <a:stretch>
            <a:fillRect/>
          </a:stretch>
        </p:blipFill>
        <p:spPr>
          <a:xfrm>
            <a:off x="640080" y="1325880"/>
            <a:ext cx="10911840" cy="4836561"/>
          </a:xfrm>
          <a:prstGeom prst="rect">
            <a:avLst/>
          </a:prstGeom>
        </p:spPr>
      </p:pic>
      <p:sp>
        <p:nvSpPr>
          <p:cNvPr id="5" name="capture-marker"/>
          <p:cNvSpPr txBox="1"/>
          <p:nvPr/>
        </p:nvSpPr>
        <p:spPr>
          <a:xfrm>
            <a:off x="640080" y="6299601"/>
            <a:ext cx="10911840" cy="457200"/>
          </a:xfrm>
          <a:prstGeom prst="rect">
            <a:avLst/>
          </a:prstGeom>
          <a:noFill/>
        </p:spPr>
        <p:txBody>
          <a:bodyPr wrap="square">
            <a:spAutoFit/>
          </a:bodyPr>
          <a:lstStyle/>
          <a:p>
            <a:r>
              <a:rPr sz="1300"/>
              <a:t>The consumer is killed, the run fails while it is down, and the restarted consumer receives the missed event from the saved resume token.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Backup: memory has a half-life, live (slide 15)</a:t>
            </a:r>
            <a:endParaRPr lang="en-US" sz="3200" dirty="0"/>
          </a:p>
        </p:txBody>
      </p:sp>
      <p:sp>
        <p:nvSpPr>
          <p:cNvPr id="6" name="capture-marker"/>
          <p:cNvSpPr txBox="1"/>
          <p:nvPr/>
        </p:nvSpPr>
        <p:spPr>
          <a:xfrm>
            <a:off x="640080" y="6109662"/>
            <a:ext cx="10911840" cy="457200"/>
          </a:xfrm>
          <a:prstGeom prst="rect">
            <a:avLst/>
          </a:prstGeom>
          <a:noFill/>
        </p:spPr>
        <p:txBody>
          <a:bodyPr wrap="square">
            <a:spAutoFit/>
          </a:bodyPr>
          <a:lstStyle/>
          <a:p>
            <a:r>
              <a:rPr sz="1300"/>
              <a:t>Two sessions written with per-document expiresAt; a minute later the short one is gone and audit has no TTL. Right: the slide-17 structured query, embedding stored beside the fields.</a:t>
            </a:r>
          </a:p>
        </p:txBody>
      </p:sp>
      <p:pic>
        <p:nvPicPr>
          <p:cNvPr id="7" name="Picture 6" descr="image.png"/>
          <p:cNvPicPr>
            <a:picLocks noChangeAspect="1"/>
          </p:cNvPicPr>
          <p:nvPr/>
        </p:nvPicPr>
        <p:blipFill>
          <a:blip r:embed="rId2"/>
          <a:stretch>
            <a:fillRect/>
          </a:stretch>
        </p:blipFill>
        <p:spPr>
          <a:xfrm>
            <a:off x="640080" y="1371600"/>
            <a:ext cx="4754880" cy="2209011"/>
          </a:xfrm>
          <a:prstGeom prst="rect">
            <a:avLst/>
          </a:prstGeom>
        </p:spPr>
      </p:pic>
      <p:pic>
        <p:nvPicPr>
          <p:cNvPr id="8" name="Picture 7" descr="image.png"/>
          <p:cNvPicPr>
            <a:picLocks noChangeAspect="1"/>
          </p:cNvPicPr>
          <p:nvPr/>
        </p:nvPicPr>
        <p:blipFill>
          <a:blip r:embed="rId3"/>
          <a:stretch>
            <a:fillRect/>
          </a:stretch>
        </p:blipFill>
        <p:spPr>
          <a:xfrm>
            <a:off x="640080" y="3763491"/>
            <a:ext cx="4754880" cy="2209011"/>
          </a:xfrm>
          <a:prstGeom prst="rect">
            <a:avLst/>
          </a:prstGeom>
        </p:spPr>
      </p:pic>
      <p:pic>
        <p:nvPicPr>
          <p:cNvPr id="9" name="Picture 8" descr="image.png"/>
          <p:cNvPicPr>
            <a:picLocks noChangeAspect="1"/>
          </p:cNvPicPr>
          <p:nvPr/>
        </p:nvPicPr>
        <p:blipFill>
          <a:blip r:embed="rId4"/>
          <a:stretch>
            <a:fillRect/>
          </a:stretch>
        </p:blipFill>
        <p:spPr>
          <a:xfrm>
            <a:off x="5669280" y="1371600"/>
            <a:ext cx="5852160" cy="3367977"/>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Backup: guardrails are data, live (slide 18)</a:t>
            </a:r>
            <a:endParaRPr lang="en-US" sz="3200" dirty="0"/>
          </a:p>
        </p:txBody>
      </p:sp>
      <p:pic>
        <p:nvPicPr>
          <p:cNvPr id="3" name="Picture 2" descr="s18-guardrails.gif"/>
          <p:cNvPicPr>
            <a:picLocks noChangeAspect="1"/>
          </p:cNvPicPr>
          <p:nvPr/>
        </p:nvPicPr>
        <p:blipFill>
          <a:blip r:embed="rId2"/>
          <a:stretch>
            <a:fillRect/>
          </a:stretch>
        </p:blipFill>
        <p:spPr>
          <a:xfrm>
            <a:off x="640080" y="1417320"/>
            <a:ext cx="8666733" cy="4206240"/>
          </a:xfrm>
          <a:prstGeom prst="rect">
            <a:avLst/>
          </a:prstGeom>
        </p:spPr>
      </p:pic>
      <p:sp>
        <p:nvSpPr>
          <p:cNvPr id="4" name="capture-marker"/>
          <p:cNvSpPr txBox="1"/>
          <p:nvPr/>
        </p:nvSpPr>
        <p:spPr>
          <a:xfrm>
            <a:off x="640080" y="5760720"/>
            <a:ext cx="10911840" cy="457200"/>
          </a:xfrm>
          <a:prstGeom prst="rect">
            <a:avLst/>
          </a:prstGeom>
          <a:noFill/>
        </p:spPr>
        <p:txBody>
          <a:bodyPr wrap="square">
            <a:spAutoFit/>
          </a:bodyPr>
          <a:lstStyle/>
          <a:p>
            <a:r>
              <a:rPr sz="1300"/>
              <a:t>The agent proposes three actions. start_training is approved by policy, deploy_model is rejected because no policy permits it, delete_project is refused by the schema before any decision. Every decision is in audit.</a:t>
            </a:r>
          </a:p>
        </p:txBody>
      </p:sp>
    </p:spTree>
  </p:cSld>
  <p:clrMapOvr>
    <a:masterClrMapping/>
  </p:clrMapOvr>
</p:sld>
</file>

<file path=ppt/theme/theme1.xml><?xml version="1.0" encoding="utf-8"?>
<a:theme xmlns:a="http://schemas.openxmlformats.org/drawingml/2006/main" name="Restrained Duarte">
  <a:themeElements>
    <a:clrScheme name="Restrained Duarte">
      <a:dk1>
        <a:srgbClr val="1A1A1A"/>
      </a:dk1>
      <a:lt1>
        <a:srgbClr val="FFFFFF"/>
      </a:lt1>
      <a:dk2>
        <a:srgbClr val="5C6670"/>
      </a:dk2>
      <a:lt2>
        <a:srgbClr val="F3F6F4"/>
      </a:lt2>
      <a:accent1>
        <a:srgbClr val="00684A"/>
      </a:accent1>
      <a:accent2>
        <a:srgbClr val="00ED64"/>
      </a:accent2>
      <a:accent3>
        <a:srgbClr val="E3FCF0"/>
      </a:accent3>
      <a:accent4>
        <a:srgbClr val="C9CFCD"/>
      </a:accent4>
      <a:accent5>
        <a:srgbClr val="8A949A"/>
      </a:accent5>
      <a:accent6>
        <a:srgbClr val="001E2B"/>
      </a:accent6>
      <a:hlink>
        <a:srgbClr val="00684A"/>
      </a:hlink>
      <a:folHlink>
        <a:srgbClr val="5C6670"/>
      </a:folHlink>
    </a:clrScheme>
    <a:fontScheme name="Restrained Duart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Agent Can Call the API. Now What?</dc:title>
  <dc:subject>PptxGenJS Presentation</dc:subject>
  <dc:creator>Eoin Jordan</dc:creator>
  <cp:lastModifiedBy>Eoin Jordan</cp:lastModifiedBy>
  <cp:revision>1</cp:revision>
  <dcterms:created xsi:type="dcterms:W3CDTF">2026-10-14T12:41:37Z</dcterms:created>
  <dcterms:modified xsi:type="dcterms:W3CDTF">2026-10-14T12:41:37Z</dcterms:modified>
</cp:coreProperties>
</file>