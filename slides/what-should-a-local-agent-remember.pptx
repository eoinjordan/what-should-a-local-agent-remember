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94" r:id="rId40"/>
    <p:sldId id="287" r:id="rId33"/>
    <p:sldId id="288" r:id="rId39"/>
    <p:sldId id="292" r:id="rId43"/>
    <p:sldId id="293" r:id="rId44"/>
    <p:sldId id="290" r:id="rId41"/>
    <p:sldId id="291" r:id="rId42"/>
    <p:sldId id="295" r:id="rId45"/>
    <p:sldId id="296" r:id="rId46"/>
    <p:sldId id="297" r:id="rId47"/>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2449b96-3fcf-c80b-6151-7608250da17c}">
          <p14:sldIdLst>
            <p14:sldId id="256"/>
            <p14:sldId id="257"/>
            <p14:sldId id="258"/>
          </p14:sldIdLst>
        </p14:section>
        <p14:section name="What I Built" id="{0adff774-f8b8-6320-b1ce-10d8c7d15eb2}">
          <p14:sldIdLst>
            <p14:sldId id="259"/>
            <p14:sldId id="260"/>
            <p14:sldId id="261"/>
            <p14:sldId id="262"/>
          </p14:sldIdLst>
        </p14:section>
        <p14:section name="Teach" id="{a2e8855c-ba75-946b-5147-e7f0364054be}">
          <p14:sldIdLst>
            <p14:sldId id="263"/>
            <p14:sldId id="264"/>
            <p14:sldId id="265"/>
            <p14:sldId id="266"/>
            <p14:sldId id="267"/>
          </p14:sldIdLst>
        </p14:section>
        <p14:section name="Events" id="{764dcb4b-42bf-068b-b8e9-9dc5861eb898}">
          <p14:sldIdLst>
            <p14:sldId id="268"/>
            <p14:sldId id="269"/>
          </p14:sldIdLst>
        </p14:section>
        <p14:section name="Memory" id="{b32c113d-5fa8-0f43-2015-42e99ee5ffdb}">
          <p14:sldIdLst>
            <p14:sldId id="270"/>
            <p14:sldId id="271"/>
          </p14:sldIdLst>
        </p14:section>
        <p14:section name="AI" id="{a40c9b00-5e2a-1aca-f6e8-5b609c5dbf6c}">
          <p14:sldIdLst>
            <p14:sldId id="272"/>
            <p14:sldId id="273"/>
          </p14:sldIdLst>
        </p14:section>
        <p14:section name="Resolution" id="{49c28c28-6a57-4c2b-9d7b-b9387f4f1fd7}">
          <p14:sldIdLst>
            <p14:sldId id="274"/>
            <p14:sldId id="275"/>
            <p14:sldId id="276"/>
            <p14:sldId id="277"/>
            <p14:sldId id="278"/>
          </p14:sldIdLst>
        </p14:section>
        <p14:section name="Backup" id="{93ab6963-e192-6266-08eb-44f8ff286899}">
          <p14:sldIdLst>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4.xml"/><Relationship Id="rId40" Type="http://schemas.openxmlformats.org/officeDocument/2006/relationships/slide" Target="slides/slide32.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The title is the question the panel was promised; answer it with the hook, to the lens: 'That question came out of a demo. The demo wasn't the hard part. Reliability was.' Say where everything runs, once, pointing at the footer: a RUBIK Pi on the desk, Qualcomm silicon, Ubuntu, MongoDB Community, no cloud behind it; that is what 'local' and 'edge' mean for the next forty minutes. The two objectives are on the next slide, so do not read the line at the bottom of this one; it is there for the recording. Don't say the word database yet. The reveal that this is a data-modelling problem comes about five minutes in.</a:t>
            </a:r>
          </a:p>
          <a:p/>
          <a:p>
            <a:r>
              <a:t>TRANSITION: 'Thirty seconds on who's talking, then what you will leave with.'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during the 5-minute introductions segment; the panel has met you.] Thirty seconds, no more: Eoin Jordan, developer relations at Edge Impulse, now part of Qualcomm; eight years at IBM Galway on distributed systems before that; the PhD at Insight on semantics; the two MongoDB skill badges from this month. If it comes up: three weeks before this talk I had not used mongosh, PyMongo or the LangGraph checkpointer. The demos are the first things I wrote with them; the toolbox is on the last backup slide.</a:t>
            </a:r>
          </a:p>
          <a:p/>
          <a:p>
            <a:r>
              <a:t>Then the audience line, to the lens, reading the green sentence: 'This is for experienced engineers who know documents, indexes and change streams, and have not yet built an agent that has to survive a restart.'</a:t>
            </a:r>
          </a:p>
          <a:p/>
          <a:p>
            <a:r>
              <a:t>Then the map, reading the slide: 'After this session you will be able to do two things. One: model and index the state of an agent workflow as documents the agent can read in one go. Two: decide what the agent remembers: what reacts to change, what expires, and what it must be able to explain.' Say the word: 'Those are the two learning objectives. Slide 8 restates them when we start fixing things, and the last three lines of the talk are them again.' Point at the QR: the SimCity model is open if they want to follow the database side live.</a:t>
            </a:r>
          </a:p>
          <a:p/>
          <a:p>
            <a:r>
              <a:t>Then the disclosure, twenty seconds, reading the small block: 'Full disclosure: I have built agents, MCP servers and edge ML for years; the MongoDB side of this is three weeks old, and the two badges are from this month. This is a teaching exercise built on one real problem. It runs on one board, not a fleet, and where that matters I will say so.' That is the intellectual-honesty line; it buys you the right to be confident about the rest.</a:t>
            </a:r>
          </a:p>
          <a:p/>
          <a:p/>
          <a:p>
            <a:r>
              <a:t>TRANSITION: 'Before we start, three questions for you.'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[0:00–1:30 of the 40] Launch the Zoom poll as you share screen; read each question aloud and watch the chat. Ninety seconds. Read two or three chat answers back by name. Keep the poll results tab open, you return to them at 'Where does this live?' and at 'What to take back'. The panel should say the problem out loud before you name it. TRANSITION: 'Hold those answers. Let me show you where mine came from.'</a:t>
            </a:r>
          </a:p>
          <a:p/>
          <a:p>
            <a:r>
              <a:t>Who is in the room: engineers who know documents, indexes and change streams and have not built an agent's memory. Every section bridges from the first to the second: the familiar MongoDB feature first, then what it becomes when an agent is the client. Any term that might be new is defined before its mechanism.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[1:30–3:30] The real system, in your own words. Question I started with: can a AI agent act like a natural-language control plane over Edge Impulse Studio, not one endpoint, the whole workflow: projects, data, DSP blocks, training jobs, results. Five evenings. Built off the public Postman collection so no source left the laptop. Low-level tools stayed close to the REST API; skills on top for the things agents keep trying to do, train, wait, tune, compare. The sentence that made it feel real: 'Train this project, optimise for accuracy under constraints, and tell me what changed.' Edge context in one line: this is a platform that puts ML on devices the size of a coin, the device used to classify, now an agent is configuring it. Facts to say, not show: five evenings; built from the public Postman collection so no source left the laptop; low-level tools close to the REST API (projects, DSP and windowing, hyperparameters, jobs); skills on top (train + wait + summarise, safe config edits, ID discovery), MongoDB now ships the same idea for its own database as Agent Skills, which comes back on the where-to-go-next slide. DROP IN: the MCP server response screenshot from the blog post. ONE LINE for the LangChain crowd, no more in a two-minute slot: 'If you know LangChain tools, same contract to the model, different home. A @tool lives in your process; an MCP tool is a separate server any client can plug into. Neither holds state, which is the next slide.' The full version (wall-socket analogy, MCP adapters, they compose) is in the slide 25 notes for Q&amp;A. TRANSITION: 'It worked. Here's how I made sure it wasn't lying to me.'</a:t>
            </a:r>
          </a:p>
          <a:p/>
          <a:p>
            <a:r>
              <a:t>The loop draws itself when the slide opens, left to right: prompt, agent, MCP server, API, training job, result, then the iterate arrow back to the agent. Say each box as it appears; the MCP server is the highlighted one, because that is the natural-language control plane: the agent never sees the API, only tools. Pause on 'iterate': that loop is where state has to live.</a:t>
            </a:r>
          </a:p>
          <a:p/>
          <a:p>
            <a:r>
              <a:t>Most of the room has the write-up already (it went round before the session), so do not retell it: one sentence on what it did, then straight to the sentence that broke it. If someone has not read it, the QR is on the slide and the toolbox backup lists what it was built with.</a:t>
            </a:r>
          </a:p>
          <a:p/>
          <a:p>
            <a:r>
              <a:t>Purpose, one sentence after the write-up: 'I wanted to show MongoDB doing the job of an agent's memory, with the features you already run: documents, indexes, change streams, TTL, validation, roles. Nothing exotic, in the right order.'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[3:30–5:00] Conversational, not a lecture, this is you telling a story about your own evenings. The key wasn't MCP, it was engineering discipline so the agent couldn't bluff its way through. Three moves. One: walk the API and stub everything, a mock server so I could shape the tool surface without hammering real jobs. Two: tests for every tool, happy path, failure path, missing params, weird edge cases. That was the biggest unlock: without tests the agent happily moves forward on assumptions; with them I could tell whether a failure was my wrapper, the endpoint, or the agent being silly. Three: agent-friendly helpers, waiting and polling on long jobs, clear org-vs-project scoping, stricter validation. Flag the third one: 'remember those three helpers, they are the whole second half of this talk.' DROP IN: the testing-framework screenshot from the blog post.</a:t>
            </a:r>
          </a:p>
          <a:p/>
          <a:p>
            <a:r>
              <a:t>Read the lead-in line first, then the three moves.</a:t>
            </a:r>
          </a:p>
          <a:p/>
          <a:p/>
          <a:p>
            <a:r>
              <a:t>TRANSITION: 'And then it started leaking state.'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[5:00–7:00] The bottlenecks were not capability, they were plumbing. Straight from the logs: IDs everywhere, block IDs, project IDs, org numbers, and the agent had to be told them or go and discover them before doing anything destructive. Job timing, training takes minutes, so wait / status / retry, and if the process died in between, the job was orphaned. State management, the agent loses context unless you design around it; it would start a second training job because it forgot the first, or act on a stale result. 'None of this is an LLM problem. It is a state problem.' That's the reveal. Pause on it. TRANSITION: 'So where does all of this live? I want your answer before mine.'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[7:00–8:00] Stop. Ask the room, then pull up the poll: most people said prompt or files. Reflect answers back without judging: prompt, works until the context fills or the process restarts; a file, one agent, one machine; a cache, until it evicts the job ID you needed. 'Let's put it in a database and see what that forces us to decide.' TRANSITION: 'Here's what we're going to be able to do by the 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[8:00–9:00] Two objectives, not five. Say them as promises and return to them at the end as the takeaways. TRANSITION: 'Objective one, modelling the state. And the odd thing about modelling in a document database is that you don't start with the data.'</a:t>
            </a:r>
          </a:p>
          <a:p/>
          <a:p>
            <a:r>
              <a:t>Say the word: 'Two objectives, in three parts.' Point at the bridge line first: they already know the features; the new thing is using them as memory.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[9:00–11:00] The first schema is not a collection diagram; it is a set of questions, specifically, what will the system ask when things go wrong? These five are the ones my agent needed answered before it could safely take the next step. MongoDB's own schema-design process starts here: workload and query patterns first, shape second. ANALOGY: you don't design a filing cabinet by looking at the paper; you design it by asking who comes to the cabinet and what they ask for. TRANSITION: 'So let's answer those questions with a first document, and then pick it apart.'</a:t>
            </a:r>
          </a:p>
          <a:p/>
          <a:p>
            <a:r>
              <a:t>Application, twenty seconds: 'What is the sixth question your operator asks when something goes wrong? Type it.' Read one back by name. If it fits, it becomes the index example on slide 12: the question creates the index.</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[11:00–14:00] One run = one document. Read it top to bottom as the story of a training run. Then: 'Don't take this as the answer. What's wrong with it?' Give the room thirty seconds. The prompts on the right are the ones you want them to find: jobs grows; status changes every few seconds; approvals need a history, not a field; the fast query is by project and status. DEMO CUE: db.runs.findOne() on the Rubik Pi, same document. TRANSITION: 'Most of what you found wrong is one decision: what lives inside this document, and what lives next to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[14:00–17:30] The core document-model decision, driven by change, growth and access. Embed what is small, bounded and read with the parent. Reference or split what is large, unbounded or shared, job events, training logs, artifacts. And a third column people forget: the append-only log, actions, status transitions, approvals, because the question 'why did it do that?' is a history question. Q&amp;A fodder: the 16 MB limit, unbounded arrays, the subset pattern, duplication versus a second read. ANALOGY: embedding is a passport with your photo printed in it, everything you need in one read. Referencing is a reference number to a file held somewhere else, a second lookup, but the file can grow and be shared. TRANSITION: 'That's objective one done, we have a shape. Objective one, second half: what will the system ask of it, and how fast?'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[17:30–21:00] From 'here is my schema' to 'what will the system ask?'. Two questions my agent asked constantly: is anything still training for this project, and what happened most recently. Derive the index from each; mention ESR once, equality first, then sort, then range. Then the trade: every insert and every status update now maintains both indexes; for an agent writing a status change every few seconds that matters. Ask: could one index serve both? ({projectId, status, updatedAt:-1} serves the first and a filtered version of the second, let them argue it.) ANALOGY: an index is the index at the back of a textbook, you build it for the questions readers actually ask, and every page you add means updating it. TRANSITION: 'Reads sorted. That's objective one done: a shape, and the index for each question. Objective two, what the agent should remember, starts with the part that actually hurt me: waiting.'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[21:00–23:00] This is helper number three from the blog, the one I told you to remember. The 'train + wait + summarise' skill: start a job, poll until it completes, summarise what changed. Training takes minutes. Every poll is a read; every poll through the LLM is tokens; and if the process died between polls the job was orphaned, that's the 'orphaned job' box from the leak slide. 'The agent was doing the database's job.' ANALOGY: this is checking the front door every ten seconds to see if a parcel has arrived. TRANSITION: 'What you want is a doorbell.'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[23:00–26:00] Flip it: the job updates its own status document; the database emits a change event; a consumer reacts, resumes the agent, triggers the next tool, or hands off for approval. Say the failure path out loud rather than on the slide: what if the consumer is down (resume token), what if the event is delivered twice (idempotent handlers), what if you missed the window. DEMO CUE: watcher in one terminal on the Rubik Pi, update a run's status in another, consumer fires. SimCity: the lime change-stream particle to the consumer pod. ANALOGY: the change stream is the doorbell, the database rings when the thing you care about changes. TRANSITION: 'Objective two, second part: what expires. First question, how long should any of this live?'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[26:00–28:00] This is the slide where the outline's 'short-term versus long-term memory' becomes a data-model decision, so use those words: short-term is what the agent needs for the job in front of it and should expire; long-term is what the agent or a human will come back to and should be kept, indexed and audited. Keep history deliberately; expire scratch data deliberately. Three columns: keep, expire, review, 'review' is the honest one, because raw logs and failed attempts are where the next debugging session lives, and nobody has decided yet. Per-document expiry with expiresAt lets the writer decide the lifetime at write time. TTL is a tool for finite-lifetime data, not a substitute for deciding what matters. If asked how prompt the expiry is: the TTL monitor sweeps about once a minute, so a document can outlive expiresAt by up to a minute, fine for scratch data, which is the point; nothing with a correctness requirement should rely on it. ANALOGY: expiresAt is a best-before date stamped when the milk is bottled, the writer decides, the fridge enforces. TRANSITION: 'Let me make you decide.'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[28:00–29:00] Second audience moment. Someone will say session context. Push back gently: if a human disputes an action, is the session context the evidence? 'Review' is a product decision, the database should make it cheap to change your mind. TRANSITION: 'So far every question has had an exact answer. Not every question does.'</a:t>
            </a:r>
          </a:p>
          <a:p/>
          <a:p>
            <a:r>
              <a:t>Read the lead-in before the list, then ask the question and wait.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[29:00–31:30] Only now bring in vectors, and make the distinction do the work. Left: exact fields, exact answer. Right: 'experiments that failed for reasons like this one', no field to filter on. Same collection, same document; the embedding of the failure summary sits beside the structured fields and is filtered by them. You don't bolt a vector store onto the side; you add a query mode to data you already govern. ANALOGY: a structured query is looking someone up by their employee number; a semantic query is 'who here has dealt with something like this before?', same staff directory, different question. TRANSITION: 'Last piece of memory: not what the agent knows, but what it was allowed to do.'</a:t>
            </a:r>
          </a:p>
          <a:p/>
          <a:p>
            <a:r>
              <a:t>The animation draws the two queries one after the other, then the arrows meet on one box. Left first: the exact question, a find with three fields. Then the right: the same collection, one aggregation stage, a vector. Wait for the box before the next sentence: one collection, one document, two query modes.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[31:30–34:00] Back to the blog's closing warning, now with a data model behind it: least privilege, confirmation gates for destructive actions, an audit trail, sane rate limits. The approval record is a document, who asked, who approved, what scope, what decision, why. Tie to the edge demo if it's running: the policy collection refuses the action before the actuator ever fires. 'If a system can act, it must be able to explain how that action was allowed.' Point at the poll: whoever voted "nobody can explain what it did", this is the collection. TRANSITION: 'Let's put the whole picture back together.'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[34:00–35:00] Return to the first diagram and resolve the tension. Left, greyed: the version that worked for a demo. Right: the agent still has tools, but between the tools and the platform there is a state layer that answers structured questions, holds workflow state and history, keeps the audit trail, serves semantic retrieval, and emits events. One database, several query modes, one set of rules. TRANSITION: 'Before the three takeaways, what this means for each of you on Monday.'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[35:00–36:00] One Monday-morning action per role. Tie the last one to the poll: 'If you voted that nobody can explain what the agent did, that's the audit collection. It's a field, not a feature.'</a:t>
            </a:r>
          </a:p>
          <a:p/>
          <a:p>
            <a:r>
              <a:t>The cards carry one line each; say the second half of each: Replace your polling loop with a change stream this week. Decide embed versus reference by read pattern, not by habit. Keep audit and approvals out of the expiry list. If the answer isn't a collection, it isn't ready.</a:t>
            </a:r>
          </a:p>
          <a:p/>
          <a:p>
            <a:r>
              <a:t>Read the lead-in, then one card per role, slowly.</a:t>
            </a:r>
          </a:p>
          <a:p/>
          <a:p/>
          <a:p>
            <a:r>
              <a:t>TRANSITION: 'Three things I want you to remember.'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[36:00–37:00, then Q&amp;A] Say the three lines slowly, then stop talking. Model for the workload, start with the questions. Index for the questions, every index is a trade. Treat AI memory as data, persist what matters, expire what doesn't, make actions explainable.</a:t>
            </a:r>
          </a:p>
          <a:p/>
          <a:p>
            <a:r>
              <a:t>Reflection, ten seconds of silence after the third line: 'Which of the three would have saved you a restart last quarter?' Nobody answers aloud; that is the point. Then move on.</a:t>
            </a:r>
          </a:p>
          <a:p/>
          <a:p>
            <a:r>
              <a:t>TRANSITION: 'Where to go next, routed by what you need.'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[Q&amp;A, leave up] Route people by what they need, not by what I have. Learn: the free Skill Badges, sixty to ninety minutes each with a Credly badge; AI Agents with MongoDB and Schema Design Patterns follow this talk directly, and the book: From Systems of Record to Agentic Systems of Action, Packt 2026, written by MongoDB practitioners; it covers exactly this ground at enterprise scale, agent memory and working state, event-driven sync, controlled writeback, human oversight, auditability. Ask: the Community Forums, where the engineering team answers, and the docs, the four pages behind this talk are on the corner QRs; the docs assistant answers most 'how do I' questions directly. Build: MongoDB Agent Skills, the helpers I wrote by hand for my MCP server, MongoDB now ships for its own database: a schema-design skill, a query optimizer, MCP setup, natural-language querying; one npx command, or bundled in the Claude, Codex, Cursor and Gemini plugins with the MCP server. Scale: customers and partners go to their account team or the contact page. Say it once: 'The point of the talk isn't to make you ask me, it's to leave you knowing where the answer lives.'</a:t>
            </a:r>
          </a:p>
          <a:p/>
          <a:p>
            <a:r>
              <a:t>Read the lead-in, then route them: learn, ask, build, scale.</a:t>
            </a:r>
          </a:p>
          <a:p/>
          <a:p/>
          <a:p>
            <a:r>
              <a:t>TRANSITION: 'Thank you. The Pi is on the desk; questions.'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then hand over to Q&amp;A. 'I have the Rubik Pi on the desk, happy to screen-share any of this live, including killing the agent mid-job and watching it resume.' Leave the slide up; links are in the chat too. If someone asks a 'how do I' question you can't finish in the time, point at the previous slide: forums for the discussion, docs for the answer, account team if they're a customer.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only if asked how this becomes MongoDB University material. Five steps, each one a design habit, all on the same running example. Step 1 uses a real sanitised workflow log from the MCP project.</a:t>
            </a:r>
          </a:p>
          <a:p/>
          <a:p>
            <a:r>
              <a:t>If asked how the lab is paced: diminishing coaching. Step 1 is fully worked on the slide-10 document, steps 2 and 3 give the shape and ask for the index, steps 4 and 5 are open. Varied problems: the same five steps on their own workflow log, not mine.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LangChain / LangGraph or agent frameworks. Tie to tooling people actually use, briefly. Short-term memory is workflow state between steps, in LangGraph the checkpointer, keyed by thread_id, which is exactly our runId. Long-term memory is what the agent learned across runs, the Store, namespaced by project. Both are collections; both get indexes, TTL and audit like everything else. If they raise LangChain tools versus my MCP tools: same contract to the model, different home, a `@tool` is a function in the agent's process, an MCP tool is served by a separate process over a standard protocol so any client can call it; LangGraph consumes MCP servers through the MCP adapters, so you can run this exact graph over my Edge Impulse tools. Neither holds state; the checkpointer does. DEMO CUE: `python3 resume.py` on the Rubik Pi, Ctrl-C mid-step, run it again, it resumes at the step it was on because the thread document, not the process, holds the state. Thirty seconds, the whole thesis. The MongoDB University AI Agents skill builds this same graph; `course-on-pi/` in the repo is that code running on this Pi, and `check_memory.py` shows the checkpoints collection it writes.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where this breaks down, or about relationships, graphs or RDF. One minute, then stop. The honest line: once the questions are about relationships and inference rather than records, documents plus vectors stop being enough. $graphLookup covers bounded traversals, runs that derived from runs, a device's deployments, but it is a recursive join, not a triple store: no SPARQL, no OWL reasoning. For inference you reach for a dedicated store and keep MongoDB as the operational record. That's the semantic-interoperability work in my PhD, and it's the module I'd teach after this one.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Never show this slide, it's the method for the tricky question, kept here so it's in the deck you rehearse from. Say the question back in one sentence. Name the mechanism or trade-off underneath. Walk it in two or three steps on the running example (a run, a job, a status change). Say what you'd measure before committing, and where you're unsure. Practice set: (1) one document per project with every run embedded, when does it stop working? read pattern first; unbounded growth; 16 MB is the symptom, the hot cache page is the disease; split runs out, keep a summary in the project. (2) change-stream consumer down for an hour, resume token; oplog window; past it, re-scan by updatedAt since last processed; idempotent handler either way. (3) two agents pick up the same approved action, the approval record is the lock: conditional update approved to executing with the agent id, one wins, the other matches zero. (4) why not Postgres JSONB, it works; depends whether hot queries are over the document shape or across it; be honest, then name what you'd lose: change streams, per-document TTL, vector index beside the document. (5) what's wrong with your index, write amplification on a churning status field; status cardinality is tiny so it's second for a reason; a partial index on status: training is cheaper.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tooling, Agent Skills, the MCP server, or 'how would a developer actually apply this'. The three moves from slide 5 map onto what MongoDB ships today. Stub and test to the MongoDB MCP Server gives a coding agent the live database, so it reads real schemas and indexes instead of guessing. Agent-friendly helpers to Agent Skills: a Schema Design skill (embed vs reference, validation), a Query Optimizer (checks the index actually serves the query, it will find the ESR point from the index slide), Natural Language Querying, and MCP Setup. Install is one npx command, or the Claude / Codex / Cursor / Gemini plugins bundle skills and server together. If you want a demo: in Claude Code with the plugin, /schema-design on the run document and /query-optimizer on the two queries, have it recorded rather than live. The teaching point: skills are the curriculum, encoded for the agent. That is literally this job.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Prepared depth. Don't present this; use it.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Shard key is the question they'll want reasoned, not recited. runId is unique and high-cardinality but it's what the agent reads by least, it would scatter a project's runs across every shard, so 'what's active for this project' becomes a scatter-gather. projectId keeps a project's runs together so the two hot queries are targeted, but one huge project becomes a hot shard; orgId is worse for that. Compound {projectId, createdAt} or hashed projectId are the usual answers depending on whether range-by-time or spread matters more. Change streams still work across shards; the event order is per-shard, which matters for the consumer design. ANALOGY: shard by the thing you query by, the way a library shelves by subject rather than by acquisition date.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to explain memory or storage mechanics simply. Screen-share SimCity's cache district if they want to see it move. Documents and index pages share the WiredTiger cache; a write makes a page dirty (orange in the model); the journal makes it durable before the checkpoint writes it to the collection files every sixty seconds or so; the oplog ring is what replication and change streams read from. The eviction rules are real and documented: the cache tries to stay under 80% and evicts harder past 95%, which is why an agent writing status every second to a document with an unbounded array is a cache problem, not just a schema problem. ANALOGY: the cache is the desk, the journal is the carbon copy you keep in case the desk is cleared, the checkpoint is filing the desk into the cabinet.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sources here so the main deck never reads like documentation.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Left: the slide-10 document as findOne() returns it. Right: the two slide-12 queries with explain() - index name and one key examined each. Say: 'this is the same document, on a device the size of a book, with no cloud behind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Walk the GIF: the left pane updates the run's status, the right pane is the consumer. No polling - the event carries the full document, the consumer resumes the agent by thread_id and saves the resume token.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about the failure path or restarts. Consumer killed with Ctrl-C, the run fails while nothing is listening, the consumer restarts and the missed event arrives from the saved token. Same mechanism as the LangGraph checkpointer on slide 25: the database holds the place, not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Two sessions written with expiresAt, the short one gone a minute later; audit has no TTL. Right: the slide-17 structured query returning the failed runs with the embedding stored beside the fields.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Three proposals: start_training approved under a policy, deploy_model rejected because no policy permits it, delete_project refused by the schema before any decision. The audit collection records who asked, who decided, under which policy and why.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sources here so the main deck never reads like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what you used, or how long it took to learn. Left to right: the shell, the Python, what sits around it. The honest line is the footer: three weeks before this talk none of these were familiar, and the demos are the first things written with each of them. That is the point of the lab and the handout: the same path, in the same order, for someone starting on Monday. If they want one thing to try: open mongosh, findOne a document, createIndex for the question you ask most, then watch the collection and update it from a second window.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whether this works with hardware on the end, or for the factory-automation notes promised in the abstract. Ninety seconds: the camera and the model write events into the same kind of time series; the agent proposes an action the way the training agent proposed a job; the governor approves from the device's own frame counts, never from the model's claim; the executor pulses a relay only on an approval, and the operator can ask the line why. Same collections, same policy gate, same explainability; the only new thing is that a wrong decision moves a bottle. Say what you would measure: approvals per bad cap, and whether the gate ever fired without one. The dashboard is on the Pi if they want it live.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up if anyone asks how long you have used MongoDB, what you would not claim, or why this topic. Left to right: what is years old, what is three weeks old, what has not been done. Say the right-hand column without apology: one board, no fleet, no mongot, SimCity is a model. Then the purpose line at the bottom: the brief asked for a teaching session; the problem was real; everything shown was tested on the Pi. If they push on the three weeks: that is the point of the lab and the handout. The same path, in the same order, is what an attendee gets.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01E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4069080"/>
            <a:ext cx="105156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4" name="Shape 0"/>
          <p:cNvSpPr/>
          <p:nvPr/>
        </p:nvSpPr>
        <p:spPr>
          <a:xfrm>
            <a:off x="822960" y="1737360"/>
            <a:ext cx="274320" cy="274320"/>
          </a:xfrm>
          <a:prstGeom prst="rect">
            <a:avLst/>
          </a:prstGeom>
          <a:solidFill>
            <a:schemeClr val="accent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QUESTION">
    <p:bg>
      <p:bgPr>
        <a:solidFill>
          <a:srgbClr val="F3F6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rtlCol="0"/>
          <a:lstStyle>
            <a:lvl1pPr algn="ctr" indent="0" marL="0">
              <a:buNone/>
              <a:defRPr lang="en-US" sz="4400" b="1" dirty="0">
                <a:solidFill>
                  <a:schemeClr val="accent1"/>
                </a:solidFill>
              </a:defRPr>
            </a:lvl1pPr>
          </a:lstStyle>
          <a:p>
            <a:pPr algn="ctr" indent="0" marL="0">
              <a:buNone/>
            </a:pPr>
            <a:endParaRPr lang="en-US" sz="4400" dirty="0"/>
          </a:p>
        </p:txBody>
      </p:sp>
      <p:sp>
        <p:nvSpPr>
          <p:cNvPr id="3" name="Text 0"/>
          <p:cNvSpPr/>
          <p:nvPr>
            <p:ph idx="101" type="body" hasCustomPrompt="1"/>
          </p:nvPr>
        </p:nvSpPr>
        <p:spPr>
          <a:xfrm>
            <a:off x="822960" y="3931920"/>
            <a:ext cx="10515600" cy="128016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10424160" y="457200"/>
            <a:ext cx="1188720" cy="365760"/>
          </a:xfrm>
          <a:prstGeom prst="rect">
            <a:avLst/>
          </a:prstGeom>
          <a:noFill/>
          <a:ln/>
        </p:spPr>
        <p:txBody>
          <a:bodyPr wrap="square" lIns="0" tIns="0" rIns="0" bIns="0" rtlCol="0" anchor="ctr"/>
          <a:lstStyle/>
          <a:p>
            <a:pPr algn="r" indent="0" marL="0">
              <a:buNone/>
            </a:pPr>
            <a:r>
              <a:rPr lang="en-US" sz="1100" b="1" dirty="0">
                <a:solidFill>
                  <a:schemeClr val="accent1"/>
                </a:solidFill>
              </a:rPr>
              <a:t>BACKUP</a:t>
            </a:r>
            <a:endParaRPr lang="en-US" sz="1100" dirty="0"/>
          </a:p>
        </p:txBody>
      </p:sp>
      <p:sp>
        <p:nvSpPr>
          <p:cNvPr id="4" name="Text 1"/>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9.png"/><Relationship Id="rId5" Type="http://schemas.openxmlformats.org/officeDocument/2006/relationships/image" Target="../media/image11.gif"/><Relationship Id="rId6" Type="http://schemas.openxmlformats.org/officeDocument/2006/relationships/image" Target="../media/image28.png"/><Relationship Id="rId7" Type="http://schemas.openxmlformats.org/officeDocument/2006/relationships/image" Target="../media/image40.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3.gif"/><Relationship Id="rId4" Type="http://schemas.openxmlformats.org/officeDocument/2006/relationships/image" Target="../media/image29.png"/><Relationship Id="rId5" Type="http://schemas.openxmlformats.org/officeDocument/2006/relationships/image" Target="../media/image4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gif"/><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 Id="rId4" Type="http://schemas.openxmlformats.org/officeDocument/2006/relationships/image" Target="../media/image15.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6.gif"/><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7.gif"/><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8.gif"/><Relationship Id="rId4" Type="http://schemas.openxmlformats.org/officeDocument/2006/relationships/image" Target="../media/image33.png"/><Relationship Id="rId5" Type="http://schemas.openxmlformats.org/officeDocument/2006/relationships/image" Target="../media/image45.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 Id="rId4" Type="http://schemas.openxmlformats.org/officeDocument/2006/relationships/image" Target="../media/image19.gif"/><Relationship Id="rId5"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 Id="rId4" Type="http://schemas.openxmlformats.org/officeDocument/2006/relationships/image" Target="../media/image20.gif"/><Relationship Id="rId5"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 Id="rId4" Type="http://schemas.openxmlformats.org/officeDocument/2006/relationships/image" Target="../media/image21.gif"/><Relationship Id="rId5" Type="http://schemas.openxmlformats.org/officeDocument/2006/relationships/image" Target="../media/image36.png"/><Relationship Id="rId6" Type="http://schemas.openxmlformats.org/officeDocument/2006/relationships/image" Target="../media/image41.gif"/></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 Id="rId4" Type="http://schemas.openxmlformats.org/officeDocument/2006/relationships/image" Target="../media/image22.gif"/><Relationship Id="rId5" Type="http://schemas.openxmlformats.org/officeDocument/2006/relationships/image" Target="../media/image23.gif"/><Relationship Id="rId6"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4.gif"/><Relationship Id="rId4" Type="http://schemas.openxmlformats.org/officeDocument/2006/relationships/image" Target="../media/image38.png"/><Relationship Id="rId5" Type="http://schemas.openxmlformats.org/officeDocument/2006/relationships/image" Target="../media/image4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5.gif"/></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gif"/><Relationship Id="rId3"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gif"/><Relationship Id="rId3"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gif"/><Relationship Id="rId3"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What Should a Local Agent Remember?</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Saving state for agents running at the edge</a:t>
            </a:r>
            <a:endParaRPr lang="en-US" sz="2000" dirty="0"/>
          </a:p>
        </p:txBody>
      </p:sp>
      <p:sp>
        <p:nvSpPr>
          <p:cNvPr id="5" name="label-1"/>
          <p:cNvSpPr txBox="1"/>
          <p:nvPr/>
        </p:nvSpPr>
        <p:spPr>
          <a:xfrm>
            <a:off x="822960" y="5943600"/>
            <a:ext cx="7589520" cy="365760"/>
          </a:xfrm>
          <a:prstGeom prst="rect">
            <a:avLst/>
          </a:prstGeom>
          <a:noFill/>
          <a:ln/>
        </p:spPr>
        <p:txBody>
          <a:bodyPr wrap="square" lIns="0" tIns="0" rIns="0" bIns="0" rtlCol="0" anchor="t"/>
          <a:lstStyle/>
          <a:p>
            <a:pPr algn="l" indent="0" marL="0">
              <a:buNone/>
            </a:pPr>
            <a:r>
              <a:rPr lang="en-US" sz="1400" dirty="0">
                <a:solidFill>
                  <a:srgbClr val="8A949A"/>
                </a:solidFill>
              </a:rPr>
              <a:t>Eoin Jordan   ·   40 minutes   ·   live on a RUBIK Pi 3 (Qualcomm QCS6490) · Ubuntu 24.04 · MongoDB 9.0 Community</a:t>
            </a:r>
            <a:endParaRPr lang="en-US" sz="1400" dirty="0"/>
          </a:p>
        </p:txBody>
      </p:sp>
      <p:sp>
        <p:nvSpPr>
          <p:cNvPr id="5" name="label-map"/>
          <p:cNvSpPr txBox="1"/>
          <p:nvPr/>
        </p:nvSpPr>
        <p:spPr>
          <a:xfrm>
            <a:off x="822960" y="4800600"/>
            <a:ext cx="7589520" cy="1051560"/>
          </a:xfrm>
          <a:prstGeom prst="rect">
            <a:avLst/>
          </a:prstGeom>
          <a:noFill/>
          <a:ln/>
        </p:spPr>
        <p:txBody>
          <a:bodyPr wrap="square" lIns="0" tIns="0" rIns="0" bIns="0" rtlCol="0" anchor="t"/>
          <a:lstStyle/>
          <a:p>
            <a:pPr algn="l" indent="0" marL="0">
              <a:buNone/>
            </a:pPr>
            <a:r>
              <a:rPr lang="en-US" sz="1500" dirty="0">
                <a:solidFill>
                  <a:srgbClr val="C9CFCD"/>
                </a:solidFill>
              </a:rPr>
              <a:t>By the end you will be able to:   1 · model and index the state of an agent workflow as documents the agent can read in one go   2 · decide what the agent remembers: what reacts to change, what expires, and what it must be able to explain</a:t>
            </a:r>
            <a:endParaRPr lang="en-US" sz="1400" dirty="0"/>
          </a:p>
        </p:txBody>
      </p:sp>
      <p:pic>
        <p:nvPicPr>
          <p:cNvPr id="6" name="drawio-s01-motif" descr="image.png"/>
          <p:cNvPicPr>
            <a:picLocks noChangeAspect="1"/>
          </p:cNvPicPr>
          <p:nvPr/>
        </p:nvPicPr>
        <p:blipFill>
          <a:blip r:embed="rId3"/>
          <a:stretch>
            <a:fillRect/>
          </a:stretch>
        </p:blipFill>
        <p:spPr>
          <a:xfrm>
            <a:off x="8503920" y="5120640"/>
            <a:ext cx="3017520" cy="11364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After this session you will be able to</a:t>
            </a:r>
            <a:endParaRPr lang="en-US" sz="3200" dirty="0"/>
          </a:p>
        </p:txBody>
      </p:sp>
      <p:sp>
        <p:nvSpPr>
          <p:cNvPr id="4" name="label-9"/>
          <p:cNvSpPr txBox="1"/>
          <p:nvPr/>
        </p:nvSpPr>
        <p:spPr>
          <a:xfrm>
            <a:off x="822960" y="4919472"/>
            <a:ext cx="7680960" cy="365760"/>
          </a:xfrm>
          <a:prstGeom prst="rect">
            <a:avLst/>
          </a:prstGeom>
          <a:noFill/>
          <a:ln/>
        </p:spPr>
        <p:txBody>
          <a:bodyPr wrap="square" lIns="0" tIns="0" rIns="0" bIns="0" rtlCol="0" anchor="t"/>
          <a:lstStyle/>
          <a:p>
            <a:pPr algn="l" indent="0" marL="0">
              <a:buNone/>
            </a:pPr>
            <a:r>
              <a:rPr lang="en-US" sz="1600" b="1" dirty="0">
                <a:solidFill>
                  <a:srgbClr val="1A1A1A"/>
                </a:solidFill>
              </a:rPr>
              <a:t>Eoin Jordan</a:t>
            </a:r>
            <a:endParaRPr lang="en-US" sz="2800" dirty="0"/>
          </a:p>
        </p:txBody>
      </p:sp>
      <p:sp>
        <p:nvSpPr>
          <p:cNvPr id="5" name="label-10"/>
          <p:cNvSpPr txBox="1"/>
          <p:nvPr/>
        </p:nvSpPr>
        <p:spPr>
          <a:xfrm>
            <a:off x="822960" y="5212080"/>
            <a:ext cx="7680960" cy="274320"/>
          </a:xfrm>
          <a:prstGeom prst="rect">
            <a:avLst/>
          </a:prstGeom>
          <a:noFill/>
          <a:ln/>
        </p:spPr>
        <p:txBody>
          <a:bodyPr wrap="square" lIns="0" tIns="0" rIns="0" bIns="0" rtlCol="0" anchor="t"/>
          <a:lstStyle/>
          <a:p>
            <a:pPr algn="l" indent="0" marL="0">
              <a:buNone/>
            </a:pPr>
            <a:r>
              <a:rPr lang="en-US" sz="1100" dirty="0">
                <a:solidFill>
                  <a:srgbClr val="5C6670"/>
                </a:solidFill>
              </a:rPr>
              <a:t>Senior Developer Relations Engineer, Edge Impulse / Qualcomm · eight years at IBM Galway before that · PhD, Insight Centre, University of Galway</a:t>
            </a:r>
            <a:endParaRPr lang="en-US" sz="1600" dirty="0"/>
          </a:p>
        </p:txBody>
      </p:sp>
      <p:sp>
        <p:nvSpPr>
          <p:cNvPr id="18" name="box-23"/>
          <p:cNvSpPr txBox="1"/>
          <p:nvPr/>
        </p:nvSpPr>
        <p:spPr>
          <a:xfrm>
            <a:off x="8412480" y="1554480"/>
            <a:ext cx="3200400" cy="4343400"/>
          </a:xfrm>
          <a:prstGeom prst="roundRect">
            <a:avLst>
              <a:gd name="adj" fmla="val 228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pic>
        <p:nvPicPr>
          <p:cNvPr id="19" name="qr-24" descr="preencoded.png">    </p:cNvPr>
          <p:cNvPicPr>
            <a:picLocks noChangeAspect="1"/>
          </p:cNvPicPr>
          <p:nvPr/>
        </p:nvPicPr>
        <p:blipFill>
          <a:blip r:embed="rId1"/>
          <a:stretch>
            <a:fillRect/>
          </a:stretch>
        </p:blipFill>
        <p:spPr>
          <a:xfrm>
            <a:off x="9235440" y="1463040"/>
            <a:ext cx="1645920" cy="1645920"/>
          </a:xfrm>
          <a:prstGeom prst="rect">
            <a:avLst/>
          </a:prstGeom>
        </p:spPr>
      </p:pic>
      <p:sp>
        <p:nvSpPr>
          <p:cNvPr id="20" name="label-25"/>
          <p:cNvSpPr txBox="1"/>
          <p:nvPr/>
        </p:nvSpPr>
        <p:spPr>
          <a:xfrm>
            <a:off x="8778240" y="3200400"/>
            <a:ext cx="2834640" cy="365760"/>
          </a:xfrm>
          <a:prstGeom prst="rect">
            <a:avLst/>
          </a:prstGeom>
          <a:noFill/>
          <a:ln/>
        </p:spPr>
        <p:txBody>
          <a:bodyPr wrap="square" lIns="0" tIns="0" rIns="0" bIns="0" rtlCol="0" anchor="t"/>
          <a:lstStyle/>
          <a:p>
            <a:pPr algn="ctr" indent="0" marL="0">
              <a:buNone/>
            </a:pPr>
            <a:r>
              <a:rPr lang="en-US" sz="1400" b="1" dirty="0">
                <a:solidFill>
                  <a:schemeClr val="tx1"/>
                </a:solidFill>
              </a:rPr>
              <a:t>Follow the database side live</a:t>
            </a:r>
            <a:endParaRPr lang="en-US" sz="1400" dirty="0"/>
          </a:p>
        </p:txBody>
      </p:sp>
      <p:sp>
        <p:nvSpPr>
          <p:cNvPr id="21" name="label-26"/>
          <p:cNvSpPr txBox="1"/>
          <p:nvPr/>
        </p:nvSpPr>
        <p:spPr>
          <a:xfrm>
            <a:off x="8778240" y="3566160"/>
            <a:ext cx="2834640" cy="822960"/>
          </a:xfrm>
          <a:prstGeom prst="rect">
            <a:avLst/>
          </a:prstGeom>
          <a:noFill/>
          <a:ln/>
        </p:spPr>
        <p:txBody>
          <a:bodyPr wrap="square" lIns="0" tIns="0" rIns="0" bIns="0" rtlCol="0" anchor="t"/>
          <a:lstStyle/>
          <a:p>
            <a:pPr algn="ctr" indent="0" marL="0">
              <a:buNone/>
            </a:pPr>
            <a:r>
              <a:rPr lang="en-US" sz="1200" dirty="0">
                <a:solidFill>
                  <a:schemeClr val="tx2"/>
                </a:solidFill>
              </a:rPr>
              <a:t>MongoDBSimCity: walk through a MongoDB 9.0 server in your browser while we talk</a:t>
            </a:r>
            <a:endParaRPr lang="en-US" sz="1200" dirty="0"/>
          </a:p>
        </p:txBody>
      </p:sp>
      <p:sp>
        <p:nvSpPr>
          <p:cNvPr id="22" name="label-27"/>
          <p:cNvSpPr txBox="1"/>
          <p:nvPr/>
        </p:nvSpPr>
        <p:spPr>
          <a:xfrm>
            <a:off x="8778240" y="4434840"/>
            <a:ext cx="2834640" cy="457200"/>
          </a:xfrm>
          <a:prstGeom prst="rect">
            <a:avLst/>
          </a:prstGeom>
          <a:noFill/>
          <a:ln/>
        </p:spPr>
        <p:txBody>
          <a:bodyPr wrap="square" lIns="0" tIns="0" rIns="0" bIns="0" rtlCol="0" anchor="t"/>
          <a:lstStyle/>
          <a:p>
            <a:pPr algn="ctr" indent="0" marL="0">
              <a:buNone/>
            </a:pPr>
            <a:r>
              <a:rPr lang="en-US" sz="1100" dirty="0">
                <a:solidFill>
                  <a:schemeClr val="accent1"/>
                </a:solidFill>
              </a:rPr>
              <a:t>eoinjordan.github.io/MongoDBSimCity</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
        <p:nvSpPr>
          <p:cNvPr id="17" name="label-badges"/>
          <p:cNvSpPr txBox="1"/>
          <p:nvPr/>
        </p:nvSpPr>
        <p:spPr>
          <a:xfrm>
            <a:off x="822960" y="5504688"/>
            <a:ext cx="7680960" cy="960120"/>
          </a:xfrm>
          <a:prstGeom prst="rect">
            <a:avLst/>
          </a:prstGeom>
          <a:noFill/>
          <a:ln/>
        </p:spPr>
        <p:txBody>
          <a:bodyPr wrap="square" lIns="0" tIns="0" rIns="0" bIns="0" rtlCol="0" anchor="t"/>
          <a:lstStyle/>
          <a:p>
            <a:pPr algn="l" indent="0" marL="0">
              <a:spcAft>
                <a:spcPts val="300"/>
              </a:spcAft>
              <a:buNone/>
            </a:pPr>
            <a:r>
              <a:rPr sz="1100" b="1">
                <a:solidFill>
                  <a:srgbClr val="5C6670"/>
                </a:solidFill>
              </a:rPr>
              <a:t>Full disclosure. </a:t>
            </a:r>
            <a:r>
              <a:rPr sz="1100" b="0">
                <a:solidFill>
                  <a:srgbClr val="5C6670"/>
                </a:solidFill>
              </a:rPr>
              <a:t>Known for years: agents and tools, MCP servers, edge ML on Qualcomm silicon, distributed systems. New in the last three weeks: mongosh, PyMongo, time series and TTL, change streams in anger, the LangGraph checkpointer. The two MongoDB skill badges are from this month.</a:t>
            </a:r>
            <a:endParaRPr lang="en-US" sz="1300" dirty="0"/>
          </a:p>
          <a:p>
            <a:pPr>
              <a:spcAft>
                <a:spcPts val="300"/>
              </a:spcAft>
            </a:pPr>
            <a:r>
              <a:rPr sz="1100" b="1">
                <a:solidFill>
                  <a:srgbClr val="5C6670"/>
                </a:solidFill>
              </a:rPr>
              <a:t>Why this talk: </a:t>
            </a:r>
            <a:r>
              <a:rPr sz="1100" b="0">
                <a:solidFill>
                  <a:srgbClr val="5C6670"/>
                </a:solidFill>
              </a:rPr>
              <a:t>a teaching exercise built on one real problem, to show MongoDB doing the job of an agent's memory with features you already run. One board, not a fleet; where that matters I say so.</a:t>
            </a:r>
          </a:p>
        </p:txBody>
      </p:sp>
      <p:sp>
        <p:nvSpPr>
          <p:cNvPr id="4" name="obj-num-1"/>
          <p:cNvSpPr txBox="1"/>
          <p:nvPr/>
        </p:nvSpPr>
        <p:spPr>
          <a:xfrm>
            <a:off x="822960" y="146304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6" name="obj-head-1"/>
          <p:cNvSpPr txBox="1"/>
          <p:nvPr/>
        </p:nvSpPr>
        <p:spPr>
          <a:xfrm>
            <a:off x="1600200" y="1417320"/>
            <a:ext cx="7315200" cy="502920"/>
          </a:xfrm>
          <a:prstGeom prst="rect">
            <a:avLst/>
          </a:prstGeom>
          <a:noFill/>
        </p:spPr>
        <p:txBody>
          <a:bodyPr wrap="square">
            <a:spAutoFit/>
          </a:bodyPr>
          <a:lstStyle/>
          <a:p>
            <a:r>
              <a:rPr sz="2200" b="1" i="0">
                <a:solidFill>
                  <a:srgbClr val="1A1A1A"/>
                </a:solidFill>
              </a:rPr>
              <a:t>Model and index the state of a workflow</a:t>
            </a:r>
          </a:p>
        </p:txBody>
      </p:sp>
      <p:sp>
        <p:nvSpPr>
          <p:cNvPr id="27" name="obj-desc-1"/>
          <p:cNvSpPr txBox="1"/>
          <p:nvPr/>
        </p:nvSpPr>
        <p:spPr>
          <a:xfrm>
            <a:off x="1600200" y="1965960"/>
            <a:ext cx="6949440" cy="548640"/>
          </a:xfrm>
          <a:prstGeom prst="rect">
            <a:avLst/>
          </a:prstGeom>
          <a:noFill/>
        </p:spPr>
        <p:txBody>
          <a:bodyPr wrap="square">
            <a:spAutoFit/>
          </a:bodyPr>
          <a:lstStyle/>
          <a:p>
            <a:r>
              <a:rPr sz="1600" b="0" i="0">
                <a:solidFill>
                  <a:srgbClr val="5C6670"/>
                </a:solidFill>
              </a:rPr>
              <a:t>as documents the agent can read in one go, with the index each question needs</a:t>
            </a:r>
          </a:p>
        </p:txBody>
      </p:sp>
      <p:sp>
        <p:nvSpPr>
          <p:cNvPr id="4" name="obj-num-2"/>
          <p:cNvSpPr txBox="1"/>
          <p:nvPr/>
        </p:nvSpPr>
        <p:spPr>
          <a:xfrm>
            <a:off x="822960" y="278892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8" name="obj-head-2"/>
          <p:cNvSpPr txBox="1"/>
          <p:nvPr/>
        </p:nvSpPr>
        <p:spPr>
          <a:xfrm>
            <a:off x="1600200" y="2743200"/>
            <a:ext cx="7315200" cy="502920"/>
          </a:xfrm>
          <a:prstGeom prst="rect">
            <a:avLst/>
          </a:prstGeom>
          <a:noFill/>
        </p:spPr>
        <p:txBody>
          <a:bodyPr wrap="square">
            <a:spAutoFit/>
          </a:bodyPr>
          <a:lstStyle/>
          <a:p>
            <a:r>
              <a:rPr sz="2200" b="1" i="0">
                <a:solidFill>
                  <a:srgbClr val="1A1A1A"/>
                </a:solidFill>
              </a:rPr>
              <a:t>Decide what the agent remembers</a:t>
            </a:r>
          </a:p>
        </p:txBody>
      </p:sp>
      <p:sp>
        <p:nvSpPr>
          <p:cNvPr id="29" name="obj-desc-2"/>
          <p:cNvSpPr txBox="1"/>
          <p:nvPr/>
        </p:nvSpPr>
        <p:spPr>
          <a:xfrm>
            <a:off x="1600200" y="3291840"/>
            <a:ext cx="6949440" cy="548640"/>
          </a:xfrm>
          <a:prstGeom prst="rect">
            <a:avLst/>
          </a:prstGeom>
          <a:noFill/>
        </p:spPr>
        <p:txBody>
          <a:bodyPr wrap="square">
            <a:spAutoFit/>
          </a:bodyPr>
          <a:lstStyle/>
          <a:p>
            <a:r>
              <a:rPr sz="1600" b="0" i="0">
                <a:solidFill>
                  <a:srgbClr val="5C6670"/>
                </a:solidFill>
              </a:rPr>
              <a:t>what reacts to change, what expires, and what it must be able to explain</a:t>
            </a:r>
          </a:p>
        </p:txBody>
      </p:sp>
      <p:sp>
        <p:nvSpPr>
          <p:cNvPr id="30" name="label-audience"/>
          <p:cNvSpPr txBox="1"/>
          <p:nvPr/>
        </p:nvSpPr>
        <p:spPr>
          <a:xfrm>
            <a:off x="822960" y="4160520"/>
            <a:ext cx="7726679" cy="731520"/>
          </a:xfrm>
          <a:prstGeom prst="rect">
            <a:avLst/>
          </a:prstGeom>
          <a:noFill/>
        </p:spPr>
        <p:txBody>
          <a:bodyPr wrap="square">
            <a:spAutoFit/>
          </a:bodyPr>
          <a:lstStyle/>
          <a:p>
            <a:r>
              <a:rPr sz="1600" b="0" i="1">
                <a:solidFill>
                  <a:srgbClr val="00684A"/>
                </a:solidFill>
              </a:rPr>
              <a:t>For experienced engineers who know documents, indexes and change streams, and have not yet built an agent that has to survive a restart.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Before we start: three questions for you</a:t>
            </a:r>
            <a:endParaRPr lang="en-US" sz="3200" dirty="0"/>
          </a:p>
        </p:txBody>
      </p:sp>
      <p:sp>
        <p:nvSpPr>
          <p:cNvPr id="4" name="num-28"/>
          <p:cNvSpPr txBox="1"/>
          <p:nvPr/>
        </p:nvSpPr>
        <p:spPr>
          <a:xfrm>
            <a:off x="640080" y="1508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29"/>
          <p:cNvSpPr txBox="1"/>
          <p:nvPr/>
        </p:nvSpPr>
        <p:spPr>
          <a:xfrm>
            <a:off x="1325880" y="146304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Are you running an agent in production?</a:t>
            </a:r>
            <a:endParaRPr lang="en-US" sz="1900" dirty="0"/>
          </a:p>
        </p:txBody>
      </p:sp>
      <p:sp>
        <p:nvSpPr>
          <p:cNvPr id="6" name="box-30"/>
          <p:cNvSpPr txBox="1"/>
          <p:nvPr/>
        </p:nvSpPr>
        <p:spPr>
          <a:xfrm>
            <a:off x="132588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Yes</a:t>
            </a:r>
            <a:endParaRPr lang="en-US" sz="1200" dirty="0"/>
          </a:p>
        </p:txBody>
      </p:sp>
      <p:sp>
        <p:nvSpPr>
          <p:cNvPr id="7" name="box-31"/>
          <p:cNvSpPr txBox="1"/>
          <p:nvPr/>
        </p:nvSpPr>
        <p:spPr>
          <a:xfrm>
            <a:off x="306324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Piloting</a:t>
            </a:r>
            <a:endParaRPr lang="en-US" sz="1200" dirty="0"/>
          </a:p>
        </p:txBody>
      </p:sp>
      <p:sp>
        <p:nvSpPr>
          <p:cNvPr id="8" name="box-32"/>
          <p:cNvSpPr txBox="1"/>
          <p:nvPr/>
        </p:nvSpPr>
        <p:spPr>
          <a:xfrm>
            <a:off x="480060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Not yet</a:t>
            </a:r>
            <a:endParaRPr lang="en-US" sz="1200" dirty="0"/>
          </a:p>
        </p:txBody>
      </p:sp>
      <p:sp>
        <p:nvSpPr>
          <p:cNvPr id="9" name="num-33"/>
          <p:cNvSpPr txBox="1"/>
          <p:nvPr/>
        </p:nvSpPr>
        <p:spPr>
          <a:xfrm>
            <a:off x="640080" y="29718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label-34"/>
          <p:cNvSpPr txBox="1"/>
          <p:nvPr/>
        </p:nvSpPr>
        <p:spPr>
          <a:xfrm>
            <a:off x="1325880" y="292608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Where does your agent's state live today?</a:t>
            </a:r>
            <a:endParaRPr lang="en-US" sz="1900" dirty="0"/>
          </a:p>
        </p:txBody>
      </p:sp>
      <p:sp>
        <p:nvSpPr>
          <p:cNvPr id="11" name="box-35"/>
          <p:cNvSpPr txBox="1"/>
          <p:nvPr/>
        </p:nvSpPr>
        <p:spPr>
          <a:xfrm>
            <a:off x="132588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In the prompt</a:t>
            </a:r>
            <a:endParaRPr lang="en-US" sz="1200" dirty="0"/>
          </a:p>
        </p:txBody>
      </p:sp>
      <p:sp>
        <p:nvSpPr>
          <p:cNvPr id="12" name="box-36"/>
          <p:cNvSpPr txBox="1"/>
          <p:nvPr/>
        </p:nvSpPr>
        <p:spPr>
          <a:xfrm>
            <a:off x="306324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Files or cache</a:t>
            </a:r>
            <a:endParaRPr lang="en-US" sz="1200" dirty="0"/>
          </a:p>
        </p:txBody>
      </p:sp>
      <p:sp>
        <p:nvSpPr>
          <p:cNvPr id="13" name="box-37"/>
          <p:cNvSpPr txBox="1"/>
          <p:nvPr/>
        </p:nvSpPr>
        <p:spPr>
          <a:xfrm>
            <a:off x="480060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A database</a:t>
            </a:r>
            <a:endParaRPr lang="en-US" sz="1200" dirty="0"/>
          </a:p>
        </p:txBody>
      </p:sp>
      <p:sp>
        <p:nvSpPr>
          <p:cNvPr id="14" name="box-38"/>
          <p:cNvSpPr txBox="1"/>
          <p:nvPr/>
        </p:nvSpPr>
        <p:spPr>
          <a:xfrm>
            <a:off x="653796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Nowhere, honestly</a:t>
            </a:r>
            <a:endParaRPr lang="en-US" sz="1200" dirty="0"/>
          </a:p>
        </p:txBody>
      </p:sp>
      <p:sp>
        <p:nvSpPr>
          <p:cNvPr id="15" name="num-39"/>
          <p:cNvSpPr txBox="1"/>
          <p:nvPr/>
        </p:nvSpPr>
        <p:spPr>
          <a:xfrm>
            <a:off x="640080" y="44348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label-40"/>
          <p:cNvSpPr txBox="1"/>
          <p:nvPr/>
        </p:nvSpPr>
        <p:spPr>
          <a:xfrm>
            <a:off x="1325880" y="438912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What has hurt most?</a:t>
            </a:r>
            <a:endParaRPr lang="en-US" sz="1900" dirty="0"/>
          </a:p>
        </p:txBody>
      </p:sp>
      <p:sp>
        <p:nvSpPr>
          <p:cNvPr id="17" name="box-41"/>
          <p:cNvSpPr txBox="1"/>
          <p:nvPr/>
        </p:nvSpPr>
        <p:spPr>
          <a:xfrm>
            <a:off x="132588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Lost IDs / orphaned jobs</a:t>
            </a:r>
            <a:endParaRPr lang="en-US" sz="1200" dirty="0"/>
          </a:p>
        </p:txBody>
      </p:sp>
      <p:sp>
        <p:nvSpPr>
          <p:cNvPr id="18" name="box-42"/>
          <p:cNvSpPr txBox="1"/>
          <p:nvPr/>
        </p:nvSpPr>
        <p:spPr>
          <a:xfrm>
            <a:off x="306324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Polling and latency</a:t>
            </a:r>
            <a:endParaRPr lang="en-US" sz="1200" dirty="0"/>
          </a:p>
        </p:txBody>
      </p:sp>
      <p:sp>
        <p:nvSpPr>
          <p:cNvPr id="19" name="box-43"/>
          <p:cNvSpPr txBox="1"/>
          <p:nvPr/>
        </p:nvSpPr>
        <p:spPr>
          <a:xfrm>
            <a:off x="480060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Token cost</a:t>
            </a:r>
            <a:endParaRPr lang="en-US" sz="1200" dirty="0"/>
          </a:p>
        </p:txBody>
      </p:sp>
      <p:sp>
        <p:nvSpPr>
          <p:cNvPr id="20" name="box-44"/>
          <p:cNvSpPr txBox="1"/>
          <p:nvPr/>
        </p:nvSpPr>
        <p:spPr>
          <a:xfrm>
            <a:off x="653796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Nobody can explain what it did</a:t>
            </a:r>
            <a:endParaRPr lang="en-US" sz="1200" dirty="0"/>
          </a:p>
        </p:txBody>
      </p:sp>
      <p:sp>
        <p:nvSpPr>
          <p:cNvPr id="21" name="box-45"/>
          <p:cNvSpPr txBox="1"/>
          <p:nvPr/>
        </p:nvSpPr>
        <p:spPr>
          <a:xfrm>
            <a:off x="8412480" y="1463040"/>
            <a:ext cx="3200400" cy="4389120"/>
          </a:xfrm>
          <a:prstGeom prst="roundRect">
            <a:avLst>
              <a:gd name="adj" fmla="val 228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22" name="label-46"/>
          <p:cNvSpPr txBox="1"/>
          <p:nvPr/>
        </p:nvSpPr>
        <p:spPr>
          <a:xfrm>
            <a:off x="8686800" y="1783080"/>
            <a:ext cx="2651760" cy="457200"/>
          </a:xfrm>
          <a:prstGeom prst="rect">
            <a:avLst/>
          </a:prstGeom>
          <a:noFill/>
          <a:ln/>
        </p:spPr>
        <p:txBody>
          <a:bodyPr wrap="square" lIns="0" tIns="0" rIns="0" bIns="0" rtlCol="0" anchor="t"/>
          <a:lstStyle/>
          <a:p>
            <a:pPr algn="ctr" indent="0" marL="0">
              <a:buNone/>
            </a:pPr>
            <a:r>
              <a:rPr lang="en-US" sz="1800" b="1" dirty="0">
                <a:solidFill>
                  <a:schemeClr val="accent1"/>
                </a:solidFill>
              </a:rPr>
              <a:t>Zoom poll is open</a:t>
            </a:r>
            <a:endParaRPr lang="en-US" sz="1800" dirty="0"/>
          </a:p>
        </p:txBody>
      </p:sp>
      <p:sp>
        <p:nvSpPr>
          <p:cNvPr id="23" name="label-47"/>
          <p:cNvSpPr txBox="1"/>
          <p:nvPr/>
        </p:nvSpPr>
        <p:spPr>
          <a:xfrm>
            <a:off x="8686800" y="2331720"/>
            <a:ext cx="2651760" cy="1188720"/>
          </a:xfrm>
          <a:prstGeom prst="rect">
            <a:avLst/>
          </a:prstGeom>
          <a:noFill/>
          <a:ln/>
        </p:spPr>
        <p:txBody>
          <a:bodyPr wrap="square" lIns="0" tIns="0" rIns="0" bIns="0" rtlCol="0" anchor="t"/>
          <a:lstStyle/>
          <a:p>
            <a:pPr algn="ctr" indent="0" marL="0">
              <a:buNone/>
            </a:pPr>
            <a:r>
              <a:rPr lang="en-US" sz="1300" dirty="0">
                <a:solidFill>
                  <a:schemeClr val="tx1"/>
                </a:solidFill>
              </a:rPr>
              <a:t>Or type 1 / 2 / 3 with your answer in the chat, e.g. “2: prompt”.</a:t>
            </a:r>
            <a:endParaRPr lang="en-US" sz="1300" dirty="0"/>
          </a:p>
        </p:txBody>
      </p:sp>
      <p:sp>
        <p:nvSpPr>
          <p:cNvPr id="24" name="box-48"/>
          <p:cNvSpPr txBox="1"/>
          <p:nvPr/>
        </p:nvSpPr>
        <p:spPr>
          <a:xfrm>
            <a:off x="8686800" y="356616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2: prompt</a:t>
            </a:r>
            <a:endParaRPr lang="en-US" sz="1200" dirty="0"/>
          </a:p>
        </p:txBody>
      </p:sp>
      <p:sp>
        <p:nvSpPr>
          <p:cNvPr id="25" name="box-49"/>
          <p:cNvSpPr txBox="1"/>
          <p:nvPr/>
        </p:nvSpPr>
        <p:spPr>
          <a:xfrm>
            <a:off x="8686800" y="416052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3: polling</a:t>
            </a:r>
            <a:endParaRPr lang="en-US" sz="1200" dirty="0"/>
          </a:p>
        </p:txBody>
      </p:sp>
      <p:sp>
        <p:nvSpPr>
          <p:cNvPr id="26" name="label-50"/>
          <p:cNvSpPr txBox="1"/>
          <p:nvPr/>
        </p:nvSpPr>
        <p:spPr>
          <a:xfrm>
            <a:off x="8686800" y="4937760"/>
            <a:ext cx="2651760" cy="731520"/>
          </a:xfrm>
          <a:prstGeom prst="rect">
            <a:avLst/>
          </a:prstGeom>
          <a:noFill/>
          <a:ln/>
        </p:spPr>
        <p:txBody>
          <a:bodyPr wrap="square" lIns="0" tIns="0" rIns="0" bIns="0" rtlCol="0" anchor="t"/>
          <a:lstStyle/>
          <a:p>
            <a:pPr algn="ctr" indent="0" marL="0">
              <a:buNone/>
            </a:pPr>
            <a:r>
              <a:rPr lang="en-US" sz="1100" i="1" dirty="0">
                <a:solidFill>
                  <a:schemeClr val="accent1"/>
                </a:solidFill>
              </a:rPr>
              <a:t>We come back to your answers twice during the talk.</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I actually built</a:t>
            </a:r>
            <a:endParaRPr lang="en-US" sz="3200" dirty="0"/>
          </a:p>
        </p:txBody>
      </p:sp>
      <p:pic>
        <p:nvPicPr>
          <p:cNvPr id="4" name="qr-51"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52"/>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The write-up</a:t>
            </a:r>
            <a:endParaRPr lang="en-US" sz="900" dirty="0"/>
          </a:p>
        </p:txBody>
      </p:sp>
      <p:sp>
        <p:nvSpPr>
          <p:cNvPr id="6" name="label-53"/>
          <p:cNvSpPr txBox="1"/>
          <p:nvPr/>
        </p:nvSpPr>
        <p:spPr>
          <a:xfrm>
            <a:off x="640080" y="1325880"/>
            <a:ext cx="7315200" cy="457200"/>
          </a:xfrm>
          <a:prstGeom prst="rect">
            <a:avLst/>
          </a:prstGeom>
          <a:noFill/>
          <a:ln/>
        </p:spPr>
        <p:txBody>
          <a:bodyPr wrap="square" lIns="0" tIns="0" rIns="0" bIns="0" rtlCol="0" anchor="t"/>
          <a:lstStyle/>
          <a:p>
            <a:pPr algn="l" indent="0" marL="0">
              <a:buNone/>
            </a:pPr>
            <a:r>
              <a:rPr lang="en-US" sz="1800" dirty="0">
                <a:solidFill>
                  <a:schemeClr val="tx2"/>
                </a:solidFill>
              </a:rPr>
              <a:t>A natural-language control plane over Edge Impulse Studio</a:t>
            </a:r>
            <a:endParaRPr lang="en-US" sz="1800" dirty="0"/>
          </a:p>
        </p:txBody>
      </p:sp>
      <p:sp>
        <p:nvSpPr>
          <p:cNvPr id="25" name="label-72"/>
          <p:cNvSpPr txBox="1"/>
          <p:nvPr/>
        </p:nvSpPr>
        <p:spPr>
          <a:xfrm>
            <a:off x="5202864" y="3840480"/>
            <a:ext cx="6181415" cy="1005840"/>
          </a:xfrm>
          <a:prstGeom prst="rect">
            <a:avLst/>
          </a:prstGeom>
          <a:noFill/>
          <a:ln/>
        </p:spPr>
        <p:txBody>
          <a:bodyPr wrap="square" lIns="0" tIns="0" rIns="0" bIns="0" rtlCol="0" anchor="t"/>
          <a:lstStyle/>
          <a:p>
            <a:pPr algn="l" indent="0" marL="0">
              <a:buNone/>
            </a:pPr>
            <a:r>
              <a:rPr lang="en-US" sz="1500" i="1" dirty="0">
                <a:solidFill>
                  <a:schemeClr val="accent1"/>
                </a:solidFill>
              </a:rPr>
              <a:t>“Train this project, optimise for accuracy under constraints, and tell me what changed.”</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pic>
        <p:nvPicPr>
          <p:cNvPr id="26" name="blog-imgslot-69" descr="mcp-optimisation-before-after.png"/>
          <p:cNvPicPr>
            <a:picLocks noChangeAspect="1"/>
          </p:cNvPicPr>
          <p:nvPr/>
        </p:nvPicPr>
        <p:blipFill>
          <a:blip r:embed="rId4"/>
          <a:stretch>
            <a:fillRect/>
          </a:stretch>
        </p:blipFill>
        <p:spPr>
          <a:xfrm>
            <a:off x="640080" y="3611880"/>
            <a:ext cx="4059864" cy="2606040"/>
          </a:xfrm>
          <a:prstGeom prst="rect">
            <a:avLst/>
          </a:prstGeom>
        </p:spPr>
      </p:pic>
      <p:sp>
        <p:nvSpPr>
          <p:cNvPr id="528" name="label-shot"/>
          <p:cNvSpPr txBox="1"/>
          <p:nvPr/>
        </p:nvSpPr>
        <p:spPr>
          <a:xfrm>
            <a:off x="5202864" y="4983480"/>
            <a:ext cx="6181415" cy="1005840"/>
          </a:xfrm>
          <a:prstGeom prst="rect">
            <a:avLst/>
          </a:prstGeom>
          <a:noFill/>
          <a:ln/>
        </p:spPr>
        <p:txBody>
          <a:bodyPr wrap="square" lIns="0" tIns="0" rIns="0" bIns="0" rtlCol="0" anchor="t"/>
          <a:lstStyle/>
          <a:p>
            <a:pPr algn="l" indent="0" marL="0">
              <a:buNone/>
            </a:pPr>
            <a:r>
              <a:rPr lang="en-US" sz="1100" i="0" dirty="0">
                <a:solidFill>
                  <a:schemeClr val="tx2"/>
                </a:solidFill>
              </a:rPr>
              <a:t>What came back: the same project, retrained by the agent under those constraints, 99.6% to 100%, with a summary of what it changed. (Screenshot from the blog post.)</a:t>
            </a:r>
            <a:endParaRPr lang="en-US" sz="1500" dirty="0"/>
          </a:p>
        </p:txBody>
      </p:sp>
      <p:pic>
        <p:nvPicPr>
          <p:cNvPr id="529" name="anim-loop" descr="loop.gif"/>
          <p:cNvPicPr>
            <a:picLocks noChangeAspect="1"/>
          </p:cNvPicPr>
          <p:nvPr/>
        </p:nvPicPr>
        <p:blipFill>
          <a:blip r:embed="rId7"/>
          <a:stretch>
            <a:fillRect/>
          </a:stretch>
        </p:blipFill>
        <p:spPr>
          <a:xfrm>
            <a:off x="640080" y="1828800"/>
            <a:ext cx="8595360" cy="17129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How I stopped it bluffing</a:t>
            </a:r>
            <a:endParaRPr lang="en-US" sz="3200" dirty="0"/>
          </a:p>
        </p:txBody>
      </p:sp>
      <p:sp>
        <p:nvSpPr>
          <p:cNvPr id="4" name="num-73"/>
          <p:cNvSpPr txBox="1"/>
          <p:nvPr/>
        </p:nvSpPr>
        <p:spPr>
          <a:xfrm>
            <a:off x="64008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74"/>
          <p:cNvSpPr txBox="1"/>
          <p:nvPr/>
        </p:nvSpPr>
        <p:spPr>
          <a:xfrm>
            <a:off x="1325880" y="155448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Stub the whole API</a:t>
            </a:r>
            <a:endParaRPr lang="en-US" sz="2200" dirty="0"/>
          </a:p>
        </p:txBody>
      </p:sp>
      <p:sp>
        <p:nvSpPr>
          <p:cNvPr id="6" name="label-75"/>
          <p:cNvSpPr txBox="1"/>
          <p:nvPr/>
        </p:nvSpPr>
        <p:spPr>
          <a:xfrm>
            <a:off x="1325880" y="205740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mock first, real jobs later</a:t>
            </a:r>
            <a:endParaRPr lang="en-US" sz="1400" dirty="0"/>
          </a:p>
        </p:txBody>
      </p:sp>
      <p:sp>
        <p:nvSpPr>
          <p:cNvPr id="7" name="num-76"/>
          <p:cNvSpPr txBox="1"/>
          <p:nvPr/>
        </p:nvSpPr>
        <p:spPr>
          <a:xfrm>
            <a:off x="640080" y="30632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77"/>
          <p:cNvSpPr txBox="1"/>
          <p:nvPr/>
        </p:nvSpPr>
        <p:spPr>
          <a:xfrm>
            <a:off x="1325880" y="301752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Test every tool</a:t>
            </a:r>
            <a:endParaRPr lang="en-US" sz="2200" dirty="0"/>
          </a:p>
        </p:txBody>
      </p:sp>
      <p:sp>
        <p:nvSpPr>
          <p:cNvPr id="9" name="label-78"/>
          <p:cNvSpPr txBox="1"/>
          <p:nvPr/>
        </p:nvSpPr>
        <p:spPr>
          <a:xfrm>
            <a:off x="1325880" y="352044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happy · failure · missing params · edge cases</a:t>
            </a:r>
            <a:endParaRPr lang="en-US" sz="1400" dirty="0"/>
          </a:p>
        </p:txBody>
      </p:sp>
      <p:sp>
        <p:nvSpPr>
          <p:cNvPr id="10" name="num-79"/>
          <p:cNvSpPr txBox="1"/>
          <p:nvPr/>
        </p:nvSpPr>
        <p:spPr>
          <a:xfrm>
            <a:off x="640080" y="45262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80"/>
          <p:cNvSpPr txBox="1"/>
          <p:nvPr/>
        </p:nvSpPr>
        <p:spPr>
          <a:xfrm>
            <a:off x="1325880" y="448056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Add agent-friendly helpers</a:t>
            </a:r>
            <a:endParaRPr lang="en-US" sz="2200" dirty="0"/>
          </a:p>
        </p:txBody>
      </p:sp>
      <p:sp>
        <p:nvSpPr>
          <p:cNvPr id="12" name="label-81"/>
          <p:cNvSpPr txBox="1"/>
          <p:nvPr/>
        </p:nvSpPr>
        <p:spPr>
          <a:xfrm>
            <a:off x="1325880" y="498348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wait / status / retry · scoping · validation</a:t>
            </a:r>
            <a:endParaRPr lang="en-US" sz="1400" dirty="0"/>
          </a:p>
        </p:txBody>
      </p:sp>
      <p:sp>
        <p:nvSpPr>
          <p:cNvPr id="15" name="box-84"/>
          <p:cNvSpPr txBox="1"/>
          <p:nvPr/>
        </p:nvSpPr>
        <p:spPr>
          <a:xfrm>
            <a:off x="6675120" y="3931920"/>
            <a:ext cx="4937760" cy="1280160"/>
          </a:xfrm>
          <a:prstGeom prst="roundRect">
            <a:avLst>
              <a:gd name="adj" fmla="val 571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85"/>
          <p:cNvSpPr txBox="1"/>
          <p:nvPr/>
        </p:nvSpPr>
        <p:spPr>
          <a:xfrm>
            <a:off x="6903720" y="4114800"/>
            <a:ext cx="4480560" cy="914400"/>
          </a:xfrm>
          <a:prstGeom prst="rect">
            <a:avLst/>
          </a:prstGeom>
          <a:noFill/>
          <a:ln/>
        </p:spPr>
        <p:txBody>
          <a:bodyPr wrap="square" lIns="0" tIns="0" rIns="0" bIns="0" rtlCol="0" anchor="t"/>
          <a:lstStyle/>
          <a:p>
            <a:pPr algn="l" indent="0" marL="0">
              <a:buNone/>
            </a:pPr>
            <a:r>
              <a:rPr lang="en-US" sz="1500" b="1" dirty="0">
                <a:solidFill>
                  <a:schemeClr val="accent1"/>
                </a:solidFill>
              </a:rPr>
              <a:t>The key wasn't MCP. It was discipline so the agent couldn't bluff its way through.</a:t>
            </a:r>
            <a:endParaRPr lang="en-US" sz="1500" dirty="0"/>
          </a:p>
        </p:txBody>
      </p:sp>
      <p:sp>
        <p:nvSpPr>
          <p:cNvPr id="17" name="label-86"/>
          <p:cNvSpPr txBox="1"/>
          <p:nvPr/>
        </p:nvSpPr>
        <p:spPr>
          <a:xfrm>
            <a:off x="640080" y="5989320"/>
            <a:ext cx="5943600" cy="320040"/>
          </a:xfrm>
          <a:prstGeom prst="rect">
            <a:avLst/>
          </a:prstGeom>
          <a:noFill/>
          <a:ln/>
        </p:spPr>
        <p:txBody>
          <a:bodyPr wrap="square" lIns="0" tIns="0" rIns="0" bIns="0" rtlCol="0" anchor="t"/>
          <a:lstStyle/>
          <a:p>
            <a:pPr algn="l" indent="0" marL="0">
              <a:buNone/>
            </a:pPr>
            <a:r>
              <a:rPr lang="en-US" sz="1300" i="1" dirty="0">
                <a:solidFill>
                  <a:schemeClr val="accent1"/>
                </a:solidFill>
              </a:rPr>
              <a:t>Remember helper 3: it's the second half of this talk.</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pic>
        <p:nvPicPr>
          <p:cNvPr id="26" name="shot-blog-tests" descr="img08-crop.png"/>
          <p:cNvPicPr>
            <a:picLocks noChangeAspect="1"/>
          </p:cNvPicPr>
          <p:nvPr/>
        </p:nvPicPr>
        <p:blipFill>
          <a:blip r:embed="rId4"/>
          <a:stretch>
            <a:fillRect/>
          </a:stretch>
        </p:blipFill>
        <p:spPr>
          <a:xfrm>
            <a:off x="6675120" y="1463040"/>
            <a:ext cx="4937760" cy="1774660"/>
          </a:xfrm>
          <a:prstGeom prst="rect">
            <a:avLst/>
          </a:prstGeom>
        </p:spPr>
      </p:pic>
      <p:sp>
        <p:nvSpPr>
          <p:cNvPr id="527" name="label-shot"/>
          <p:cNvSpPr txBox="1"/>
          <p:nvPr/>
        </p:nvSpPr>
        <p:spPr>
          <a:xfrm>
            <a:off x="6675120" y="3347428"/>
            <a:ext cx="4937760" cy="457200"/>
          </a:xfrm>
          <a:prstGeom prst="rect">
            <a:avLst/>
          </a:prstGeom>
          <a:noFill/>
          <a:ln/>
        </p:spPr>
        <p:txBody>
          <a:bodyPr wrap="square" lIns="0" tIns="0" rIns="0" bIns="0" rtlCol="0" anchor="t"/>
          <a:lstStyle/>
          <a:p>
            <a:pPr algn="l" indent="0" marL="0">
              <a:buNone/>
            </a:pPr>
            <a:r>
              <a:rPr lang="en-US" sz="1300" i="1" dirty="0">
                <a:solidFill>
                  <a:schemeClr val="accent1"/>
                </a:solidFill>
              </a:rPr>
              <a:t>The per-tool test run from the blog post: happy path, failure path, missing params, edge cases.</a:t>
            </a:r>
            <a:endParaRPr lang="en-US" sz="1300" dirty="0"/>
          </a:p>
        </p:txBody>
      </p:sp>
      <p:sp>
        <p:nvSpPr>
          <p:cNvPr id="528" name="lead-5"/>
          <p:cNvSpPr txBox="1"/>
          <p:nvPr/>
        </p:nvSpPr>
        <p:spPr>
          <a:xfrm>
            <a:off x="640080" y="1216152"/>
            <a:ext cx="5669280" cy="292608"/>
          </a:xfrm>
          <a:prstGeom prst="rect">
            <a:avLst/>
          </a:prstGeom>
          <a:noFill/>
        </p:spPr>
        <p:txBody>
          <a:bodyPr wrap="square">
            <a:spAutoFit/>
          </a:bodyPr>
          <a:lstStyle/>
          <a:p>
            <a:r>
              <a:rPr sz="1400" b="0" i="0">
                <a:solidFill>
                  <a:srgbClr val="5C6670"/>
                </a:solidFill>
              </a:rPr>
              <a:t>Three moves, before any database was involved: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it started leaking state</a:t>
            </a:r>
            <a:endParaRPr lang="en-US" sz="3200" dirty="0"/>
          </a:p>
        </p:txBody>
      </p:sp>
      <p:sp>
        <p:nvSpPr>
          <p:cNvPr id="29" name="label-112"/>
          <p:cNvSpPr txBox="1"/>
          <p:nvPr/>
        </p:nvSpPr>
        <p:spPr>
          <a:xfrm>
            <a:off x="731520" y="1463040"/>
            <a:ext cx="3017520" cy="1371600"/>
          </a:xfrm>
          <a:prstGeom prst="rect">
            <a:avLst/>
          </a:prstGeom>
          <a:noFill/>
          <a:ln/>
        </p:spPr>
        <p:txBody>
          <a:bodyPr wrap="square" lIns="0" tIns="0" rIns="0" bIns="0" rtlCol="0" anchor="t"/>
          <a:lstStyle/>
          <a:p>
            <a:pPr algn="l" indent="0" marL="0">
              <a:spcAft>
                <a:spcPts val="400"/>
              </a:spcAft>
              <a:buNone/>
            </a:pPr>
            <a:r>
              <a:rPr lang="en-US" sz="1600" b="1" dirty="0">
                <a:solidFill>
                  <a:schemeClr val="tx2"/>
                </a:solidFill>
              </a:rPr>
              <a:t>IDs everywhere</a:t>
            </a:r>
            <a:endParaRPr lang="en-US" sz="1600" dirty="0"/>
          </a:p>
          <a:p>
            <a:pPr algn="l" indent="0" marL="0">
              <a:spcAft>
                <a:spcPts val="400"/>
              </a:spcAft>
              <a:buNone/>
            </a:pPr>
            <a:r>
              <a:rPr lang="en-US" sz="1600" b="1" dirty="0">
                <a:solidFill>
                  <a:schemeClr val="tx2"/>
                </a:solidFill>
              </a:rPr>
              <a:t>Job timing</a:t>
            </a:r>
            <a:endParaRPr lang="en-US" sz="1600" dirty="0"/>
          </a:p>
          <a:p>
            <a:pPr algn="l" indent="0" marL="0">
              <a:spcAft>
                <a:spcPts val="400"/>
              </a:spcAft>
              <a:buNone/>
            </a:pPr>
            <a:r>
              <a:rPr lang="en-US" sz="1600" b="1" dirty="0">
                <a:solidFill>
                  <a:schemeClr val="tx2"/>
                </a:solidFill>
              </a:rPr>
              <a:t>State management</a:t>
            </a:r>
            <a:endParaRPr lang="en-US" sz="1600" dirty="0"/>
          </a:p>
        </p:txBody>
      </p:sp>
      <p:sp>
        <p:nvSpPr>
          <p:cNvPr id="30" name="label-113"/>
          <p:cNvSpPr txBox="1"/>
          <p:nvPr/>
        </p:nvSpPr>
        <p:spPr>
          <a:xfrm>
            <a:off x="731520" y="5029200"/>
            <a:ext cx="3017520" cy="1188720"/>
          </a:xfrm>
          <a:prstGeom prst="rect">
            <a:avLst/>
          </a:prstGeom>
          <a:noFill/>
          <a:ln/>
        </p:spPr>
        <p:txBody>
          <a:bodyPr wrap="square" lIns="0" tIns="0" rIns="0" bIns="0" rtlCol="0" anchor="t"/>
          <a:lstStyle/>
          <a:p>
            <a:pPr algn="l" indent="0" marL="0">
              <a:buNone/>
            </a:pPr>
            <a:r>
              <a:rPr lang="en-US" sz="1800" b="1" dirty="0">
                <a:solidFill>
                  <a:schemeClr val="accent1"/>
                </a:solidFill>
              </a:rPr>
              <a:t>None of this is an LLM problem.</a:t>
            </a:r>
            <a:endParaRPr lang="en-US" sz="1800" dirty="0"/>
          </a:p>
          <a:p>
            <a:pPr algn="l" indent="0" marL="0">
              <a:buNone/>
            </a:pPr>
            <a:r>
              <a:rPr lang="en-US" sz="1800" b="1" dirty="0">
                <a:solidFill>
                  <a:schemeClr val="accent1"/>
                </a:solidFill>
              </a:rPr>
              <a:t>It is a state problem.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pic>
        <p:nvPicPr>
          <p:cNvPr id="31" name="drawio-s06-leak" descr="s06-leak.png"/>
          <p:cNvPicPr>
            <a:picLocks noChangeAspect="1"/>
          </p:cNvPicPr>
          <p:nvPr/>
        </p:nvPicPr>
        <p:blipFill>
          <a:blip r:embed="rId5"/>
          <a:stretch>
            <a:fillRect/>
          </a:stretch>
        </p:blipFill>
        <p:spPr>
          <a:xfrm>
            <a:off x="3840480" y="1920240"/>
            <a:ext cx="7863840" cy="2678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where"/>
          <p:cNvSpPr txBox="1"/>
          <p:nvPr/>
        </p:nvSpPr>
        <p:spPr>
          <a:xfrm>
            <a:off x="640080" y="1828800"/>
            <a:ext cx="10881360" cy="914400"/>
          </a:xfrm>
          <a:prstGeom prst="rect">
            <a:avLst/>
          </a:prstGeom>
          <a:noFill/>
        </p:spPr>
        <p:txBody>
          <a:bodyPr wrap="square">
            <a:spAutoFit/>
          </a:bodyPr>
          <a:lstStyle/>
          <a:p>
            <a:pPr algn="ctr">
              <a:lnSpc>
                <a:spcPct val="100000"/>
              </a:lnSpc>
            </a:pPr>
            <a:r>
              <a:rPr sz="4000" b="1">
                <a:solidFill>
                  <a:srgbClr val="001E2B"/>
                </a:solidFill>
              </a:rPr>
              <a:t>Where does this live?</a:t>
            </a:r>
          </a:p>
        </p:txBody>
      </p:sp>
      <p:pic>
        <p:nvPicPr>
          <p:cNvPr id="3" name="drawio-s07-where" descr="image.png"/>
          <p:cNvPicPr>
            <a:picLocks noChangeAspect="1"/>
          </p:cNvPicPr>
          <p:nvPr/>
        </p:nvPicPr>
        <p:blipFill>
          <a:blip r:embed="rId4"/>
          <a:stretch>
            <a:fillRect/>
          </a:stretch>
        </p:blipFill>
        <p:spPr>
          <a:xfrm>
            <a:off x="1295400" y="3108960"/>
            <a:ext cx="9601200" cy="7879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Today we fix that: two objectives</a:t>
            </a:r>
            <a:endParaRPr lang="en-US" sz="3200" dirty="0"/>
          </a:p>
        </p:txBody>
      </p:sp>
      <p:sp>
        <p:nvSpPr>
          <p:cNvPr id="4" name="num-114"/>
          <p:cNvSpPr txBox="1"/>
          <p:nvPr/>
        </p:nvSpPr>
        <p:spPr>
          <a:xfrm>
            <a:off x="822960" y="214884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115"/>
          <p:cNvSpPr txBox="1"/>
          <p:nvPr/>
        </p:nvSpPr>
        <p:spPr>
          <a:xfrm>
            <a:off x="1645920" y="205740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Model and index the state</a:t>
            </a:r>
            <a:endParaRPr lang="en-US" sz="2600" dirty="0"/>
          </a:p>
        </p:txBody>
      </p:sp>
      <p:sp>
        <p:nvSpPr>
          <p:cNvPr id="6" name="label-116"/>
          <p:cNvSpPr txBox="1"/>
          <p:nvPr/>
        </p:nvSpPr>
        <p:spPr>
          <a:xfrm>
            <a:off x="1645920" y="260604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of an agent workflow as documents the agent can read in one go, with the index each question needs</a:t>
            </a:r>
            <a:endParaRPr lang="en-US" sz="1600" dirty="0"/>
          </a:p>
        </p:txBody>
      </p:sp>
      <p:sp>
        <p:nvSpPr>
          <p:cNvPr id="7" name="num-117"/>
          <p:cNvSpPr txBox="1"/>
          <p:nvPr/>
        </p:nvSpPr>
        <p:spPr>
          <a:xfrm>
            <a:off x="822960" y="370332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118"/>
          <p:cNvSpPr txBox="1"/>
          <p:nvPr/>
        </p:nvSpPr>
        <p:spPr>
          <a:xfrm>
            <a:off x="1645920" y="361188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Decide what memory means</a:t>
            </a:r>
            <a:endParaRPr lang="en-US" sz="2600" dirty="0"/>
          </a:p>
        </p:txBody>
      </p:sp>
      <p:sp>
        <p:nvSpPr>
          <p:cNvPr id="9" name="label-119"/>
          <p:cNvSpPr txBox="1"/>
          <p:nvPr/>
        </p:nvSpPr>
        <p:spPr>
          <a:xfrm>
            <a:off x="1645920" y="416052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short-term versus long-term: what reacts to change, what expires, what must be explainable later</a:t>
            </a:r>
            <a:endParaRPr lang="en-US" sz="1600" dirty="0"/>
          </a:p>
        </p:txBody>
      </p:sp>
      <p:sp>
        <p:nvSpPr>
          <p:cNvPr id="13" name="label-123"/>
          <p:cNvSpPr txBox="1"/>
          <p:nvPr/>
        </p:nvSpPr>
        <p:spPr>
          <a:xfrm>
            <a:off x="822960" y="5760720"/>
            <a:ext cx="10515600" cy="365760"/>
          </a:xfrm>
          <a:prstGeom prst="rect">
            <a:avLst/>
          </a:prstGeom>
          <a:noFill/>
          <a:ln/>
        </p:spPr>
        <p:txBody>
          <a:bodyPr wrap="square" lIns="0" tIns="0" rIns="0" bIns="0" rtlCol="0" anchor="t"/>
          <a:lstStyle/>
          <a:p>
            <a:pPr algn="l" indent="0" marL="0">
              <a:buNone/>
            </a:pPr>
            <a:r>
              <a:rPr lang="en-US" sz="1500" i="1" dirty="0">
                <a:solidFill>
                  <a:schemeClr val="accent1"/>
                </a:solidFill>
              </a:rPr>
              <a:t>Each idea is applied to the same running example, a training run.</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
        <p:nvSpPr>
          <p:cNvPr id="26" name="label-bridge"/>
          <p:cNvSpPr txBox="1"/>
          <p:nvPr/>
        </p:nvSpPr>
        <p:spPr>
          <a:xfrm>
            <a:off x="822960" y="1280160"/>
            <a:ext cx="10515600" cy="457200"/>
          </a:xfrm>
          <a:prstGeom prst="rect">
            <a:avLst/>
          </a:prstGeom>
          <a:noFill/>
        </p:spPr>
        <p:txBody>
          <a:bodyPr wrap="square">
            <a:spAutoFit/>
          </a:bodyPr>
          <a:lstStyle/>
          <a:p>
            <a:r>
              <a:rPr sz="1600" b="0" i="0">
                <a:solidFill>
                  <a:srgbClr val="5C6670"/>
                </a:solidFill>
              </a:rPr>
              <a:t>You already know documents, indexes and change streams. New today: using them as an agent's memory.</a:t>
            </a:r>
          </a:p>
        </p:txBody>
      </p:sp>
      <p:sp>
        <p:nvSpPr>
          <p:cNvPr id="27" name="label-parts"/>
          <p:cNvSpPr txBox="1"/>
          <p:nvPr/>
        </p:nvSpPr>
        <p:spPr>
          <a:xfrm>
            <a:off x="1645920" y="4983480"/>
            <a:ext cx="9601200" cy="457200"/>
          </a:xfrm>
          <a:prstGeom prst="rect">
            <a:avLst/>
          </a:prstGeom>
          <a:noFill/>
        </p:spPr>
        <p:txBody>
          <a:bodyPr wrap="square">
            <a:spAutoFit/>
          </a:bodyPr>
          <a:lstStyle/>
          <a:p>
            <a:r>
              <a:rPr sz="1500" b="0" i="0">
                <a:solidFill>
                  <a:srgbClr val="5C6670"/>
                </a:solidFill>
              </a:rPr>
              <a:t>Three parts: the document and its indexes  ·  reacting to change  ·  what to keep, what to expire, what to explain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Start with the questions</a:t>
            </a:r>
            <a:endParaRPr lang="en-US" sz="3200" dirty="0"/>
          </a:p>
        </p:txBody>
      </p:sp>
      <p:sp>
        <p:nvSpPr>
          <p:cNvPr id="4" name="label-12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5" name="label-125"/>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What will the system ask when things go wrong?</a:t>
            </a:r>
            <a:endParaRPr lang="en-US" sz="1800" dirty="0"/>
          </a:p>
        </p:txBody>
      </p:sp>
      <p:sp>
        <p:nvSpPr>
          <p:cNvPr id="6" name="box-126"/>
          <p:cNvSpPr txBox="1"/>
          <p:nvPr/>
        </p:nvSpPr>
        <p:spPr>
          <a:xfrm>
            <a:off x="64008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runs are active for this project?</a:t>
            </a:r>
            <a:endParaRPr lang="en-US" sz="1700" dirty="0"/>
          </a:p>
        </p:txBody>
      </p:sp>
      <p:sp>
        <p:nvSpPr>
          <p:cNvPr id="7" name="box-127"/>
          <p:cNvSpPr txBox="1"/>
          <p:nvPr/>
        </p:nvSpPr>
        <p:spPr>
          <a:xfrm>
            <a:off x="438912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changed since the last good run?</a:t>
            </a:r>
            <a:endParaRPr lang="en-US" sz="1700" dirty="0"/>
          </a:p>
        </p:txBody>
      </p:sp>
      <p:sp>
        <p:nvSpPr>
          <p:cNvPr id="8" name="box-128"/>
          <p:cNvSpPr txBox="1"/>
          <p:nvPr/>
        </p:nvSpPr>
        <p:spPr>
          <a:xfrm>
            <a:off x="813816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jobs are still pending?</a:t>
            </a:r>
            <a:endParaRPr lang="en-US" sz="1700" dirty="0"/>
          </a:p>
        </p:txBody>
      </p:sp>
      <p:sp>
        <p:nvSpPr>
          <p:cNvPr id="9" name="box-129"/>
          <p:cNvSpPr txBox="1"/>
          <p:nvPr/>
        </p:nvSpPr>
        <p:spPr>
          <a:xfrm>
            <a:off x="251460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actions were approved by a human?</a:t>
            </a:r>
            <a:endParaRPr lang="en-US" sz="1700" dirty="0"/>
          </a:p>
        </p:txBody>
      </p:sp>
      <p:sp>
        <p:nvSpPr>
          <p:cNvPr id="10" name="box-130"/>
          <p:cNvSpPr txBox="1"/>
          <p:nvPr/>
        </p:nvSpPr>
        <p:spPr>
          <a:xfrm>
            <a:off x="626364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previous failure looks like this one?</a:t>
            </a:r>
            <a:endParaRPr lang="en-US" sz="1700" dirty="0"/>
          </a:p>
        </p:txBody>
      </p:sp>
      <p:sp>
        <p:nvSpPr>
          <p:cNvPr id="11" name="label-131"/>
          <p:cNvSpPr txBox="1"/>
          <p:nvPr/>
        </p:nvSpPr>
        <p:spPr>
          <a:xfrm>
            <a:off x="640080" y="5212080"/>
            <a:ext cx="10972800" cy="457200"/>
          </a:xfrm>
          <a:prstGeom prst="rect">
            <a:avLst/>
          </a:prstGeom>
          <a:noFill/>
          <a:ln/>
        </p:spPr>
        <p:txBody>
          <a:bodyPr wrap="square" lIns="0" tIns="0" rIns="0" bIns="0" rtlCol="0" anchor="t"/>
          <a:lstStyle/>
          <a:p>
            <a:pPr algn="l" indent="0" marL="0">
              <a:buNone/>
            </a:pPr>
            <a:r>
              <a:rPr lang="en-US" sz="1600" b="1" dirty="0">
                <a:solidFill>
                  <a:schemeClr val="accent1"/>
                </a:solidFill>
              </a:rPr>
              <a:t>Decide the questions first. The document's shape follows them.</a:t>
            </a:r>
            <a:endParaRPr lang="en-US" sz="1600" dirty="0"/>
          </a:p>
        </p:txBody>
      </p:sp>
      <p:sp>
        <p:nvSpPr>
          <p:cNvPr id="12" name="label-132"/>
          <p:cNvSpPr txBox="1"/>
          <p:nvPr/>
        </p:nvSpPr>
        <p:spPr>
          <a:xfrm>
            <a:off x="640080" y="5669280"/>
            <a:ext cx="10972800" cy="548640"/>
          </a:xfrm>
          <a:prstGeom prst="rect">
            <a:avLst/>
          </a:prstGeom>
          <a:noFill/>
          <a:ln/>
        </p:spPr>
        <p:txBody>
          <a:bodyPr wrap="square" lIns="0" tIns="0" rIns="0" bIns="0" rtlCol="0" anchor="t"/>
          <a:lstStyle/>
          <a:p>
            <a:pPr algn="l" indent="0" marL="0">
              <a:buNone/>
            </a:pPr>
            <a:r>
              <a:rPr lang="en-US" sz="1400" dirty="0">
                <a:solidFill>
                  <a:schemeClr val="tx2"/>
                </a:solidFill>
              </a:rPr>
              <a:t>Relationships, read patterns and write patterns decide what goes where.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Our first document</a:t>
            </a:r>
            <a:endParaRPr lang="en-US" sz="3200" dirty="0"/>
          </a:p>
        </p:txBody>
      </p:sp>
      <p:sp>
        <p:nvSpPr>
          <p:cNvPr id="4" name="label-13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pic>
        <p:nvPicPr>
          <p:cNvPr id="5" name="qr-13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135"/>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Data modelling docs</a:t>
            </a:r>
            <a:endParaRPr lang="en-US" sz="900" dirty="0"/>
          </a:p>
        </p:txBody>
      </p:sp>
      <p:sp>
        <p:nvSpPr>
          <p:cNvPr id="7" name="pill-136"/>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
        <p:nvSpPr>
          <p:cNvPr id="26" name="code-card"/>
          <p:cNvSpPr/>
          <p:nvPr/>
        </p:nvSpPr>
        <p:spPr>
          <a:xfrm>
            <a:off x="640080" y="1417320"/>
            <a:ext cx="6309360" cy="470916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de-run"/>
          <p:cNvSpPr txBox="1"/>
          <p:nvPr/>
        </p:nvSpPr>
        <p:spPr>
          <a:xfrm>
            <a:off x="777240" y="1508760"/>
            <a:ext cx="6035040" cy="457200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runId:      "run-1842",</a:t>
            </a:r>
          </a:p>
          <a:p>
            <a:pPr algn="l">
              <a:lnSpc>
                <a:spcPct val="100000"/>
              </a:lnSpc>
            </a:pPr>
            <a:r>
              <a:rPr sz="1250" b="0">
                <a:solidFill>
                  <a:srgbClr val="1A1A1A"/>
                </a:solidFill>
                <a:latin typeface="Consolas"/>
              </a:rPr>
              <a:t>  projectId:  "project-512482",</a:t>
            </a:r>
          </a:p>
          <a:p>
            <a:pPr algn="l">
              <a:lnSpc>
                <a:spcPct val="100000"/>
              </a:lnSpc>
            </a:pPr>
            <a:r>
              <a:rPr sz="1250" b="0">
                <a:solidFill>
                  <a:srgbClr val="1A1A1A"/>
                </a:solidFill>
                <a:latin typeface="Consolas"/>
              </a:rPr>
              <a:t>  orgId:      "org-71",</a:t>
            </a:r>
          </a:p>
          <a:p>
            <a:pPr algn="l">
              <a:lnSpc>
                <a:spcPct val="100000"/>
              </a:lnSpc>
            </a:pPr>
            <a:r>
              <a:rPr sz="1250" b="0">
                <a:solidFill>
                  <a:srgbClr val="1A1A1A"/>
                </a:solidFill>
                <a:latin typeface="Consolas"/>
              </a:rPr>
              <a:t>  objective:  { metric: "accuracy", target: 0.92 },</a:t>
            </a:r>
          </a:p>
          <a:p>
            <a:pPr algn="l">
              <a:lnSpc>
                <a:spcPct val="100000"/>
              </a:lnSpc>
            </a:pPr>
            <a:r>
              <a:rPr sz="1250" b="0">
                <a:solidFill>
                  <a:srgbClr val="1A1A1A"/>
                </a:solidFill>
                <a:latin typeface="Consolas"/>
              </a:rPr>
              <a:t>  status:     "training",</a:t>
            </a:r>
          </a:p>
          <a:p>
            <a:pPr algn="l">
              <a:lnSpc>
                <a:spcPct val="100000"/>
              </a:lnSpc>
            </a:pPr>
            <a:r>
              <a:rPr sz="1250" b="0">
                <a:solidFill>
                  <a:srgbClr val="1A1A1A"/>
                </a:solidFill>
                <a:latin typeface="Consolas"/>
              </a:rPr>
              <a:t>  configuration: { windowMs: 2000,</a:t>
            </a:r>
          </a:p>
          <a:p>
            <a:pPr algn="l">
              <a:lnSpc>
                <a:spcPct val="100000"/>
              </a:lnSpc>
            </a:pPr>
            <a:r>
              <a:rPr sz="1250" b="0">
                <a:solidFill>
                  <a:srgbClr val="1A1A1A"/>
                </a:solidFill>
                <a:latin typeface="Consolas"/>
              </a:rPr>
              <a:t>                   learningRate: 0.001 },</a:t>
            </a:r>
          </a:p>
          <a:p>
            <a:pPr algn="l">
              <a:lnSpc>
                <a:spcPct val="100000"/>
              </a:lnSpc>
            </a:pPr>
            <a:r>
              <a:rPr sz="1250" b="0">
                <a:solidFill>
                  <a:srgbClr val="1A1A1A"/>
                </a:solidFill>
                <a:latin typeface="Consolas"/>
              </a:rPr>
              <a:t>  jobs: [</a:t>
            </a:r>
          </a:p>
          <a:p>
            <a:pPr algn="l">
              <a:lnSpc>
                <a:spcPct val="100000"/>
              </a:lnSpc>
            </a:pPr>
            <a:r>
              <a:rPr sz="1250" b="0">
                <a:solidFill>
                  <a:srgbClr val="1A1A1A"/>
                </a:solidFill>
                <a:latin typeface="Consolas"/>
              </a:rPr>
              <a:t>    { jobId: "job-203", type: "training",</a:t>
            </a:r>
          </a:p>
          <a:p>
            <a:pPr algn="l">
              <a:lnSpc>
                <a:spcPct val="100000"/>
              </a:lnSpc>
            </a:pPr>
            <a:r>
              <a:rPr sz="1250" b="0">
                <a:solidFill>
                  <a:srgbClr val="1A1A1A"/>
                </a:solidFill>
                <a:latin typeface="Consolas"/>
              </a:rPr>
              <a:t>      status: "running", startedAt: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results:    { accuracy: 0.89, latencyMs: 14 },</a:t>
            </a:r>
          </a:p>
          <a:p>
            <a:pPr algn="l">
              <a:lnSpc>
                <a:spcPct val="100000"/>
              </a:lnSpc>
            </a:pPr>
            <a:r>
              <a:rPr sz="1250" b="0">
                <a:solidFill>
                  <a:srgbClr val="1A1A1A"/>
                </a:solidFill>
                <a:latin typeface="Consolas"/>
              </a:rPr>
              <a:t>  approvals: [</a:t>
            </a:r>
          </a:p>
          <a:p>
            <a:pPr algn="l">
              <a:lnSpc>
                <a:spcPct val="100000"/>
              </a:lnSpc>
            </a:pPr>
            <a:r>
              <a:rPr sz="1250" b="0">
                <a:solidFill>
                  <a:srgbClr val="1A1A1A"/>
                </a:solidFill>
                <a:latin typeface="Consolas"/>
              </a:rPr>
              <a:t>    { action: "train", by: "human", 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createdAt:  ..., updatedAt: ...</a:t>
            </a:r>
          </a:p>
          <a:p>
            <a:pPr algn="l">
              <a:lnSpc>
                <a:spcPct val="100000"/>
              </a:lnSpc>
            </a:pPr>
            <a:r>
              <a:rPr sz="1250" b="0">
                <a:solidFill>
                  <a:srgbClr val="1A1A1A"/>
                </a:solidFill>
                <a:latin typeface="Consolas"/>
              </a:rPr>
              <a:t>}</a:t>
            </a:r>
          </a:p>
        </p:txBody>
      </p:sp>
      <p:sp>
        <p:nvSpPr>
          <p:cNvPr id="28" name="hl-status"/>
          <p:cNvSpPr/>
          <p:nvPr/>
        </p:nvSpPr>
        <p:spPr>
          <a:xfrm>
            <a:off x="731520" y="2470249"/>
            <a:ext cx="2286000" cy="227045"/>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hl-jobs"/>
          <p:cNvSpPr/>
          <p:nvPr/>
        </p:nvSpPr>
        <p:spPr>
          <a:xfrm>
            <a:off x="731520" y="3041656"/>
            <a:ext cx="3931920" cy="607983"/>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label-139"/>
          <p:cNvSpPr txBox="1"/>
          <p:nvPr/>
        </p:nvSpPr>
        <p:spPr>
          <a:xfrm>
            <a:off x="7315200" y="1554480"/>
            <a:ext cx="4206240" cy="457200"/>
          </a:xfrm>
          <a:prstGeom prst="rect">
            <a:avLst/>
          </a:prstGeom>
          <a:noFill/>
        </p:spPr>
        <p:txBody>
          <a:bodyPr wrap="square">
            <a:spAutoFit/>
          </a:bodyPr>
          <a:lstStyle/>
          <a:p>
            <a:pPr algn="l">
              <a:lnSpc>
                <a:spcPct val="100000"/>
              </a:lnSpc>
            </a:pPr>
            <a:r>
              <a:rPr sz="2000" b="1">
                <a:solidFill>
                  <a:srgbClr val="00684A"/>
                </a:solidFill>
              </a:rPr>
              <a:t>What's wrong with it?</a:t>
            </a:r>
          </a:p>
        </p:txBody>
      </p:sp>
      <p:sp>
        <p:nvSpPr>
          <p:cNvPr id="31" name="label-140"/>
          <p:cNvSpPr txBox="1"/>
          <p:nvPr/>
        </p:nvSpPr>
        <p:spPr>
          <a:xfrm>
            <a:off x="7315200" y="2194560"/>
            <a:ext cx="4206240" cy="3108960"/>
          </a:xfrm>
          <a:prstGeom prst="rect">
            <a:avLst/>
          </a:prstGeom>
          <a:noFill/>
        </p:spPr>
        <p:txBody>
          <a:bodyPr wrap="square">
            <a:spAutoFit/>
          </a:bodyPr>
          <a:lstStyle/>
          <a:p>
            <a:pPr algn="l">
              <a:lnSpc>
                <a:spcPct val="160000"/>
              </a:lnSpc>
            </a:pPr>
            <a:r>
              <a:rPr sz="1500" b="0">
                <a:solidFill>
                  <a:srgbClr val="1A1A1A"/>
                </a:solidFill>
              </a:rPr>
              <a:t>What grows without bound?</a:t>
            </a:r>
          </a:p>
          <a:p>
            <a:pPr algn="l">
              <a:lnSpc>
                <a:spcPct val="160000"/>
              </a:lnSpc>
            </a:pPr>
            <a:r>
              <a:rPr sz="1500" b="0">
                <a:solidFill>
                  <a:srgbClr val="1A1A1A"/>
                </a:solidFill>
              </a:rPr>
              <a:t>What changes every few seconds?</a:t>
            </a:r>
          </a:p>
          <a:p>
            <a:pPr algn="l">
              <a:lnSpc>
                <a:spcPct val="160000"/>
              </a:lnSpc>
            </a:pPr>
            <a:r>
              <a:rPr sz="1500" b="0">
                <a:solidFill>
                  <a:srgbClr val="1A1A1A"/>
                </a:solidFill>
              </a:rPr>
              <a:t>What needs a history, not a field?</a:t>
            </a:r>
          </a:p>
          <a:p>
            <a:pPr algn="l">
              <a:lnSpc>
                <a:spcPct val="160000"/>
              </a:lnSpc>
            </a:pPr>
            <a:r>
              <a:rPr sz="1500" b="0">
                <a:solidFill>
                  <a:srgbClr val="1A1A1A"/>
                </a:solidFill>
              </a:rPr>
              <a:t>Which query must be fast?</a:t>
            </a:r>
          </a:p>
          <a:p>
            <a:pPr algn="l">
              <a:lnSpc>
                <a:spcPct val="160000"/>
              </a:lnSpc>
            </a:pPr>
            <a:r>
              <a:rPr sz="1500" b="0">
                <a:solidFill>
                  <a:srgbClr val="1A1A1A"/>
                </a:solidFill>
              </a:rPr>
              <a:t>What should not be in here at all?</a:t>
            </a:r>
          </a:p>
        </p:txBody>
      </p:sp>
      <p:sp>
        <p:nvSpPr>
          <p:cNvPr id="32" name="label-141"/>
          <p:cNvSpPr txBox="1"/>
          <p:nvPr/>
        </p:nvSpPr>
        <p:spPr>
          <a:xfrm>
            <a:off x="7315200" y="5486400"/>
            <a:ext cx="4206240" cy="457200"/>
          </a:xfrm>
          <a:prstGeom prst="rect">
            <a:avLst/>
          </a:prstGeom>
          <a:noFill/>
        </p:spPr>
        <p:txBody>
          <a:bodyPr wrap="square">
            <a:spAutoFit/>
          </a:bodyPr>
          <a:lstStyle/>
          <a:p>
            <a:pPr algn="l">
              <a:lnSpc>
                <a:spcPct val="100000"/>
              </a:lnSpc>
            </a:pPr>
            <a:r>
              <a:rPr sz="1300" b="0">
                <a:solidFill>
                  <a:srgbClr val="5C6670"/>
                </a:solidFill>
              </a:rPr>
              <a:t>A useful first model to challenge.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Embed, reference, or log?</a:t>
            </a:r>
            <a:endParaRPr lang="en-US" sz="3200" dirty="0"/>
          </a:p>
        </p:txBody>
      </p:sp>
      <p:sp>
        <p:nvSpPr>
          <p:cNvPr id="4" name="label-14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23" name="label-161"/>
          <p:cNvSpPr txBox="1"/>
          <p:nvPr/>
        </p:nvSpPr>
        <p:spPr>
          <a:xfrm>
            <a:off x="640080" y="571500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Decide by change, growth and access. The reasoning matters more than any rule of thumb.</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pic>
        <p:nvPicPr>
          <p:cNvPr id="26" name="drawio-s11-columns" descr="image.png"/>
          <p:cNvPicPr>
            <a:picLocks noChangeAspect="1"/>
          </p:cNvPicPr>
          <p:nvPr/>
        </p:nvPicPr>
        <p:blipFill>
          <a:blip r:embed="rId4"/>
          <a:stretch>
            <a:fillRect/>
          </a:stretch>
        </p:blipFill>
        <p:spPr>
          <a:xfrm>
            <a:off x="1249680" y="1371600"/>
            <a:ext cx="9692640" cy="33734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question creates the index</a:t>
            </a:r>
            <a:endParaRPr lang="en-US" sz="3200" dirty="0"/>
          </a:p>
        </p:txBody>
      </p:sp>
      <p:sp>
        <p:nvSpPr>
          <p:cNvPr id="4" name="label-16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13" name="box-171"/>
          <p:cNvSpPr txBox="1"/>
          <p:nvPr/>
        </p:nvSpPr>
        <p:spPr>
          <a:xfrm>
            <a:off x="640080" y="4937760"/>
            <a:ext cx="1645920" cy="822960"/>
          </a:xfrm>
          <a:prstGeom prst="roundRect">
            <a:avLst>
              <a:gd name="adj" fmla="val 8889"/>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4" name="label-172"/>
          <p:cNvSpPr txBox="1"/>
          <p:nvPr/>
        </p:nvSpPr>
        <p:spPr>
          <a:xfrm>
            <a:off x="7772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Reads</a:t>
            </a:r>
            <a:endParaRPr lang="en-US" sz="1200" dirty="0"/>
          </a:p>
        </p:txBody>
      </p:sp>
      <p:sp>
        <p:nvSpPr>
          <p:cNvPr id="15" name="label-173"/>
          <p:cNvSpPr txBox="1"/>
          <p:nvPr/>
        </p:nvSpPr>
        <p:spPr>
          <a:xfrm>
            <a:off x="777240" y="5285232"/>
            <a:ext cx="1371600" cy="411480"/>
          </a:xfrm>
          <a:prstGeom prst="rect">
            <a:avLst/>
          </a:prstGeom>
          <a:noFill/>
          <a:ln/>
        </p:spPr>
        <p:txBody>
          <a:bodyPr wrap="square" lIns="0" tIns="0" rIns="0" bIns="0" rtlCol="0" anchor="t"/>
          <a:lstStyle/>
          <a:p>
            <a:pPr algn="l" indent="0" marL="0">
              <a:buNone/>
            </a:pPr>
            <a:r>
              <a:rPr lang="en-US" sz="1800" b="1" dirty="0">
                <a:solidFill>
                  <a:schemeClr val="accent1"/>
                </a:solidFill>
              </a:rPr>
              <a:t>faster</a:t>
            </a:r>
            <a:endParaRPr lang="en-US" sz="1800" dirty="0"/>
          </a:p>
        </p:txBody>
      </p:sp>
      <p:sp>
        <p:nvSpPr>
          <p:cNvPr id="16" name="box-174"/>
          <p:cNvSpPr txBox="1"/>
          <p:nvPr/>
        </p:nvSpPr>
        <p:spPr>
          <a:xfrm>
            <a:off x="24688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7" name="label-175"/>
          <p:cNvSpPr txBox="1"/>
          <p:nvPr/>
        </p:nvSpPr>
        <p:spPr>
          <a:xfrm>
            <a:off x="26060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Writes</a:t>
            </a:r>
            <a:endParaRPr lang="en-US" sz="1200" dirty="0"/>
          </a:p>
        </p:txBody>
      </p:sp>
      <p:sp>
        <p:nvSpPr>
          <p:cNvPr id="18" name="label-176"/>
          <p:cNvSpPr txBox="1"/>
          <p:nvPr/>
        </p:nvSpPr>
        <p:spPr>
          <a:xfrm>
            <a:off x="26060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slower</a:t>
            </a:r>
            <a:endParaRPr lang="en-US" sz="1800" dirty="0"/>
          </a:p>
        </p:txBody>
      </p:sp>
      <p:sp>
        <p:nvSpPr>
          <p:cNvPr id="19" name="box-177"/>
          <p:cNvSpPr txBox="1"/>
          <p:nvPr/>
        </p:nvSpPr>
        <p:spPr>
          <a:xfrm>
            <a:off x="42976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0" name="label-178"/>
          <p:cNvSpPr txBox="1"/>
          <p:nvPr/>
        </p:nvSpPr>
        <p:spPr>
          <a:xfrm>
            <a:off x="44348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Storage</a:t>
            </a:r>
            <a:endParaRPr lang="en-US" sz="1200" dirty="0"/>
          </a:p>
        </p:txBody>
      </p:sp>
      <p:sp>
        <p:nvSpPr>
          <p:cNvPr id="21" name="label-179"/>
          <p:cNvSpPr txBox="1"/>
          <p:nvPr/>
        </p:nvSpPr>
        <p:spPr>
          <a:xfrm>
            <a:off x="44348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larger</a:t>
            </a:r>
            <a:endParaRPr lang="en-US" sz="1800" dirty="0"/>
          </a:p>
        </p:txBody>
      </p:sp>
      <p:sp>
        <p:nvSpPr>
          <p:cNvPr id="22" name="label-180"/>
          <p:cNvSpPr txBox="1"/>
          <p:nvPr/>
        </p:nvSpPr>
        <p:spPr>
          <a:xfrm>
            <a:off x="6309360" y="4983480"/>
            <a:ext cx="5394960" cy="822960"/>
          </a:xfrm>
          <a:prstGeom prst="rect">
            <a:avLst/>
          </a:prstGeom>
          <a:noFill/>
          <a:ln/>
        </p:spPr>
        <p:txBody>
          <a:bodyPr wrap="square" lIns="0" tIns="0" rIns="0" bIns="0" rtlCol="0" anchor="t"/>
          <a:lstStyle/>
          <a:p>
            <a:pPr algn="l" indent="0" marL="0">
              <a:buNone/>
            </a:pPr>
            <a:r>
              <a:rPr lang="en-US" sz="1400" i="1" dirty="0">
                <a:solidFill>
                  <a:schemeClr val="accent1"/>
                </a:solidFill>
              </a:rPr>
              <a:t>Equality, then sort, then range. An index is a prediction about how the system will be used. Build them for the questions you actually ask.</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pic>
        <p:nvPicPr>
          <p:cNvPr id="26" name="drawio-s12-index" descr="image.png"/>
          <p:cNvPicPr>
            <a:picLocks noChangeAspect="1"/>
          </p:cNvPicPr>
          <p:nvPr/>
        </p:nvPicPr>
        <p:blipFill>
          <a:blip r:embed="rId4"/>
          <a:stretch>
            <a:fillRect/>
          </a:stretch>
        </p:blipFill>
        <p:spPr>
          <a:xfrm>
            <a:off x="822960" y="1463040"/>
            <a:ext cx="8961120" cy="23108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the wait loop hurt</a:t>
            </a:r>
            <a:endParaRPr lang="en-US" sz="3200" dirty="0"/>
          </a:p>
        </p:txBody>
      </p:sp>
      <p:sp>
        <p:nvSpPr>
          <p:cNvPr id="4" name="label-181"/>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sp>
        <p:nvSpPr>
          <p:cNvPr id="5" name="label-182"/>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The “train + wait + summarise” skill, as actually implemented</a:t>
            </a:r>
            <a:endParaRPr lang="en-US" sz="1800" dirty="0"/>
          </a:p>
        </p:txBody>
      </p:sp>
      <p:sp>
        <p:nvSpPr>
          <p:cNvPr id="26" name="label-203"/>
          <p:cNvSpPr txBox="1"/>
          <p:nvPr/>
        </p:nvSpPr>
        <p:spPr>
          <a:xfrm>
            <a:off x="822960" y="5029200"/>
            <a:ext cx="10515600" cy="1097280"/>
          </a:xfrm>
          <a:prstGeom prst="rect">
            <a:avLst/>
          </a:prstGeom>
          <a:noFill/>
          <a:ln/>
        </p:spPr>
        <p:txBody>
          <a:bodyPr wrap="square" lIns="0" tIns="0" rIns="0" bIns="0" rtlCol="0" anchor="t"/>
          <a:lstStyle/>
          <a:p>
            <a:pPr algn="l" indent="0" marL="0">
              <a:spcAft>
                <a:spcPts val="600"/>
              </a:spcAft>
              <a:buNone/>
            </a:pPr>
            <a:r>
              <a:rPr lang="en-US" sz="1700" dirty="0">
                <a:solidFill>
                  <a:schemeClr val="tx2"/>
                </a:solidFill>
              </a:rPr>
              <a:t>Every check is a read. Every wait is latency and tokens. Every restart is a place to lose the job ID.</a:t>
            </a:r>
            <a:endParaRPr lang="en-US" sz="1700" dirty="0"/>
          </a:p>
          <a:p>
            <a:pPr algn="l" indent="0" marL="0">
              <a:spcAft>
                <a:spcPts val="600"/>
              </a:spcAft>
              <a:buNone/>
            </a:pPr>
            <a:r>
              <a:rPr lang="en-US" sz="1700" b="1" dirty="0">
                <a:solidFill>
                  <a:schemeClr val="accent1"/>
                </a:solidFill>
              </a:rPr>
              <a:t>The agent was doing the database's job..</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pic>
        <p:nvPicPr>
          <p:cNvPr id="27" name="drawio-s13-polling" descr="s13-polling.png"/>
          <p:cNvPicPr>
            <a:picLocks noChangeAspect="1"/>
          </p:cNvPicPr>
          <p:nvPr/>
        </p:nvPicPr>
        <p:blipFill>
          <a:blip r:embed="rId5"/>
          <a:stretch>
            <a:fillRect/>
          </a:stretch>
        </p:blipFill>
        <p:spPr>
          <a:xfrm>
            <a:off x="1097280" y="1828800"/>
            <a:ext cx="9966960" cy="200037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From polling to events</a:t>
            </a:r>
            <a:endParaRPr lang="en-US" sz="3200" dirty="0"/>
          </a:p>
        </p:txBody>
      </p:sp>
      <p:sp>
        <p:nvSpPr>
          <p:cNvPr id="4" name="label-20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0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06"/>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Change streams docs</a:t>
            </a:r>
            <a:endParaRPr lang="en-US" sz="900" dirty="0"/>
          </a:p>
        </p:txBody>
      </p:sp>
      <p:sp>
        <p:nvSpPr>
          <p:cNvPr id="7" name="pill-207"/>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19" name="code-219"/>
          <p:cNvSpPr txBox="1"/>
          <p:nvPr/>
        </p:nvSpPr>
        <p:spPr>
          <a:xfrm>
            <a:off x="6400800" y="1554480"/>
            <a:ext cx="5212080" cy="2834640"/>
          </a:xfrm>
          <a:prstGeom prst="roundRect">
            <a:avLst>
              <a:gd name="adj" fmla="val 2581"/>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pipeline = [{"$match": {</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"operationType": "update",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"updateDescription.updatedFields.status":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{"$in": ["completed", "failed"]}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a:t>
            </a:r>
            <a:endParaRPr lang="en-US" sz="1200" dirty="0"/>
          </a:p>
          <a:p>
            <a:pPr algn="l" indent="0" marL="0">
              <a:buNone/>
            </a:pP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with runs.watch(pipeline,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full_document="updateLookup") as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for change in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run = change["fullDocument"]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agent.resume(thread_id=run["runId"])</a:t>
            </a:r>
            <a:endParaRPr lang="en-US" sz="1200" dirty="0"/>
          </a:p>
        </p:txBody>
      </p:sp>
      <p:sp>
        <p:nvSpPr>
          <p:cNvPr id="20" name="label-220"/>
          <p:cNvSpPr txBox="1"/>
          <p:nvPr/>
        </p:nvSpPr>
        <p:spPr>
          <a:xfrm>
            <a:off x="6400800" y="4572000"/>
            <a:ext cx="5212080" cy="914400"/>
          </a:xfrm>
          <a:prstGeom prst="rect">
            <a:avLst/>
          </a:prstGeom>
          <a:noFill/>
          <a:ln/>
        </p:spPr>
        <p:txBody>
          <a:bodyPr wrap="square" lIns="0" tIns="0" rIns="0" bIns="0" rtlCol="0" anchor="t"/>
          <a:lstStyle/>
          <a:p>
            <a:pPr algn="l" indent="0" marL="0">
              <a:buNone/>
            </a:pPr>
            <a:r>
              <a:rPr lang="en-US" sz="1400" i="1" dirty="0">
                <a:solidFill>
                  <a:schemeClr val="tx2"/>
                </a:solidFill>
              </a:rPr>
              <a:t>Still design the failure path: missed events, retries, idempotency, resume.</a:t>
            </a:r>
            <a:endParaRPr lang="en-US" sz="1400" dirty="0"/>
          </a:p>
        </p:txBody>
      </p:sp>
      <p:sp>
        <p:nvSpPr>
          <p:cNvPr id="21" name="label-221"/>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No polling loop. No lost job IDs. The event carries the document the agent needs next.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pic>
        <p:nvPicPr>
          <p:cNvPr id="26" name="drawio-s14-doorbell" descr="image.png"/>
          <p:cNvPicPr>
            <a:picLocks noChangeAspect="1"/>
          </p:cNvPicPr>
          <p:nvPr/>
        </p:nvPicPr>
        <p:blipFill>
          <a:blip r:embed="rId5"/>
          <a:stretch>
            <a:fillRect/>
          </a:stretch>
        </p:blipFill>
        <p:spPr>
          <a:xfrm>
            <a:off x="822960" y="1508760"/>
            <a:ext cx="3840480" cy="3884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Memory has a half-life</a:t>
            </a:r>
            <a:endParaRPr lang="en-US" sz="3200" dirty="0"/>
          </a:p>
        </p:txBody>
      </p:sp>
      <p:sp>
        <p:nvSpPr>
          <p:cNvPr id="4" name="label-22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23"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24"/>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TTL index docs</a:t>
            </a:r>
            <a:endParaRPr lang="en-US" sz="900" dirty="0"/>
          </a:p>
        </p:txBody>
      </p:sp>
      <p:sp>
        <p:nvSpPr>
          <p:cNvPr id="22" name="code-240"/>
          <p:cNvSpPr txBox="1"/>
          <p:nvPr/>
        </p:nvSpPr>
        <p:spPr>
          <a:xfrm>
            <a:off x="822960" y="4572000"/>
            <a:ext cx="6400800" cy="1097280"/>
          </a:xfrm>
          <a:prstGeom prst="roundRect">
            <a:avLst>
              <a:gd name="adj" fmla="val 6667"/>
            </a:avLst>
          </a:prstGeom>
          <a:solidFill>
            <a:schemeClr val="bg2"/>
          </a:solidFill>
          <a:ln w="12700">
            <a:solidFill>
              <a:schemeClr val="accent4"/>
            </a:solidFill>
          </a:ln>
        </p:spPr>
        <p:txBody>
          <a:bodyPr wrap="square" lIns="2286" tIns="2286" rIns="2286" bIns="2286" rtlCol="0" anchor="t"/>
          <a:lstStyle/>
          <a:p>
            <a:pPr algn="l" indent="0" marL="0">
              <a:buNone/>
            </a:pPr>
            <a:r>
              <a:rPr lang="en-US" sz="1250" dirty="0">
                <a:solidFill>
                  <a:schemeClr val="tx1"/>
                </a:solidFill>
                <a:latin typeface="Courier New" pitchFamily="34" charset="0"/>
                <a:ea typeface="Courier New" pitchFamily="34" charset="-122"/>
                <a:cs typeface="Courier New" pitchFamily="34" charset="-120"/>
              </a:rPr>
              <a:t>db.sessions.createIndex(</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 expiresAt: 1 }, { expireAfterSeconds: 0 })</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the writer sets expiresAt per document</a:t>
            </a:r>
            <a:endParaRPr lang="en-US" sz="1250" dirty="0"/>
          </a:p>
        </p:txBody>
      </p:sp>
      <p:sp>
        <p:nvSpPr>
          <p:cNvPr id="23" name="label-241"/>
          <p:cNvSpPr txBox="1"/>
          <p:nvPr/>
        </p:nvSpPr>
        <p:spPr>
          <a:xfrm>
            <a:off x="7498080" y="4572000"/>
            <a:ext cx="4206240" cy="1005840"/>
          </a:xfrm>
          <a:prstGeom prst="rect">
            <a:avLst/>
          </a:prstGeom>
          <a:noFill/>
          <a:ln/>
        </p:spPr>
        <p:txBody>
          <a:bodyPr wrap="square" lIns="0" tIns="0" rIns="0" bIns="0" rtlCol="0" anchor="t"/>
          <a:lstStyle/>
          <a:p>
            <a:pPr algn="l" indent="0" marL="0">
              <a:buNone/>
            </a:pPr>
            <a:r>
              <a:rPr lang="en-US" sz="1400" i="1" dirty="0">
                <a:solidFill>
                  <a:schemeClr val="accent1"/>
                </a:solidFill>
              </a:rPr>
              <a:t>Lifetime becomes a schema decision, set when the document is written, not a cron job.</a:t>
            </a:r>
            <a:endParaRPr lang="en-US" sz="1400" dirty="0"/>
          </a:p>
        </p:txBody>
      </p:sp>
      <p:sp>
        <p:nvSpPr>
          <p:cNvPr id="24" name="label-242"/>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dirty="0">
                <a:solidFill>
                  <a:schemeClr val="tx2"/>
                </a:solidFill>
              </a:rPr>
              <a:t>Short-term memory expires; long-term memory is kept and audited. TTL enforces the first. It never decides which is which.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pic>
        <p:nvPicPr>
          <p:cNvPr id="26" name="drawio-s15-halflife" descr="image.png"/>
          <p:cNvPicPr>
            <a:picLocks noChangeAspect="1"/>
          </p:cNvPicPr>
          <p:nvPr/>
        </p:nvPicPr>
        <p:blipFill>
          <a:blip r:embed="rId5"/>
          <a:stretch>
            <a:fillRect/>
          </a:stretch>
        </p:blipFill>
        <p:spPr>
          <a:xfrm>
            <a:off x="1249680" y="1371600"/>
            <a:ext cx="9692640" cy="282904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1554480"/>
            <a:ext cx="10515600" cy="1645920"/>
          </a:xfrm>
          <a:prstGeom prst="rect">
            <a:avLst/>
          </a:prstGeom>
          <a:noFill/>
          <a:ln/>
        </p:spPr>
        <p:txBody>
          <a:bodyPr wrap="square" lIns="0" tIns="0" rIns="0" bIns="0" rtlCol="0" anchor="b"/>
          <a:lstStyle/>
          <a:p>
            <a:pPr algn="ctr" indent="0" marL="0">
              <a:buNone/>
            </a:pPr>
            <a:r>
              <a:rPr lang="en-US" sz="4400" b="1" dirty="0">
                <a:solidFill>
                  <a:schemeClr val="accent1"/>
                </a:solidFill>
              </a:rPr>
              <a:t>What would you delete?</a:t>
            </a:r>
            <a:endParaRPr lang="en-US" sz="4400" dirty="0"/>
          </a:p>
        </p:txBody>
      </p:sp>
      <p:sp>
        <p:nvSpPr>
          <p:cNvPr id="4" name="Text 0"/>
          <p:cNvSpPr/>
          <p:nvPr>
            <p:ph idx="101" type="body" hasCustomPrompt="1"/>
          </p:nvPr>
        </p:nvSpPr>
        <p:spPr>
          <a:xfrm>
            <a:off x="822960" y="3931920"/>
            <a:ext cx="10515600" cy="1280160"/>
          </a:xfrm>
          <a:prstGeom prst="rect">
            <a:avLst/>
          </a:prstGeom>
          <a:noFill/>
          <a:ln/>
        </p:spPr>
        <p:txBody>
          <a:bodyPr wrap="square" lIns="0" tIns="0" rIns="0" bIns="0" rtlCol="0" anchor="t"/>
          <a:lstStyle/>
          <a:p>
            <a:pPr algn="ctr" indent="0" marL="0">
              <a:buNone/>
            </a:pPr>
            <a:r>
              <a:rPr lang="en-US" sz="2000" dirty="0">
                <a:solidFill>
                  <a:schemeClr val="tx2"/>
                </a:solidFill>
              </a:rPr>
              <a:t>Audit history   ·   Experiment summaries   ·   Approvals</a:t>
            </a:r>
            <a:endParaRPr lang="en-US" sz="2000" dirty="0"/>
          </a:p>
          <a:p>
            <a:pPr algn="ctr" indent="0" marL="0">
              <a:buNone/>
            </a:pPr>
            <a:r>
              <a:rPr lang="en-US" sz="2000" dirty="0">
                <a:solidFill>
                  <a:schemeClr val="tx2"/>
                </a:solidFill>
              </a:rPr>
              <a:t>Session context   ·   Raw logs   ·   Failed attempts   ·   Cache</a:t>
            </a:r>
            <a:endParaRPr lang="en-US" sz="2000" dirty="0"/>
          </a:p>
        </p:txBody>
      </p:sp>
      <p:sp>
        <p:nvSpPr>
          <p:cNvPr id="5" name="lead-16"/>
          <p:cNvSpPr txBox="1"/>
          <p:nvPr/>
        </p:nvSpPr>
        <p:spPr>
          <a:xfrm>
            <a:off x="822960" y="3401568"/>
            <a:ext cx="10515600" cy="457200"/>
          </a:xfrm>
          <a:prstGeom prst="rect">
            <a:avLst/>
          </a:prstGeom>
          <a:noFill/>
        </p:spPr>
        <p:txBody>
          <a:bodyPr wrap="square">
            <a:spAutoFit/>
          </a:bodyPr>
          <a:lstStyle/>
          <a:p>
            <a:r>
              <a:rPr sz="1800" b="0" i="0">
                <a:solidFill>
                  <a:srgbClr val="5C6670"/>
                </a:solidFill>
              </a:rPr>
              <a:t>Everything the agent wrote this week, in one list. Which of these has to live?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Not every question is semantic</a:t>
            </a:r>
            <a:endParaRPr lang="en-US" sz="3200" dirty="0"/>
          </a:p>
        </p:txBody>
      </p:sp>
      <p:sp>
        <p:nvSpPr>
          <p:cNvPr id="4" name="label-24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4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45"/>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Vector Search docs</a:t>
            </a:r>
            <a:endParaRPr lang="en-US" sz="900" dirty="0"/>
          </a:p>
        </p:txBody>
      </p:sp>
      <p:sp>
        <p:nvSpPr>
          <p:cNvPr id="13" name="label-252"/>
          <p:cNvSpPr txBox="1"/>
          <p:nvPr/>
        </p:nvSpPr>
        <p:spPr>
          <a:xfrm>
            <a:off x="640080" y="5074920"/>
            <a:ext cx="10972800" cy="457200"/>
          </a:xfrm>
          <a:prstGeom prst="rect">
            <a:avLst/>
          </a:prstGeom>
          <a:noFill/>
          <a:ln/>
        </p:spPr>
        <p:txBody>
          <a:bodyPr wrap="square" lIns="0" tIns="0" rIns="0" bIns="0" rtlCol="0" anchor="t"/>
          <a:lstStyle/>
          <a:p>
            <a:pPr algn="l" indent="0" marL="0">
              <a:buNone/>
            </a:pPr>
            <a:r>
              <a:rPr lang="en-US" sz="1800" b="1" dirty="0">
                <a:solidFill>
                  <a:schemeClr val="accent1"/>
                </a:solidFill>
              </a:rPr>
              <a:t>The same collection and the same document answer a different kind of question.</a:t>
            </a:r>
            <a:endParaRPr lang="en-US" sz="1800" dirty="0"/>
          </a:p>
        </p:txBody>
      </p:sp>
      <p:sp>
        <p:nvSpPr>
          <p:cNvPr id="14" name="label-253"/>
          <p:cNvSpPr txBox="1"/>
          <p:nvPr/>
        </p:nvSpPr>
        <p:spPr>
          <a:xfrm>
            <a:off x="640080" y="5532120"/>
            <a:ext cx="10972800" cy="640080"/>
          </a:xfrm>
          <a:prstGeom prst="rect">
            <a:avLst/>
          </a:prstGeom>
          <a:noFill/>
          <a:ln/>
        </p:spPr>
        <p:txBody>
          <a:bodyPr wrap="square" lIns="0" tIns="0" rIns="0" bIns="0" rtlCol="0" anchor="t"/>
          <a:lstStyle/>
          <a:p>
            <a:pPr algn="l" indent="0" marL="0">
              <a:buNone/>
            </a:pPr>
            <a:r>
              <a:rPr lang="en-US" sz="1500" dirty="0">
                <a:solidFill>
                  <a:schemeClr val="tx2"/>
                </a:solidFill>
              </a:rPr>
              <a:t>A reliable agent needs both: exact operational state, and similarity over messy context, governed by the same rules.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pic>
        <p:nvPicPr>
          <p:cNvPr id="26" name="anim-semantic" descr="semantic.gif"/>
          <p:cNvPicPr>
            <a:picLocks noChangeAspect="1"/>
          </p:cNvPicPr>
          <p:nvPr/>
        </p:nvPicPr>
        <p:blipFill>
          <a:blip r:embed="rId6"/>
          <a:stretch>
            <a:fillRect/>
          </a:stretch>
        </p:blipFill>
        <p:spPr>
          <a:xfrm>
            <a:off x="1981200" y="1371600"/>
            <a:ext cx="8229600" cy="338001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 agent that can act must be explainable</a:t>
            </a:r>
            <a:endParaRPr lang="en-US" sz="3200" dirty="0"/>
          </a:p>
        </p:txBody>
      </p:sp>
      <p:sp>
        <p:nvSpPr>
          <p:cNvPr id="4" name="label-25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5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56"/>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IDC: the control point</a:t>
            </a:r>
            <a:endParaRPr lang="en-US" sz="900" dirty="0"/>
          </a:p>
        </p:txBody>
      </p:sp>
      <p:sp>
        <p:nvSpPr>
          <p:cNvPr id="15" name="box-265"/>
          <p:cNvSpPr txBox="1"/>
          <p:nvPr/>
        </p:nvSpPr>
        <p:spPr>
          <a:xfrm>
            <a:off x="6675120" y="2377440"/>
            <a:ext cx="4937760" cy="3246120"/>
          </a:xfrm>
          <a:prstGeom prst="roundRect">
            <a:avLst>
              <a:gd name="adj" fmla="val 225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266"/>
          <p:cNvSpPr txBox="1"/>
          <p:nvPr/>
        </p:nvSpPr>
        <p:spPr>
          <a:xfrm>
            <a:off x="6949440" y="2606040"/>
            <a:ext cx="4389120" cy="1463040"/>
          </a:xfrm>
          <a:prstGeom prst="rect">
            <a:avLst/>
          </a:prstGeom>
          <a:noFill/>
          <a:ln/>
        </p:spPr>
        <p:txBody>
          <a:bodyPr wrap="square" lIns="0" tIns="0" rIns="0" bIns="0" rtlCol="0" anchor="t"/>
          <a:lstStyle/>
          <a:p>
            <a:pPr algn="l" indent="0" marL="0">
              <a:buNone/>
            </a:pPr>
            <a:r>
              <a:rPr lang="en-US" sz="2000" b="1" dirty="0">
                <a:solidFill>
                  <a:schemeClr val="accent1"/>
                </a:solidFill>
              </a:rPr>
              <a:t>If a system can act, it must be able to explain how that action was allowed.</a:t>
            </a:r>
            <a:endParaRPr lang="en-US" sz="2000" dirty="0"/>
          </a:p>
        </p:txBody>
      </p:sp>
      <p:sp>
        <p:nvSpPr>
          <p:cNvPr id="17" name="label-267"/>
          <p:cNvSpPr txBox="1"/>
          <p:nvPr/>
        </p:nvSpPr>
        <p:spPr>
          <a:xfrm>
            <a:off x="6949440" y="4160520"/>
            <a:ext cx="4389120" cy="1280160"/>
          </a:xfrm>
          <a:prstGeom prst="rect">
            <a:avLst/>
          </a:prstGeom>
          <a:noFill/>
          <a:ln/>
        </p:spPr>
        <p:txBody>
          <a:bodyPr wrap="square" lIns="0" tIns="0" rIns="0" bIns="0" rtlCol="0" anchor="t"/>
          <a:lstStyle/>
          <a:p>
            <a:pPr algn="l" indent="0" marL="0">
              <a:buNone/>
            </a:pPr>
            <a:r>
              <a:rPr lang="en-US" sz="1400" dirty="0">
                <a:solidFill>
                  <a:schemeClr val="tx2"/>
                </a:solidFill>
              </a:rPr>
              <a:t>Approvals and audit live in collections with a schema. The database checks the policy before the action fires, so a bad model output cannot become a bad action.</a:t>
            </a:r>
            <a:endParaRPr lang="en-US" sz="1400" dirty="0"/>
          </a:p>
        </p:txBody>
      </p:sp>
      <p:sp>
        <p:nvSpPr>
          <p:cNvPr id="18" name="label-268"/>
          <p:cNvSpPr txBox="1"/>
          <p:nvPr/>
        </p:nvSpPr>
        <p:spPr>
          <a:xfrm>
            <a:off x="640080" y="580644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Guardrails are data.</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
        <p:nvSpPr>
          <p:cNvPr id="27" name="code-card"/>
          <p:cNvSpPr/>
          <p:nvPr/>
        </p:nvSpPr>
        <p:spPr>
          <a:xfrm>
            <a:off x="640080" y="2377440"/>
            <a:ext cx="5669280" cy="315468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de-approval"/>
          <p:cNvSpPr txBox="1"/>
          <p:nvPr/>
        </p:nvSpPr>
        <p:spPr>
          <a:xfrm>
            <a:off x="777240" y="2468880"/>
            <a:ext cx="5394960" cy="301752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action:      "start_training",</a:t>
            </a:r>
          </a:p>
          <a:p>
            <a:pPr algn="l">
              <a:lnSpc>
                <a:spcPct val="100000"/>
              </a:lnSpc>
            </a:pPr>
            <a:r>
              <a:rPr sz="1250" b="0">
                <a:solidFill>
                  <a:srgbClr val="1A1A1A"/>
                </a:solidFill>
                <a:latin typeface="Consolas"/>
              </a:rPr>
              <a:t>  requestedBy: "agent",</a:t>
            </a:r>
          </a:p>
          <a:p>
            <a:pPr algn="l">
              <a:lnSpc>
                <a:spcPct val="100000"/>
              </a:lnSpc>
            </a:pPr>
            <a:r>
              <a:rPr sz="1250" b="0">
                <a:solidFill>
                  <a:srgbClr val="1A1A1A"/>
                </a:solidFill>
                <a:latin typeface="Consolas"/>
              </a:rPr>
              <a:t>  approvedBy:  "eoin",</a:t>
            </a:r>
          </a:p>
          <a:p>
            <a:pPr algn="l">
              <a:lnSpc>
                <a:spcPct val="100000"/>
              </a:lnSpc>
            </a:pPr>
            <a:r>
              <a:rPr sz="1250" b="0">
                <a:solidFill>
                  <a:srgbClr val="1A1A1A"/>
                </a:solidFill>
                <a:latin typeface="Consolas"/>
              </a:rPr>
              <a:t>  scope:       { orgId: "org-71",</a:t>
            </a:r>
          </a:p>
          <a:p>
            <a:pPr algn="l">
              <a:lnSpc>
                <a:spcPct val="100000"/>
              </a:lnSpc>
            </a:pPr>
            <a:r>
              <a:rPr sz="1250" b="0">
                <a:solidFill>
                  <a:srgbClr val="1A1A1A"/>
                </a:solidFill>
                <a:latin typeface="Consolas"/>
              </a:rPr>
              <a:t>                 projectId: "project-512482" },</a:t>
            </a:r>
          </a:p>
          <a:p>
            <a:pPr algn="l">
              <a:lnSpc>
                <a:spcPct val="100000"/>
              </a:lnSpc>
            </a:pPr>
            <a:r>
              <a:rPr sz="1250" b="0">
                <a:solidFill>
                  <a:srgbClr val="1A1A1A"/>
                </a:solidFill>
                <a:latin typeface="Consolas"/>
              </a:rPr>
              <a:t>  decision:    "approved",</a:t>
            </a:r>
          </a:p>
          <a:p>
            <a:pPr algn="l">
              <a:lnSpc>
                <a:spcPct val="100000"/>
              </a:lnSpc>
            </a:pPr>
            <a:r>
              <a:rPr sz="1250" b="0">
                <a:solidFill>
                  <a:srgbClr val="1A1A1A"/>
                </a:solidFill>
                <a:latin typeface="Consolas"/>
              </a:rPr>
              <a:t>  reason:      "non-destructive training run",</a:t>
            </a:r>
          </a:p>
          <a:p>
            <a:pPr algn="l">
              <a:lnSpc>
                <a:spcPct val="100000"/>
              </a:lnSpc>
            </a:pPr>
            <a:r>
              <a:rPr sz="1250" b="0">
                <a:solidFill>
                  <a:srgbClr val="1A1A1A"/>
                </a:solidFill>
                <a:latin typeface="Consolas"/>
              </a:rPr>
              <a:t>  at:          ISODate("...")</a:t>
            </a:r>
          </a:p>
          <a:p>
            <a:pPr algn="l">
              <a:lnSpc>
                <a:spcPct val="100000"/>
              </a:lnSpc>
            </a:pPr>
            <a:r>
              <a:rPr sz="1250" b="0">
                <a:solidFill>
                  <a:srgbClr val="1A1A1A"/>
                </a:solidFill>
                <a:latin typeface="Consolas"/>
              </a:rPr>
              <a:t>}</a:t>
            </a:r>
          </a:p>
        </p:txBody>
      </p:sp>
      <p:pic>
        <p:nvPicPr>
          <p:cNvPr id="29" name="drawio-s18-guardrails" descr="image.png"/>
          <p:cNvPicPr>
            <a:picLocks noChangeAspect="1"/>
          </p:cNvPicPr>
          <p:nvPr/>
        </p:nvPicPr>
        <p:blipFill>
          <a:blip r:embed="rId6"/>
          <a:stretch>
            <a:fillRect/>
          </a:stretch>
        </p:blipFill>
        <p:spPr>
          <a:xfrm>
            <a:off x="640080" y="1325880"/>
            <a:ext cx="10972800" cy="68638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resolved architecture</a:t>
            </a:r>
            <a:endParaRPr lang="en-US" sz="3200" dirty="0"/>
          </a:p>
        </p:txBody>
      </p:sp>
      <p:sp>
        <p:nvSpPr>
          <p:cNvPr id="29" name="label-294"/>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Giving an agent tools is easy. Giving it reliable state is the hard part.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pic>
        <p:nvPicPr>
          <p:cNvPr id="30" name="drawio-s19-resolved" descr="s19-resolved.png"/>
          <p:cNvPicPr>
            <a:picLocks noChangeAspect="1"/>
          </p:cNvPicPr>
          <p:nvPr/>
        </p:nvPicPr>
        <p:blipFill>
          <a:blip r:embed="rId5"/>
          <a:stretch>
            <a:fillRect/>
          </a:stretch>
        </p:blipFill>
        <p:spPr>
          <a:xfrm>
            <a:off x="609600" y="1371600"/>
            <a:ext cx="10972800" cy="329098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to take back</a:t>
            </a:r>
            <a:endParaRPr lang="en-US" sz="3200" dirty="0"/>
          </a:p>
        </p:txBody>
      </p:sp>
      <p:sp>
        <p:nvSpPr>
          <p:cNvPr id="4" name="box-295"/>
          <p:cNvSpPr txBox="1"/>
          <p:nvPr/>
        </p:nvSpPr>
        <p:spPr>
          <a:xfrm>
            <a:off x="640080" y="1463040"/>
            <a:ext cx="5349240" cy="2011680"/>
          </a:xfrm>
          <a:prstGeom prst="roundRect">
            <a:avLst>
              <a:gd name="adj" fmla="val 363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296"/>
          <p:cNvSpPr txBox="1"/>
          <p:nvPr/>
        </p:nvSpPr>
        <p:spPr>
          <a:xfrm>
            <a:off x="91440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Developer</a:t>
            </a:r>
            <a:endParaRPr lang="en-US" sz="2000" dirty="0"/>
          </a:p>
        </p:txBody>
      </p:sp>
      <p:sp>
        <p:nvSpPr>
          <p:cNvPr id="6" name="label-297"/>
          <p:cNvSpPr txBox="1"/>
          <p:nvPr/>
        </p:nvSpPr>
        <p:spPr>
          <a:xfrm>
            <a:off x="91440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Give every workflow a document and a thread ID.</a:t>
            </a:r>
            <a:endParaRPr lang="en-US" sz="1500" dirty="0"/>
          </a:p>
        </p:txBody>
      </p:sp>
      <p:sp>
        <p:nvSpPr>
          <p:cNvPr id="7" name="box-298"/>
          <p:cNvSpPr txBox="1"/>
          <p:nvPr/>
        </p:nvSpPr>
        <p:spPr>
          <a:xfrm>
            <a:off x="6217920" y="146304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8" name="label-299"/>
          <p:cNvSpPr txBox="1"/>
          <p:nvPr/>
        </p:nvSpPr>
        <p:spPr>
          <a:xfrm>
            <a:off x="649224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Architect</a:t>
            </a:r>
            <a:endParaRPr lang="en-US" sz="2000" dirty="0"/>
          </a:p>
        </p:txBody>
      </p:sp>
      <p:sp>
        <p:nvSpPr>
          <p:cNvPr id="9" name="label-300"/>
          <p:cNvSpPr txBox="1"/>
          <p:nvPr/>
        </p:nvSpPr>
        <p:spPr>
          <a:xfrm>
            <a:off x="649224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Put a state layer between tools and the world.</a:t>
            </a:r>
            <a:endParaRPr lang="en-US" sz="1500" dirty="0"/>
          </a:p>
        </p:txBody>
      </p:sp>
      <p:sp>
        <p:nvSpPr>
          <p:cNvPr id="10" name="box-301"/>
          <p:cNvSpPr txBox="1"/>
          <p:nvPr/>
        </p:nvSpPr>
        <p:spPr>
          <a:xfrm>
            <a:off x="64008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1" name="label-302"/>
          <p:cNvSpPr txBox="1"/>
          <p:nvPr/>
        </p:nvSpPr>
        <p:spPr>
          <a:xfrm>
            <a:off x="91440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Data / platform lead</a:t>
            </a:r>
            <a:endParaRPr lang="en-US" sz="2000" dirty="0"/>
          </a:p>
        </p:txBody>
      </p:sp>
      <p:sp>
        <p:nvSpPr>
          <p:cNvPr id="12" name="label-303"/>
          <p:cNvSpPr txBox="1"/>
          <p:nvPr/>
        </p:nvSpPr>
        <p:spPr>
          <a:xfrm>
            <a:off x="91440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Index from the query log; make lifetimes a schema decision with TTL.</a:t>
            </a:r>
            <a:endParaRPr lang="en-US" sz="1500" dirty="0"/>
          </a:p>
        </p:txBody>
      </p:sp>
      <p:sp>
        <p:nvSpPr>
          <p:cNvPr id="13" name="box-304"/>
          <p:cNvSpPr txBox="1"/>
          <p:nvPr/>
        </p:nvSpPr>
        <p:spPr>
          <a:xfrm>
            <a:off x="621792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4" name="label-305"/>
          <p:cNvSpPr txBox="1"/>
          <p:nvPr/>
        </p:nvSpPr>
        <p:spPr>
          <a:xfrm>
            <a:off x="649224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Product / engineering manager</a:t>
            </a:r>
            <a:endParaRPr lang="en-US" sz="2000" dirty="0"/>
          </a:p>
        </p:txBody>
      </p:sp>
      <p:sp>
        <p:nvSpPr>
          <p:cNvPr id="15" name="label-306"/>
          <p:cNvSpPr txBox="1"/>
          <p:nvPr/>
        </p:nvSpPr>
        <p:spPr>
          <a:xfrm>
            <a:off x="649224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Ask one question of any agent project: can it explain what it did?</a:t>
            </a:r>
            <a:endParaRPr lang="en-US" sz="1500" dirty="0"/>
          </a:p>
        </p:txBody>
      </p:sp>
      <p:sp>
        <p:nvSpPr>
          <p:cNvPr id="16" name="label-307"/>
          <p:cNvSpPr txBox="1"/>
          <p:nvPr/>
        </p:nvSpPr>
        <p:spPr>
          <a:xfrm>
            <a:off x="640080" y="5989320"/>
            <a:ext cx="10972800" cy="365760"/>
          </a:xfrm>
          <a:prstGeom prst="rect">
            <a:avLst/>
          </a:prstGeom>
          <a:noFill/>
          <a:ln/>
        </p:spPr>
        <p:txBody>
          <a:bodyPr wrap="square" lIns="0" tIns="0" rIns="0" bIns="0" rtlCol="0" anchor="t"/>
          <a:lstStyle/>
          <a:p>
            <a:pPr algn="l" indent="0" marL="0">
              <a:buNone/>
            </a:pPr>
            <a:r>
              <a:rPr lang="en-US" sz="1300" i="1" dirty="0">
                <a:solidFill>
                  <a:schemeClr val="accent1"/>
                </a:solidFill>
              </a:rPr>
              <a:t>Back to your chat answers: which of these is yours?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
        <p:nvSpPr>
          <p:cNvPr id="26" name="lead-20"/>
          <p:cNvSpPr txBox="1"/>
          <p:nvPr/>
        </p:nvSpPr>
        <p:spPr>
          <a:xfrm>
            <a:off x="914400" y="1069848"/>
            <a:ext cx="10332720" cy="292608"/>
          </a:xfrm>
          <a:prstGeom prst="rect">
            <a:avLst/>
          </a:prstGeom>
          <a:noFill/>
        </p:spPr>
        <p:txBody>
          <a:bodyPr wrap="square">
            <a:spAutoFit/>
          </a:bodyPr>
          <a:lstStyle/>
          <a:p>
            <a:r>
              <a:rPr sz="1400" b="0" i="0">
                <a:solidFill>
                  <a:srgbClr val="5C6670"/>
                </a:solidFill>
              </a:rPr>
              <a:t>One Monday-morning action for each of you:</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1188720"/>
            <a:ext cx="10515600" cy="1645920"/>
          </a:xfrm>
          <a:prstGeom prst="rect">
            <a:avLst/>
          </a:prstGeom>
          <a:noFill/>
          <a:ln/>
        </p:spPr>
        <p:txBody>
          <a:bodyPr wrap="square" lIns="0" tIns="0" rIns="0" bIns="0" rtlCol="0" anchor="b"/>
          <a:lstStyle/>
          <a:p>
            <a:pPr algn="l" indent="0" marL="0">
              <a:buNone/>
            </a:pPr>
            <a:r>
              <a:rPr lang="en-US" sz="4000" b="1" dirty="0">
                <a:solidFill>
                  <a:srgbClr val="FFFFFF"/>
                </a:solidFill>
              </a:rPr>
              <a:t>Three things I want you to remember</a:t>
            </a:r>
            <a:endParaRPr lang="en-US" sz="4000" dirty="0"/>
          </a:p>
        </p:txBody>
      </p:sp>
      <p:sp>
        <p:nvSpPr>
          <p:cNvPr id="3" name="three-lines"/>
          <p:cNvSpPr txBox="1"/>
          <p:nvPr/>
        </p:nvSpPr>
        <p:spPr>
          <a:xfrm>
            <a:off x="822960" y="3017520"/>
            <a:ext cx="10515600" cy="3017520"/>
          </a:xfrm>
          <a:prstGeom prst="rect">
            <a:avLst/>
          </a:prstGeom>
          <a:noFill/>
        </p:spPr>
        <p:txBody>
          <a:bodyPr wrap="square">
            <a:spAutoFit/>
          </a:bodyPr>
          <a:lstStyle/>
          <a:p>
            <a:pPr algn="l">
              <a:lnSpc>
                <a:spcPct val="150000"/>
              </a:lnSpc>
            </a:pPr>
            <a:r>
              <a:rPr sz="3200" b="1">
                <a:solidFill>
                  <a:srgbClr val="FFFFFF"/>
                </a:solidFill>
              </a:rPr>
              <a:t>Model for the workload.</a:t>
            </a:r>
          </a:p>
          <a:p>
            <a:pPr algn="l">
              <a:lnSpc>
                <a:spcPct val="150000"/>
              </a:lnSpc>
            </a:pPr>
            <a:r>
              <a:rPr sz="3200" b="1">
                <a:solidFill>
                  <a:srgbClr val="FFFFFF"/>
                </a:solidFill>
              </a:rPr>
              <a:t>Index for the questions.</a:t>
            </a:r>
          </a:p>
          <a:p>
            <a:pPr algn="l">
              <a:lnSpc>
                <a:spcPct val="150000"/>
              </a:lnSpc>
            </a:pPr>
            <a:r>
              <a:rPr sz="3200" b="1">
                <a:solidFill>
                  <a:srgbClr val="FFFFFF"/>
                </a:solidFill>
              </a:rPr>
              <a:t>Treat AI memory as data.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Where to go next</a:t>
            </a:r>
            <a:endParaRPr lang="en-US" sz="3200" dirty="0"/>
          </a:p>
        </p:txBody>
      </p:sp>
      <p:sp>
        <p:nvSpPr>
          <p:cNvPr id="4" name="box-308"/>
          <p:cNvSpPr txBox="1"/>
          <p:nvPr/>
        </p:nvSpPr>
        <p:spPr>
          <a:xfrm>
            <a:off x="457200" y="1417320"/>
            <a:ext cx="2697480" cy="4709160"/>
          </a:xfrm>
          <a:prstGeom prst="roundRect">
            <a:avLst>
              <a:gd name="adj" fmla="val 2712"/>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09"/>
          <p:cNvSpPr txBox="1"/>
          <p:nvPr/>
        </p:nvSpPr>
        <p:spPr>
          <a:xfrm>
            <a:off x="65836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Learn</a:t>
            </a:r>
            <a:endParaRPr lang="en-US" sz="2100" dirty="0"/>
          </a:p>
        </p:txBody>
      </p:sp>
      <p:sp>
        <p:nvSpPr>
          <p:cNvPr id="6" name="label-310"/>
          <p:cNvSpPr txBox="1"/>
          <p:nvPr/>
        </p:nvSpPr>
        <p:spPr>
          <a:xfrm>
            <a:off x="65836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Badges and books</a:t>
            </a:r>
            <a:endParaRPr lang="en-US" sz="1200" dirty="0"/>
          </a:p>
        </p:txBody>
      </p:sp>
      <p:sp>
        <p:nvSpPr>
          <p:cNvPr id="7" name="dot-311"/>
          <p:cNvSpPr/>
          <p:nvPr/>
        </p:nvSpPr>
        <p:spPr>
          <a:xfrm>
            <a:off x="676656" y="2542032"/>
            <a:ext cx="146304" cy="146304"/>
          </a:xfrm>
          <a:prstGeom prst="ellipse">
            <a:avLst/>
          </a:prstGeom>
          <a:solidFill>
            <a:schemeClr val="accent2"/>
          </a:solidFill>
          <a:ln w="12700">
            <a:solidFill>
              <a:schemeClr val="accent2"/>
            </a:solidFill>
            <a:prstDash val="solid"/>
          </a:ln>
        </p:spPr>
        <p:txBody>
          <a:bodyPr/>
          <a:p/>
        </p:txBody>
      </p:sp>
      <p:sp>
        <p:nvSpPr>
          <p:cNvPr id="8" name="label-312"/>
          <p:cNvSpPr txBox="1"/>
          <p:nvPr/>
        </p:nvSpPr>
        <p:spPr>
          <a:xfrm>
            <a:off x="91440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Skill Badges: Building AI Agents with MongoDB, Schema Design Patterns</a:t>
            </a:r>
            <a:endParaRPr lang="en-US" sz="1150" dirty="0"/>
          </a:p>
        </p:txBody>
      </p:sp>
      <p:sp>
        <p:nvSpPr>
          <p:cNvPr id="9" name="dot-313"/>
          <p:cNvSpPr/>
          <p:nvPr/>
        </p:nvSpPr>
        <p:spPr>
          <a:xfrm>
            <a:off x="676656" y="3108960"/>
            <a:ext cx="146304" cy="146304"/>
          </a:xfrm>
          <a:prstGeom prst="ellipse">
            <a:avLst/>
          </a:prstGeom>
          <a:solidFill>
            <a:schemeClr val="accent2"/>
          </a:solidFill>
          <a:ln w="12700">
            <a:solidFill>
              <a:schemeClr val="accent2"/>
            </a:solidFill>
            <a:prstDash val="solid"/>
          </a:ln>
        </p:spPr>
        <p:txBody>
          <a:bodyPr/>
          <a:p/>
        </p:txBody>
      </p:sp>
      <p:sp>
        <p:nvSpPr>
          <p:cNvPr id="10" name="label-314"/>
          <p:cNvSpPr txBox="1"/>
          <p:nvPr/>
        </p:nvSpPr>
        <p:spPr>
          <a:xfrm>
            <a:off x="91440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Book: From Systems of Record to Agentic Systems of Action (Packt, 2026)</a:t>
            </a:r>
            <a:endParaRPr lang="en-US" sz="1150" dirty="0"/>
          </a:p>
        </p:txBody>
      </p:sp>
      <p:sp>
        <p:nvSpPr>
          <p:cNvPr id="11" name="dot-315"/>
          <p:cNvSpPr/>
          <p:nvPr/>
        </p:nvSpPr>
        <p:spPr>
          <a:xfrm>
            <a:off x="676656" y="3675888"/>
            <a:ext cx="146304" cy="146304"/>
          </a:xfrm>
          <a:prstGeom prst="ellipse">
            <a:avLst/>
          </a:prstGeom>
          <a:solidFill>
            <a:schemeClr val="accent2"/>
          </a:solidFill>
          <a:ln w="12700">
            <a:solidFill>
              <a:schemeClr val="accent2"/>
            </a:solidFill>
            <a:prstDash val="solid"/>
          </a:ln>
        </p:spPr>
        <p:txBody>
          <a:bodyPr/>
          <a:p/>
        </p:txBody>
      </p:sp>
      <p:sp>
        <p:nvSpPr>
          <p:cNvPr id="12" name="label-316"/>
          <p:cNvSpPr txBox="1"/>
          <p:nvPr/>
        </p:nvSpPr>
        <p:spPr>
          <a:xfrm>
            <a:off x="91440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Official MongoDB Guide</a:t>
            </a:r>
            <a:endParaRPr lang="en-US" sz="1150" dirty="0"/>
          </a:p>
        </p:txBody>
      </p:sp>
      <p:pic>
        <p:nvPicPr>
          <p:cNvPr id="13" name="qr-317" descr="preencoded.png">    </p:cNvPr>
          <p:cNvPicPr>
            <a:picLocks noChangeAspect="1"/>
          </p:cNvPicPr>
          <p:nvPr/>
        </p:nvPicPr>
        <p:blipFill>
          <a:blip r:embed="rId1"/>
          <a:stretch>
            <a:fillRect/>
          </a:stretch>
        </p:blipFill>
        <p:spPr>
          <a:xfrm>
            <a:off x="1234440" y="4343400"/>
            <a:ext cx="1143000" cy="1143000"/>
          </a:xfrm>
          <a:prstGeom prst="rect">
            <a:avLst/>
          </a:prstGeom>
        </p:spPr>
      </p:pic>
      <p:sp>
        <p:nvSpPr>
          <p:cNvPr id="14" name="label-318"/>
          <p:cNvSpPr txBox="1"/>
          <p:nvPr/>
        </p:nvSpPr>
        <p:spPr>
          <a:xfrm>
            <a:off x="59436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learn.mongodb.com/skills · mongodb.com/books</a:t>
            </a:r>
            <a:endParaRPr lang="en-US" sz="950" dirty="0"/>
          </a:p>
        </p:txBody>
      </p:sp>
      <p:sp>
        <p:nvSpPr>
          <p:cNvPr id="15" name="box-319"/>
          <p:cNvSpPr txBox="1"/>
          <p:nvPr/>
        </p:nvSpPr>
        <p:spPr>
          <a:xfrm>
            <a:off x="329184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6" name="label-320"/>
          <p:cNvSpPr txBox="1"/>
          <p:nvPr/>
        </p:nvSpPr>
        <p:spPr>
          <a:xfrm>
            <a:off x="349300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Ask</a:t>
            </a:r>
            <a:endParaRPr lang="en-US" sz="2100" dirty="0"/>
          </a:p>
        </p:txBody>
      </p:sp>
      <p:sp>
        <p:nvSpPr>
          <p:cNvPr id="17" name="label-321"/>
          <p:cNvSpPr txBox="1"/>
          <p:nvPr/>
        </p:nvSpPr>
        <p:spPr>
          <a:xfrm>
            <a:off x="349300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Answered directly</a:t>
            </a:r>
            <a:endParaRPr lang="en-US" sz="1200" dirty="0"/>
          </a:p>
        </p:txBody>
      </p:sp>
      <p:sp>
        <p:nvSpPr>
          <p:cNvPr id="18" name="dot-322"/>
          <p:cNvSpPr/>
          <p:nvPr/>
        </p:nvSpPr>
        <p:spPr>
          <a:xfrm>
            <a:off x="3511296" y="2542032"/>
            <a:ext cx="146304" cy="146304"/>
          </a:xfrm>
          <a:prstGeom prst="ellipse">
            <a:avLst/>
          </a:prstGeom>
          <a:solidFill>
            <a:schemeClr val="accent2"/>
          </a:solidFill>
          <a:ln w="12700">
            <a:solidFill>
              <a:schemeClr val="accent2"/>
            </a:solidFill>
            <a:prstDash val="solid"/>
          </a:ln>
        </p:spPr>
        <p:txBody>
          <a:bodyPr/>
          <a:p/>
        </p:txBody>
      </p:sp>
      <p:sp>
        <p:nvSpPr>
          <p:cNvPr id="19" name="label-323"/>
          <p:cNvSpPr txBox="1"/>
          <p:nvPr/>
        </p:nvSpPr>
        <p:spPr>
          <a:xfrm>
            <a:off x="374904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Community Forums: engineers answer</a:t>
            </a:r>
            <a:endParaRPr lang="en-US" sz="1150" dirty="0"/>
          </a:p>
        </p:txBody>
      </p:sp>
      <p:sp>
        <p:nvSpPr>
          <p:cNvPr id="20" name="dot-324"/>
          <p:cNvSpPr/>
          <p:nvPr/>
        </p:nvSpPr>
        <p:spPr>
          <a:xfrm>
            <a:off x="3511296" y="3108960"/>
            <a:ext cx="146304" cy="146304"/>
          </a:xfrm>
          <a:prstGeom prst="ellipse">
            <a:avLst/>
          </a:prstGeom>
          <a:solidFill>
            <a:schemeClr val="accent2"/>
          </a:solidFill>
          <a:ln w="12700">
            <a:solidFill>
              <a:schemeClr val="accent2"/>
            </a:solidFill>
            <a:prstDash val="solid"/>
          </a:ln>
        </p:spPr>
        <p:txBody>
          <a:bodyPr/>
          <a:p/>
        </p:txBody>
      </p:sp>
      <p:sp>
        <p:nvSpPr>
          <p:cNvPr id="21" name="label-325"/>
          <p:cNvSpPr txBox="1"/>
          <p:nvPr/>
        </p:nvSpPr>
        <p:spPr>
          <a:xfrm>
            <a:off x="374904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Docs, and the docs assistant</a:t>
            </a:r>
            <a:endParaRPr lang="en-US" sz="1150" dirty="0"/>
          </a:p>
        </p:txBody>
      </p:sp>
      <p:sp>
        <p:nvSpPr>
          <p:cNvPr id="22" name="dot-326"/>
          <p:cNvSpPr/>
          <p:nvPr/>
        </p:nvSpPr>
        <p:spPr>
          <a:xfrm>
            <a:off x="3511296" y="3675888"/>
            <a:ext cx="146304" cy="146304"/>
          </a:xfrm>
          <a:prstGeom prst="ellipse">
            <a:avLst/>
          </a:prstGeom>
          <a:solidFill>
            <a:schemeClr val="accent2"/>
          </a:solidFill>
          <a:ln w="12700">
            <a:solidFill>
              <a:schemeClr val="accent2"/>
            </a:solidFill>
            <a:prstDash val="solid"/>
          </a:ln>
        </p:spPr>
        <p:txBody>
          <a:bodyPr/>
          <a:p/>
        </p:txBody>
      </p:sp>
      <p:sp>
        <p:nvSpPr>
          <p:cNvPr id="23" name="label-327"/>
          <p:cNvSpPr txBox="1"/>
          <p:nvPr/>
        </p:nvSpPr>
        <p:spPr>
          <a:xfrm>
            <a:off x="374904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four doc pages behind this talk (corner QRs)</a:t>
            </a:r>
            <a:endParaRPr lang="en-US" sz="1150" dirty="0"/>
          </a:p>
        </p:txBody>
      </p:sp>
      <p:pic>
        <p:nvPicPr>
          <p:cNvPr id="24" name="qr-328" descr="preencoded.png">    </p:cNvPr>
          <p:cNvPicPr>
            <a:picLocks noChangeAspect="1"/>
          </p:cNvPicPr>
          <p:nvPr/>
        </p:nvPicPr>
        <p:blipFill>
          <a:blip r:embed="rId2"/>
          <a:stretch>
            <a:fillRect/>
          </a:stretch>
        </p:blipFill>
        <p:spPr>
          <a:xfrm>
            <a:off x="4069080" y="4343400"/>
            <a:ext cx="1143000" cy="1143000"/>
          </a:xfrm>
          <a:prstGeom prst="rect">
            <a:avLst/>
          </a:prstGeom>
        </p:spPr>
      </p:pic>
      <p:sp>
        <p:nvSpPr>
          <p:cNvPr id="25" name="label-329"/>
          <p:cNvSpPr txBox="1"/>
          <p:nvPr/>
        </p:nvSpPr>
        <p:spPr>
          <a:xfrm>
            <a:off x="342900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mongodb.com/community/forums</a:t>
            </a:r>
            <a:endParaRPr lang="en-US" sz="950" dirty="0"/>
          </a:p>
        </p:txBody>
      </p:sp>
      <p:sp>
        <p:nvSpPr>
          <p:cNvPr id="26" name="box-330"/>
          <p:cNvSpPr txBox="1"/>
          <p:nvPr/>
        </p:nvSpPr>
        <p:spPr>
          <a:xfrm>
            <a:off x="612648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7" name="label-331"/>
          <p:cNvSpPr txBox="1"/>
          <p:nvPr/>
        </p:nvSpPr>
        <p:spPr>
          <a:xfrm>
            <a:off x="632764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Build</a:t>
            </a:r>
            <a:endParaRPr lang="en-US" sz="2100" dirty="0"/>
          </a:p>
        </p:txBody>
      </p:sp>
      <p:sp>
        <p:nvSpPr>
          <p:cNvPr id="28" name="label-332"/>
          <p:cNvSpPr txBox="1"/>
          <p:nvPr/>
        </p:nvSpPr>
        <p:spPr>
          <a:xfrm>
            <a:off x="632764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Give your coding agent the skills</a:t>
            </a:r>
            <a:endParaRPr lang="en-US" sz="1200" dirty="0"/>
          </a:p>
        </p:txBody>
      </p:sp>
      <p:sp>
        <p:nvSpPr>
          <p:cNvPr id="29" name="dot-333"/>
          <p:cNvSpPr/>
          <p:nvPr/>
        </p:nvSpPr>
        <p:spPr>
          <a:xfrm>
            <a:off x="6345936" y="2542032"/>
            <a:ext cx="146304" cy="146304"/>
          </a:xfrm>
          <a:prstGeom prst="ellipse">
            <a:avLst/>
          </a:prstGeom>
          <a:solidFill>
            <a:schemeClr val="accent2"/>
          </a:solidFill>
          <a:ln w="12700">
            <a:solidFill>
              <a:schemeClr val="accent2"/>
            </a:solidFill>
            <a:prstDash val="solid"/>
          </a:ln>
        </p:spPr>
        <p:txBody>
          <a:bodyPr/>
          <a:p/>
        </p:txBody>
      </p:sp>
      <p:sp>
        <p:nvSpPr>
          <p:cNvPr id="30" name="label-334"/>
          <p:cNvSpPr txBox="1"/>
          <p:nvPr/>
        </p:nvSpPr>
        <p:spPr>
          <a:xfrm>
            <a:off x="658368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MongoDB Agent Skills: schema design, query optimizer, MCP setup</a:t>
            </a:r>
            <a:endParaRPr lang="en-US" sz="1150" dirty="0"/>
          </a:p>
        </p:txBody>
      </p:sp>
      <p:sp>
        <p:nvSpPr>
          <p:cNvPr id="31" name="dot-335"/>
          <p:cNvSpPr/>
          <p:nvPr/>
        </p:nvSpPr>
        <p:spPr>
          <a:xfrm>
            <a:off x="6345936" y="3108960"/>
            <a:ext cx="146304" cy="146304"/>
          </a:xfrm>
          <a:prstGeom prst="ellipse">
            <a:avLst/>
          </a:prstGeom>
          <a:solidFill>
            <a:schemeClr val="accent2"/>
          </a:solidFill>
          <a:ln w="12700">
            <a:solidFill>
              <a:schemeClr val="accent2"/>
            </a:solidFill>
            <a:prstDash val="solid"/>
          </a:ln>
        </p:spPr>
        <p:txBody>
          <a:bodyPr/>
          <a:p/>
        </p:txBody>
      </p:sp>
      <p:sp>
        <p:nvSpPr>
          <p:cNvPr id="32" name="label-336"/>
          <p:cNvSpPr txBox="1"/>
          <p:nvPr/>
        </p:nvSpPr>
        <p:spPr>
          <a:xfrm>
            <a:off x="658368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npx skills add mongodb/agent-skills</a:t>
            </a:r>
            <a:endParaRPr lang="en-US" sz="1150" dirty="0"/>
          </a:p>
        </p:txBody>
      </p:sp>
      <p:sp>
        <p:nvSpPr>
          <p:cNvPr id="33" name="dot-337"/>
          <p:cNvSpPr/>
          <p:nvPr/>
        </p:nvSpPr>
        <p:spPr>
          <a:xfrm>
            <a:off x="6345936" y="3675888"/>
            <a:ext cx="146304" cy="146304"/>
          </a:xfrm>
          <a:prstGeom prst="ellipse">
            <a:avLst/>
          </a:prstGeom>
          <a:solidFill>
            <a:schemeClr val="accent2"/>
          </a:solidFill>
          <a:ln w="12700">
            <a:solidFill>
              <a:schemeClr val="accent2"/>
            </a:solidFill>
            <a:prstDash val="solid"/>
          </a:ln>
        </p:spPr>
        <p:txBody>
          <a:bodyPr/>
          <a:p/>
        </p:txBody>
      </p:sp>
      <p:sp>
        <p:nvSpPr>
          <p:cNvPr id="34" name="label-338"/>
          <p:cNvSpPr txBox="1"/>
          <p:nvPr/>
        </p:nvSpPr>
        <p:spPr>
          <a:xfrm>
            <a:off x="658368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Bundled in the Claude, Codex, Cursor and Gemini plugins</a:t>
            </a:r>
            <a:endParaRPr lang="en-US" sz="1150" dirty="0"/>
          </a:p>
        </p:txBody>
      </p:sp>
      <p:pic>
        <p:nvPicPr>
          <p:cNvPr id="35" name="qr-339" descr="preencoded.png">    </p:cNvPr>
          <p:cNvPicPr>
            <a:picLocks noChangeAspect="1"/>
          </p:cNvPicPr>
          <p:nvPr/>
        </p:nvPicPr>
        <p:blipFill>
          <a:blip r:embed="rId3"/>
          <a:stretch>
            <a:fillRect/>
          </a:stretch>
        </p:blipFill>
        <p:spPr>
          <a:xfrm>
            <a:off x="6903720" y="4343400"/>
            <a:ext cx="1143000" cy="1143000"/>
          </a:xfrm>
          <a:prstGeom prst="rect">
            <a:avLst/>
          </a:prstGeom>
        </p:spPr>
      </p:pic>
      <p:sp>
        <p:nvSpPr>
          <p:cNvPr id="36" name="label-340"/>
          <p:cNvSpPr txBox="1"/>
          <p:nvPr/>
        </p:nvSpPr>
        <p:spPr>
          <a:xfrm>
            <a:off x="626364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mongodb.com/docs/agent-skills</a:t>
            </a:r>
            <a:endParaRPr lang="en-US" sz="950" dirty="0"/>
          </a:p>
        </p:txBody>
      </p:sp>
      <p:sp>
        <p:nvSpPr>
          <p:cNvPr id="37" name="box-341"/>
          <p:cNvSpPr txBox="1"/>
          <p:nvPr/>
        </p:nvSpPr>
        <p:spPr>
          <a:xfrm>
            <a:off x="896112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38" name="label-342"/>
          <p:cNvSpPr txBox="1"/>
          <p:nvPr/>
        </p:nvSpPr>
        <p:spPr>
          <a:xfrm>
            <a:off x="916228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Scale</a:t>
            </a:r>
            <a:endParaRPr lang="en-US" sz="2100" dirty="0"/>
          </a:p>
        </p:txBody>
      </p:sp>
      <p:sp>
        <p:nvSpPr>
          <p:cNvPr id="39" name="label-343"/>
          <p:cNvSpPr txBox="1"/>
          <p:nvPr/>
        </p:nvSpPr>
        <p:spPr>
          <a:xfrm>
            <a:off x="916228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Customers and partners</a:t>
            </a:r>
            <a:endParaRPr lang="en-US" sz="1200" dirty="0"/>
          </a:p>
        </p:txBody>
      </p:sp>
      <p:sp>
        <p:nvSpPr>
          <p:cNvPr id="40" name="dot-344"/>
          <p:cNvSpPr/>
          <p:nvPr/>
        </p:nvSpPr>
        <p:spPr>
          <a:xfrm>
            <a:off x="9180576" y="2542032"/>
            <a:ext cx="146304" cy="146304"/>
          </a:xfrm>
          <a:prstGeom prst="ellipse">
            <a:avLst/>
          </a:prstGeom>
          <a:solidFill>
            <a:schemeClr val="accent2"/>
          </a:solidFill>
          <a:ln w="12700">
            <a:solidFill>
              <a:schemeClr val="accent2"/>
            </a:solidFill>
            <a:prstDash val="solid"/>
          </a:ln>
        </p:spPr>
        <p:txBody>
          <a:bodyPr/>
          <a:p/>
        </p:txBody>
      </p:sp>
      <p:sp>
        <p:nvSpPr>
          <p:cNvPr id="41" name="label-345"/>
          <p:cNvSpPr txBox="1"/>
          <p:nvPr/>
        </p:nvSpPr>
        <p:spPr>
          <a:xfrm>
            <a:off x="941832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Your account team</a:t>
            </a:r>
            <a:endParaRPr lang="en-US" sz="1150" dirty="0"/>
          </a:p>
        </p:txBody>
      </p:sp>
      <p:sp>
        <p:nvSpPr>
          <p:cNvPr id="42" name="dot-346"/>
          <p:cNvSpPr/>
          <p:nvPr/>
        </p:nvSpPr>
        <p:spPr>
          <a:xfrm>
            <a:off x="9180576" y="3108960"/>
            <a:ext cx="146304" cy="146304"/>
          </a:xfrm>
          <a:prstGeom prst="ellipse">
            <a:avLst/>
          </a:prstGeom>
          <a:solidFill>
            <a:schemeClr val="accent2"/>
          </a:solidFill>
          <a:ln w="12700">
            <a:solidFill>
              <a:schemeClr val="accent2"/>
            </a:solidFill>
            <a:prstDash val="solid"/>
          </a:ln>
        </p:spPr>
        <p:txBody>
          <a:bodyPr/>
          <a:p/>
        </p:txBody>
      </p:sp>
      <p:sp>
        <p:nvSpPr>
          <p:cNvPr id="43" name="label-347"/>
          <p:cNvSpPr txBox="1"/>
          <p:nvPr/>
        </p:nvSpPr>
        <p:spPr>
          <a:xfrm>
            <a:off x="941832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Or connect with an expert</a:t>
            </a:r>
            <a:endParaRPr lang="en-US" sz="1150" dirty="0"/>
          </a:p>
        </p:txBody>
      </p:sp>
      <p:sp>
        <p:nvSpPr>
          <p:cNvPr id="44" name="dot-348"/>
          <p:cNvSpPr/>
          <p:nvPr/>
        </p:nvSpPr>
        <p:spPr>
          <a:xfrm>
            <a:off x="9180576" y="3675888"/>
            <a:ext cx="146304" cy="146304"/>
          </a:xfrm>
          <a:prstGeom prst="ellipse">
            <a:avLst/>
          </a:prstGeom>
          <a:solidFill>
            <a:schemeClr val="accent2"/>
          </a:solidFill>
          <a:ln w="12700">
            <a:solidFill>
              <a:schemeClr val="accent2"/>
            </a:solidFill>
            <a:prstDash val="solid"/>
          </a:ln>
        </p:spPr>
        <p:txBody>
          <a:bodyPr/>
          <a:p/>
        </p:txBody>
      </p:sp>
      <p:sp>
        <p:nvSpPr>
          <p:cNvPr id="45" name="label-349"/>
          <p:cNvSpPr txBox="1"/>
          <p:nvPr/>
        </p:nvSpPr>
        <p:spPr>
          <a:xfrm>
            <a:off x="941832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Bring the run document: it's the conversation starter</a:t>
            </a:r>
            <a:endParaRPr lang="en-US" sz="1150" dirty="0"/>
          </a:p>
        </p:txBody>
      </p:sp>
      <p:pic>
        <p:nvPicPr>
          <p:cNvPr id="46" name="qr-350" descr="preencoded.png">    </p:cNvPr>
          <p:cNvPicPr>
            <a:picLocks noChangeAspect="1"/>
          </p:cNvPicPr>
          <p:nvPr/>
        </p:nvPicPr>
        <p:blipFill>
          <a:blip r:embed="rId4"/>
          <a:stretch>
            <a:fillRect/>
          </a:stretch>
        </p:blipFill>
        <p:spPr>
          <a:xfrm>
            <a:off x="9738360" y="4343400"/>
            <a:ext cx="1143000" cy="1143000"/>
          </a:xfrm>
          <a:prstGeom prst="rect">
            <a:avLst/>
          </a:prstGeom>
        </p:spPr>
      </p:pic>
      <p:sp>
        <p:nvSpPr>
          <p:cNvPr id="47" name="label-351"/>
          <p:cNvSpPr txBox="1"/>
          <p:nvPr/>
        </p:nvSpPr>
        <p:spPr>
          <a:xfrm>
            <a:off x="909828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mongodb.com/company/contact</a:t>
            </a:r>
            <a:endParaRPr lang="en-US" sz="9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
        <p:nvSpPr>
          <p:cNvPr id="48" name="lead-22"/>
          <p:cNvSpPr txBox="1"/>
          <p:nvPr/>
        </p:nvSpPr>
        <p:spPr>
          <a:xfrm>
            <a:off x="658368" y="1024128"/>
            <a:ext cx="10515600" cy="292608"/>
          </a:xfrm>
          <a:prstGeom prst="rect">
            <a:avLst/>
          </a:prstGeom>
          <a:noFill/>
        </p:spPr>
        <p:txBody>
          <a:bodyPr wrap="square">
            <a:spAutoFit/>
          </a:bodyPr>
          <a:lstStyle/>
          <a:p>
            <a:r>
              <a:rPr sz="1400" b="0" i="0">
                <a:solidFill>
                  <a:srgbClr val="5C6670"/>
                </a:solidFill>
              </a:rPr>
              <a:t>Routed by what you need next, one QR each:</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Questions. I can screen-share the RUBIK Pi demo for any of this.</a:t>
            </a:r>
            <a:endParaRPr lang="en-US" sz="2000" dirty="0"/>
          </a:p>
        </p:txBody>
      </p:sp>
      <p:sp>
        <p:nvSpPr>
          <p:cNvPr id="5" name="card-352"/>
          <p:cNvSpPr/>
          <p:nvPr/>
        </p:nvSpPr>
        <p:spPr>
          <a:xfrm>
            <a:off x="82296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6" name="qr-353" descr="preencoded.png">    </p:cNvPr>
          <p:cNvPicPr>
            <a:picLocks noChangeAspect="1"/>
          </p:cNvPicPr>
          <p:nvPr/>
        </p:nvPicPr>
        <p:blipFill>
          <a:blip r:embed="rId1"/>
          <a:stretch>
            <a:fillRect/>
          </a:stretch>
        </p:blipFill>
        <p:spPr>
          <a:xfrm>
            <a:off x="1005840" y="4754880"/>
            <a:ext cx="1554480" cy="1554480"/>
          </a:xfrm>
          <a:prstGeom prst="rect">
            <a:avLst/>
          </a:prstGeom>
        </p:spPr>
      </p:pic>
      <p:sp>
        <p:nvSpPr>
          <p:cNvPr id="7" name="label-354"/>
          <p:cNvSpPr txBox="1"/>
          <p:nvPr/>
        </p:nvSpPr>
        <p:spPr>
          <a:xfrm>
            <a:off x="265176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Code</a:t>
            </a:r>
            <a:endParaRPr lang="en-US" sz="1400" dirty="0"/>
          </a:p>
        </p:txBody>
      </p:sp>
      <p:sp>
        <p:nvSpPr>
          <p:cNvPr id="8" name="label-355"/>
          <p:cNvSpPr txBox="1"/>
          <p:nvPr/>
        </p:nvSpPr>
        <p:spPr>
          <a:xfrm>
            <a:off x="265176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github.com/eoinjordan</a:t>
            </a:r>
            <a:endParaRPr lang="en-US" sz="1000" dirty="0"/>
          </a:p>
          <a:p>
            <a:pPr algn="l" indent="0" marL="0">
              <a:buNone/>
            </a:pPr>
            <a:r>
              <a:rPr lang="en-US" sz="1000" dirty="0">
                <a:solidFill>
                  <a:srgbClr val="5C6670"/>
                </a:solidFill>
              </a:rPr>
              <a:t>linkedin.com/in/eoin-jordan</a:t>
            </a:r>
            <a:endParaRPr lang="en-US" sz="1000" dirty="0"/>
          </a:p>
        </p:txBody>
      </p:sp>
      <p:sp>
        <p:nvSpPr>
          <p:cNvPr id="9" name="card-356"/>
          <p:cNvSpPr/>
          <p:nvPr/>
        </p:nvSpPr>
        <p:spPr>
          <a:xfrm>
            <a:off x="457200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0" name="qr-357" descr="preencoded.png">    </p:cNvPr>
          <p:cNvPicPr>
            <a:picLocks noChangeAspect="1"/>
          </p:cNvPicPr>
          <p:nvPr/>
        </p:nvPicPr>
        <p:blipFill>
          <a:blip r:embed="rId2"/>
          <a:stretch>
            <a:fillRect/>
          </a:stretch>
        </p:blipFill>
        <p:spPr>
          <a:xfrm>
            <a:off x="4754880" y="4754880"/>
            <a:ext cx="1554480" cy="1554480"/>
          </a:xfrm>
          <a:prstGeom prst="rect">
            <a:avLst/>
          </a:prstGeom>
        </p:spPr>
      </p:pic>
      <p:sp>
        <p:nvSpPr>
          <p:cNvPr id="11" name="label-358"/>
          <p:cNvSpPr txBox="1"/>
          <p:nvPr/>
        </p:nvSpPr>
        <p:spPr>
          <a:xfrm>
            <a:off x="640080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model</a:t>
            </a:r>
            <a:endParaRPr lang="en-US" sz="1400" dirty="0"/>
          </a:p>
        </p:txBody>
      </p:sp>
      <p:sp>
        <p:nvSpPr>
          <p:cNvPr id="12" name="label-359"/>
          <p:cNvSpPr txBox="1"/>
          <p:nvPr/>
        </p:nvSpPr>
        <p:spPr>
          <a:xfrm>
            <a:off x="640080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eoinjordan.github.io/MongoDBSimCity</a:t>
            </a:r>
            <a:endParaRPr lang="en-US" sz="1000" dirty="0"/>
          </a:p>
        </p:txBody>
      </p:sp>
      <p:sp>
        <p:nvSpPr>
          <p:cNvPr id="13" name="card-360"/>
          <p:cNvSpPr/>
          <p:nvPr/>
        </p:nvSpPr>
        <p:spPr>
          <a:xfrm>
            <a:off x="832104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4" name="qr-361" descr="preencoded.png">    </p:cNvPr>
          <p:cNvPicPr>
            <a:picLocks noChangeAspect="1"/>
          </p:cNvPicPr>
          <p:nvPr/>
        </p:nvPicPr>
        <p:blipFill>
          <a:blip r:embed="rId3"/>
          <a:stretch>
            <a:fillRect/>
          </a:stretch>
        </p:blipFill>
        <p:spPr>
          <a:xfrm>
            <a:off x="8503920" y="4754880"/>
            <a:ext cx="1554480" cy="1554480"/>
          </a:xfrm>
          <a:prstGeom prst="rect">
            <a:avLst/>
          </a:prstGeom>
        </p:spPr>
      </p:pic>
      <p:sp>
        <p:nvSpPr>
          <p:cNvPr id="15" name="label-362"/>
          <p:cNvSpPr txBox="1"/>
          <p:nvPr/>
        </p:nvSpPr>
        <p:spPr>
          <a:xfrm>
            <a:off x="1014984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write-up</a:t>
            </a:r>
            <a:endParaRPr lang="en-US" sz="1400" dirty="0"/>
          </a:p>
        </p:txBody>
      </p:sp>
      <p:sp>
        <p:nvSpPr>
          <p:cNvPr id="16" name="label-363"/>
          <p:cNvSpPr txBox="1"/>
          <p:nvPr/>
        </p:nvSpPr>
        <p:spPr>
          <a:xfrm>
            <a:off x="1014984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Lessons learned building an agentic MCP server (Edge Impulse blog)</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 10-minute lab from this talk</a:t>
            </a:r>
            <a:endParaRPr lang="en-US" sz="3200" dirty="0"/>
          </a:p>
        </p:txBody>
      </p:sp>
      <p:sp>
        <p:nvSpPr>
          <p:cNvPr id="4" name="num-36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365"/>
          <p:cNvSpPr txBox="1"/>
          <p:nvPr/>
        </p:nvSpPr>
        <p:spPr>
          <a:xfrm>
            <a:off x="1554480" y="155448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Given a messy agent workflow log, identify the state that must persist.</a:t>
            </a:r>
            <a:endParaRPr lang="en-US" sz="1800" dirty="0"/>
          </a:p>
        </p:txBody>
      </p:sp>
      <p:sp>
        <p:nvSpPr>
          <p:cNvPr id="6" name="num-366"/>
          <p:cNvSpPr txBox="1"/>
          <p:nvPr/>
        </p:nvSpPr>
        <p:spPr>
          <a:xfrm>
            <a:off x="822960" y="24231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label-367"/>
          <p:cNvSpPr txBox="1"/>
          <p:nvPr/>
        </p:nvSpPr>
        <p:spPr>
          <a:xfrm>
            <a:off x="1554480" y="237744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Create a first run document and argue what to embed, reference or log.</a:t>
            </a:r>
            <a:endParaRPr lang="en-US" sz="1800" dirty="0"/>
          </a:p>
        </p:txBody>
      </p:sp>
      <p:sp>
        <p:nvSpPr>
          <p:cNvPr id="8" name="num-368"/>
          <p:cNvSpPr txBox="1"/>
          <p:nvPr/>
        </p:nvSpPr>
        <p:spPr>
          <a:xfrm>
            <a:off x="822960" y="32461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9" name="label-369"/>
          <p:cNvSpPr txBox="1"/>
          <p:nvPr/>
        </p:nvSpPr>
        <p:spPr>
          <a:xfrm>
            <a:off x="1554480" y="320040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Write two query patterns and derive one compound index, then name its write cost.</a:t>
            </a:r>
            <a:endParaRPr lang="en-US" sz="1800" dirty="0"/>
          </a:p>
        </p:txBody>
      </p:sp>
      <p:sp>
        <p:nvSpPr>
          <p:cNvPr id="10" name="num-370"/>
          <p:cNvSpPr txBox="1"/>
          <p:nvPr/>
        </p:nvSpPr>
        <p:spPr>
          <a:xfrm>
            <a:off x="822960" y="40690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1" name="label-371"/>
          <p:cNvSpPr txBox="1"/>
          <p:nvPr/>
        </p:nvSpPr>
        <p:spPr>
          <a:xfrm>
            <a:off x="1554480" y="402336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Replace one polling loop with a change-stream consumer that survives a restart.</a:t>
            </a:r>
            <a:endParaRPr lang="en-US" sz="1800" dirty="0"/>
          </a:p>
        </p:txBody>
      </p:sp>
      <p:sp>
        <p:nvSpPr>
          <p:cNvPr id="12" name="num-372"/>
          <p:cNvSpPr txBox="1"/>
          <p:nvPr/>
        </p:nvSpPr>
        <p:spPr>
          <a:xfrm>
            <a:off x="822960" y="48920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3" name="label-373"/>
          <p:cNvSpPr txBox="1"/>
          <p:nvPr/>
        </p:nvSpPr>
        <p:spPr>
          <a:xfrm>
            <a:off x="1554480" y="484632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Add TTL for temporary session data and keep the audit history.</a:t>
            </a:r>
            <a:endParaRPr lang="en-US" sz="1800" dirty="0"/>
          </a:p>
        </p:txBody>
      </p:sp>
      <p:sp>
        <p:nvSpPr>
          <p:cNvPr id="14" name="label-374"/>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i="1" dirty="0">
                <a:solidFill>
                  <a:schemeClr val="accent1"/>
                </a:solidFill>
              </a:rPr>
              <a:t>Build the design habit on a problem the learner has already felt.</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Agent memory is data: short-term and long-term</a:t>
            </a:r>
            <a:endParaRPr lang="en-US" sz="3200" dirty="0"/>
          </a:p>
        </p:txBody>
      </p:sp>
      <p:pic>
        <p:nvPicPr>
          <p:cNvPr id="4" name="qr-37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376"/>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LangGraph integration</a:t>
            </a:r>
            <a:endParaRPr lang="en-US" sz="900" dirty="0"/>
          </a:p>
        </p:txBody>
      </p:sp>
      <p:sp>
        <p:nvSpPr>
          <p:cNvPr id="6" name="box-377"/>
          <p:cNvSpPr txBox="1"/>
          <p:nvPr/>
        </p:nvSpPr>
        <p:spPr>
          <a:xfrm>
            <a:off x="822960" y="1508760"/>
            <a:ext cx="5029200" cy="3840480"/>
          </a:xfrm>
          <a:prstGeom prst="roundRect">
            <a:avLst>
              <a:gd name="adj" fmla="val 19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7" name="label-378"/>
          <p:cNvSpPr txBox="1"/>
          <p:nvPr/>
        </p:nvSpPr>
        <p:spPr>
          <a:xfrm>
            <a:off x="11430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Short-term</a:t>
            </a:r>
            <a:endParaRPr lang="en-US" sz="2400" dirty="0"/>
          </a:p>
        </p:txBody>
      </p:sp>
      <p:sp>
        <p:nvSpPr>
          <p:cNvPr id="8" name="label-379"/>
          <p:cNvSpPr txBox="1"/>
          <p:nvPr/>
        </p:nvSpPr>
        <p:spPr>
          <a:xfrm>
            <a:off x="11430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State between steps</a:t>
            </a:r>
            <a:endParaRPr lang="en-US" sz="1500" dirty="0"/>
          </a:p>
        </p:txBody>
      </p:sp>
      <p:sp>
        <p:nvSpPr>
          <p:cNvPr id="9" name="label-380"/>
          <p:cNvSpPr txBox="1"/>
          <p:nvPr/>
        </p:nvSpPr>
        <p:spPr>
          <a:xfrm>
            <a:off x="11430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Checkpoint per node transition, keyed by the run. Survives a restart. Pauses for human approval.</a:t>
            </a:r>
            <a:endParaRPr lang="en-US" sz="1500" dirty="0"/>
          </a:p>
        </p:txBody>
      </p:sp>
      <p:sp>
        <p:nvSpPr>
          <p:cNvPr id="10" name="code-381"/>
          <p:cNvSpPr txBox="1"/>
          <p:nvPr/>
        </p:nvSpPr>
        <p:spPr>
          <a:xfrm>
            <a:off x="11430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MongoDBSaver(client)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thread_id = run["runId"]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interrupt_before=["tools"]</a:t>
            </a:r>
            <a:endParaRPr lang="en-US" sz="1200" dirty="0"/>
          </a:p>
        </p:txBody>
      </p:sp>
      <p:sp>
        <p:nvSpPr>
          <p:cNvPr id="11" name="box-382"/>
          <p:cNvSpPr txBox="1"/>
          <p:nvPr/>
        </p:nvSpPr>
        <p:spPr>
          <a:xfrm>
            <a:off x="6309360" y="1508760"/>
            <a:ext cx="5029200" cy="3840480"/>
          </a:xfrm>
          <a:prstGeom prst="roundRect">
            <a:avLst>
              <a:gd name="adj" fmla="val 19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2" name="label-383"/>
          <p:cNvSpPr txBox="1"/>
          <p:nvPr/>
        </p:nvSpPr>
        <p:spPr>
          <a:xfrm>
            <a:off x="66294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Long-term</a:t>
            </a:r>
            <a:endParaRPr lang="en-US" sz="2400" dirty="0"/>
          </a:p>
        </p:txBody>
      </p:sp>
      <p:sp>
        <p:nvSpPr>
          <p:cNvPr id="13" name="label-384"/>
          <p:cNvSpPr txBox="1"/>
          <p:nvPr/>
        </p:nvSpPr>
        <p:spPr>
          <a:xfrm>
            <a:off x="66294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What the agent learned across runs</a:t>
            </a:r>
            <a:endParaRPr lang="en-US" sz="1500" dirty="0"/>
          </a:p>
        </p:txBody>
      </p:sp>
      <p:sp>
        <p:nvSpPr>
          <p:cNvPr id="14" name="label-385"/>
          <p:cNvSpPr txBox="1"/>
          <p:nvPr/>
        </p:nvSpPr>
        <p:spPr>
          <a:xfrm>
            <a:off x="66294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Memories namespaced by project. Looked up by key, or semantically with a vector index.</a:t>
            </a:r>
            <a:endParaRPr lang="en-US" sz="1500" dirty="0"/>
          </a:p>
        </p:txBody>
      </p:sp>
      <p:sp>
        <p:nvSpPr>
          <p:cNvPr id="15" name="code-386"/>
          <p:cNvSpPr txBox="1"/>
          <p:nvPr/>
        </p:nvSpPr>
        <p:spPr>
          <a:xfrm>
            <a:off x="66294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MongoDBStore(...)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namespace = ("project-512482",</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"experiments")</a:t>
            </a:r>
            <a:endParaRPr lang="en-US" sz="1200" dirty="0"/>
          </a:p>
        </p:txBody>
      </p:sp>
      <p:sp>
        <p:nvSpPr>
          <p:cNvPr id="16" name="label-387"/>
          <p:cNvSpPr txBox="1"/>
          <p:nvPr/>
        </p:nvSpPr>
        <p:spPr>
          <a:xfrm>
            <a:off x="822960" y="5623560"/>
            <a:ext cx="10515600" cy="457200"/>
          </a:xfrm>
          <a:prstGeom prst="rect">
            <a:avLst/>
          </a:prstGeom>
          <a:noFill/>
          <a:ln/>
        </p:spPr>
        <p:txBody>
          <a:bodyPr wrap="square" lIns="0" tIns="0" rIns="0" bIns="0" rtlCol="0" anchor="t"/>
          <a:lstStyle/>
          <a:p>
            <a:pPr algn="l" indent="0" marL="0">
              <a:buNone/>
            </a:pPr>
            <a:r>
              <a:rPr lang="en-US" sz="1400" i="1" dirty="0">
                <a:solidFill>
                  <a:schemeClr val="accent1"/>
                </a:solidFill>
              </a:rPr>
              <a:t>The helpers I bolted on in five evenings are what these libraries now do for you, on top of the same collections.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When documents aren't enough</a:t>
            </a:r>
            <a:endParaRPr lang="en-US" sz="3200" dirty="0"/>
          </a:p>
        </p:txBody>
      </p:sp>
      <p:sp>
        <p:nvSpPr>
          <p:cNvPr id="4" name="box-388"/>
          <p:cNvSpPr txBox="1"/>
          <p:nvPr/>
        </p:nvSpPr>
        <p:spPr>
          <a:xfrm>
            <a:off x="640080" y="1463040"/>
            <a:ext cx="3474720" cy="4114800"/>
          </a:xfrm>
          <a:prstGeom prst="roundRect">
            <a:avLst>
              <a:gd name="adj" fmla="val 21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89"/>
          <p:cNvSpPr txBox="1"/>
          <p:nvPr/>
        </p:nvSpPr>
        <p:spPr>
          <a:xfrm>
            <a:off x="91440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Documents</a:t>
            </a:r>
            <a:endParaRPr lang="en-US" sz="2200" dirty="0"/>
          </a:p>
        </p:txBody>
      </p:sp>
      <p:sp>
        <p:nvSpPr>
          <p:cNvPr id="6" name="label-390"/>
          <p:cNvSpPr txBox="1"/>
          <p:nvPr/>
        </p:nvSpPr>
        <p:spPr>
          <a:xfrm>
            <a:off x="91440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Records and workflow state</a:t>
            </a:r>
            <a:endParaRPr lang="en-US" sz="1400" dirty="0"/>
          </a:p>
        </p:txBody>
      </p:sp>
      <p:sp>
        <p:nvSpPr>
          <p:cNvPr id="7" name="label-391"/>
          <p:cNvSpPr txBox="1"/>
          <p:nvPr/>
        </p:nvSpPr>
        <p:spPr>
          <a:xfrm>
            <a:off x="91440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“What is the status of run 1842?”</a:t>
            </a:r>
            <a:endParaRPr lang="en-US" sz="1500" dirty="0"/>
          </a:p>
        </p:txBody>
      </p:sp>
      <p:sp>
        <p:nvSpPr>
          <p:cNvPr id="8" name="label-392"/>
          <p:cNvSpPr txBox="1"/>
          <p:nvPr/>
        </p:nvSpPr>
        <p:spPr>
          <a:xfrm>
            <a:off x="91440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the operational truth: fast, indexed, audited</a:t>
            </a:r>
            <a:endParaRPr lang="en-US" sz="1300" dirty="0"/>
          </a:p>
        </p:txBody>
      </p:sp>
      <p:sp>
        <p:nvSpPr>
          <p:cNvPr id="9" name="box-393"/>
          <p:cNvSpPr txBox="1"/>
          <p:nvPr/>
        </p:nvSpPr>
        <p:spPr>
          <a:xfrm>
            <a:off x="438912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0" name="label-394"/>
          <p:cNvSpPr txBox="1"/>
          <p:nvPr/>
        </p:nvSpPr>
        <p:spPr>
          <a:xfrm>
            <a:off x="466344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Vectors</a:t>
            </a:r>
            <a:endParaRPr lang="en-US" sz="2200" dirty="0"/>
          </a:p>
        </p:txBody>
      </p:sp>
      <p:sp>
        <p:nvSpPr>
          <p:cNvPr id="11" name="label-395"/>
          <p:cNvSpPr txBox="1"/>
          <p:nvPr/>
        </p:nvSpPr>
        <p:spPr>
          <a:xfrm>
            <a:off x="466344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Similarity over messy context</a:t>
            </a:r>
            <a:endParaRPr lang="en-US" sz="1400" dirty="0"/>
          </a:p>
        </p:txBody>
      </p:sp>
      <p:sp>
        <p:nvSpPr>
          <p:cNvPr id="12" name="label-396"/>
          <p:cNvSpPr txBox="1"/>
          <p:nvPr/>
        </p:nvSpPr>
        <p:spPr>
          <a:xfrm>
            <a:off x="466344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failures look like this one?”</a:t>
            </a:r>
            <a:endParaRPr lang="en-US" sz="1500" dirty="0"/>
          </a:p>
        </p:txBody>
      </p:sp>
      <p:sp>
        <p:nvSpPr>
          <p:cNvPr id="13" name="label-397"/>
          <p:cNvSpPr txBox="1"/>
          <p:nvPr/>
        </p:nvSpPr>
        <p:spPr>
          <a:xfrm>
            <a:off x="466344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a query mode beside the record, filtered by it</a:t>
            </a:r>
            <a:endParaRPr lang="en-US" sz="1300" dirty="0"/>
          </a:p>
        </p:txBody>
      </p:sp>
      <p:sp>
        <p:nvSpPr>
          <p:cNvPr id="14" name="box-398"/>
          <p:cNvSpPr txBox="1"/>
          <p:nvPr/>
        </p:nvSpPr>
        <p:spPr>
          <a:xfrm>
            <a:off x="813816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5" name="label-399"/>
          <p:cNvSpPr txBox="1"/>
          <p:nvPr/>
        </p:nvSpPr>
        <p:spPr>
          <a:xfrm>
            <a:off x="841248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Graph / RDF</a:t>
            </a:r>
            <a:endParaRPr lang="en-US" sz="2200" dirty="0"/>
          </a:p>
        </p:txBody>
      </p:sp>
      <p:sp>
        <p:nvSpPr>
          <p:cNvPr id="16" name="label-400"/>
          <p:cNvSpPr txBox="1"/>
          <p:nvPr/>
        </p:nvSpPr>
        <p:spPr>
          <a:xfrm>
            <a:off x="841248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Relationships and inference</a:t>
            </a:r>
            <a:endParaRPr lang="en-US" sz="1400" dirty="0"/>
          </a:p>
        </p:txBody>
      </p:sp>
      <p:sp>
        <p:nvSpPr>
          <p:cNvPr id="17" name="label-401"/>
          <p:cNvSpPr txBox="1"/>
          <p:nvPr/>
        </p:nvSpPr>
        <p:spPr>
          <a:xfrm>
            <a:off x="841248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devices are affected by this dataset change?”</a:t>
            </a:r>
            <a:endParaRPr lang="en-US" sz="1500" dirty="0"/>
          </a:p>
        </p:txBody>
      </p:sp>
      <p:sp>
        <p:nvSpPr>
          <p:cNvPr id="18" name="label-402"/>
          <p:cNvSpPr txBox="1"/>
          <p:nvPr/>
        </p:nvSpPr>
        <p:spPr>
          <a:xfrm>
            <a:off x="841248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$graphLookup for bounded hops; a triple store when you need reasoning</a:t>
            </a:r>
            <a:endParaRPr lang="en-US" sz="1300" dirty="0"/>
          </a:p>
        </p:txBody>
      </p:sp>
      <p:sp>
        <p:nvSpPr>
          <p:cNvPr id="19" name="label-403"/>
          <p:cNvSpPr txBox="1"/>
          <p:nvPr/>
        </p:nvSpPr>
        <p:spPr>
          <a:xfrm>
            <a:off x="640080" y="5806440"/>
            <a:ext cx="10972800" cy="365760"/>
          </a:xfrm>
          <a:prstGeom prst="rect">
            <a:avLst/>
          </a:prstGeom>
          <a:noFill/>
          <a:ln/>
        </p:spPr>
        <p:txBody>
          <a:bodyPr wrap="square" lIns="0" tIns="0" rIns="0" bIns="0" rtlCol="0" anchor="t"/>
          <a:lstStyle/>
          <a:p>
            <a:pPr algn="l" indent="0" marL="0">
              <a:buNone/>
            </a:pPr>
            <a:r>
              <a:rPr lang="en-US" sz="1500" i="1" dirty="0">
                <a:solidFill>
                  <a:schemeClr val="accent1"/>
                </a:solidFill>
              </a:rPr>
              <a:t>Pick the store by the shape of the question, not the shape of the data.</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Answering off-script</a:t>
            </a:r>
            <a:endParaRPr lang="en-US" sz="3200" dirty="0"/>
          </a:p>
        </p:txBody>
      </p:sp>
      <p:sp>
        <p:nvSpPr>
          <p:cNvPr id="4" name="num-40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405"/>
          <p:cNvSpPr txBox="1"/>
          <p:nvPr/>
        </p:nvSpPr>
        <p:spPr>
          <a:xfrm>
            <a:off x="1554480" y="155448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it back</a:t>
            </a:r>
            <a:endParaRPr lang="en-US" sz="2200" dirty="0"/>
          </a:p>
        </p:txBody>
      </p:sp>
      <p:sp>
        <p:nvSpPr>
          <p:cNvPr id="6" name="label-406"/>
          <p:cNvSpPr txBox="1"/>
          <p:nvPr/>
        </p:nvSpPr>
        <p:spPr>
          <a:xfrm>
            <a:off x="1554480" y="202996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one sentence, so you're answering the question they asked</a:t>
            </a:r>
            <a:endParaRPr lang="en-US" sz="1400" dirty="0"/>
          </a:p>
        </p:txBody>
      </p:sp>
      <p:sp>
        <p:nvSpPr>
          <p:cNvPr id="7" name="num-407"/>
          <p:cNvSpPr txBox="1"/>
          <p:nvPr/>
        </p:nvSpPr>
        <p:spPr>
          <a:xfrm>
            <a:off x="822960" y="2651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408"/>
          <p:cNvSpPr txBox="1"/>
          <p:nvPr/>
        </p:nvSpPr>
        <p:spPr>
          <a:xfrm>
            <a:off x="1554480" y="260604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Name the mechanism</a:t>
            </a:r>
            <a:endParaRPr lang="en-US" sz="2200" dirty="0"/>
          </a:p>
        </p:txBody>
      </p:sp>
      <p:sp>
        <p:nvSpPr>
          <p:cNvPr id="9" name="label-409"/>
          <p:cNvSpPr txBox="1"/>
          <p:nvPr/>
        </p:nvSpPr>
        <p:spPr>
          <a:xfrm>
            <a:off x="1554480" y="308152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“this is really a question about where the write cost lands”</a:t>
            </a:r>
            <a:endParaRPr lang="en-US" sz="1400" dirty="0"/>
          </a:p>
        </p:txBody>
      </p:sp>
      <p:sp>
        <p:nvSpPr>
          <p:cNvPr id="10" name="num-410"/>
          <p:cNvSpPr txBox="1"/>
          <p:nvPr/>
        </p:nvSpPr>
        <p:spPr>
          <a:xfrm>
            <a:off x="822960" y="37033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411"/>
          <p:cNvSpPr txBox="1"/>
          <p:nvPr/>
        </p:nvSpPr>
        <p:spPr>
          <a:xfrm>
            <a:off x="1554480" y="365760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Walk it on the example</a:t>
            </a:r>
            <a:endParaRPr lang="en-US" sz="2200" dirty="0"/>
          </a:p>
        </p:txBody>
      </p:sp>
      <p:sp>
        <p:nvSpPr>
          <p:cNvPr id="12" name="label-412"/>
          <p:cNvSpPr txBox="1"/>
          <p:nvPr/>
        </p:nvSpPr>
        <p:spPr>
          <a:xfrm>
            <a:off x="1554480" y="413308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two or three steps: a run, a job, a status change</a:t>
            </a:r>
            <a:endParaRPr lang="en-US" sz="1400" dirty="0"/>
          </a:p>
        </p:txBody>
      </p:sp>
      <p:sp>
        <p:nvSpPr>
          <p:cNvPr id="13" name="num-413"/>
          <p:cNvSpPr txBox="1"/>
          <p:nvPr/>
        </p:nvSpPr>
        <p:spPr>
          <a:xfrm>
            <a:off x="822960" y="47548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label-414"/>
          <p:cNvSpPr txBox="1"/>
          <p:nvPr/>
        </p:nvSpPr>
        <p:spPr>
          <a:xfrm>
            <a:off x="1554480" y="470916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what you'd check</a:t>
            </a:r>
            <a:endParaRPr lang="en-US" sz="2200" dirty="0"/>
          </a:p>
        </p:txBody>
      </p:sp>
      <p:sp>
        <p:nvSpPr>
          <p:cNvPr id="15" name="label-415"/>
          <p:cNvSpPr txBox="1"/>
          <p:nvPr/>
        </p:nvSpPr>
        <p:spPr>
          <a:xfrm>
            <a:off x="1554480" y="518464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what you'd measure before committing, and where you're unsure</a:t>
            </a:r>
            <a:endParaRPr lang="en-US" sz="1400" dirty="0"/>
          </a:p>
        </p:txBody>
      </p:sp>
      <p:sp>
        <p:nvSpPr>
          <p:cNvPr id="16" name="label-416"/>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They are scoring the method, not the answer. Reasoning aloud is the deliverable.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helpers I wrote by hand now ship</a:t>
            </a:r>
            <a:endParaRPr lang="en-US" sz="3200" dirty="0"/>
          </a:p>
        </p:txBody>
      </p:sp>
      <p:sp>
        <p:nvSpPr>
          <p:cNvPr id="4" name="label-417"/>
          <p:cNvSpPr txBox="1"/>
          <p:nvPr/>
        </p:nvSpPr>
        <p:spPr>
          <a:xfrm>
            <a:off x="640080" y="1325880"/>
            <a:ext cx="3657600" cy="365760"/>
          </a:xfrm>
          <a:prstGeom prst="rect">
            <a:avLst/>
          </a:prstGeom>
          <a:noFill/>
          <a:ln/>
        </p:spPr>
        <p:txBody>
          <a:bodyPr wrap="square" lIns="0" tIns="0" rIns="0" bIns="0" rtlCol="0" anchor="t"/>
          <a:lstStyle/>
          <a:p>
            <a:pPr algn="l" indent="0" marL="0">
              <a:buNone/>
            </a:pPr>
            <a:r>
              <a:rPr lang="en-US" sz="1400" b="1" dirty="0">
                <a:solidFill>
                  <a:schemeClr val="tx2"/>
                </a:solidFill>
              </a:rPr>
              <a:t>What I built in five evenings</a:t>
            </a:r>
            <a:endParaRPr lang="en-US" sz="1400" dirty="0"/>
          </a:p>
        </p:txBody>
      </p:sp>
      <p:sp>
        <p:nvSpPr>
          <p:cNvPr id="5" name="label-418"/>
          <p:cNvSpPr txBox="1"/>
          <p:nvPr/>
        </p:nvSpPr>
        <p:spPr>
          <a:xfrm>
            <a:off x="4846320" y="1325880"/>
            <a:ext cx="6400800" cy="365760"/>
          </a:xfrm>
          <a:prstGeom prst="rect">
            <a:avLst/>
          </a:prstGeom>
          <a:noFill/>
          <a:ln/>
        </p:spPr>
        <p:txBody>
          <a:bodyPr wrap="square" lIns="0" tIns="0" rIns="0" bIns="0" rtlCol="0" anchor="t"/>
          <a:lstStyle/>
          <a:p>
            <a:pPr algn="l" indent="0" marL="0">
              <a:buNone/>
            </a:pPr>
            <a:r>
              <a:rPr lang="en-US" sz="1400" b="1" dirty="0">
                <a:solidFill>
                  <a:schemeClr val="accent1"/>
                </a:solidFill>
              </a:rPr>
              <a:t>What MongoDB ships as Agent Skills</a:t>
            </a:r>
            <a:endParaRPr lang="en-US" sz="1400" dirty="0"/>
          </a:p>
        </p:txBody>
      </p:sp>
      <p:sp>
        <p:nvSpPr>
          <p:cNvPr id="6" name="box-419"/>
          <p:cNvSpPr txBox="1"/>
          <p:nvPr/>
        </p:nvSpPr>
        <p:spPr>
          <a:xfrm>
            <a:off x="640080" y="178308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Stub the whole API</a:t>
            </a:r>
            <a:endParaRPr lang="en-US" sz="1600" dirty="0"/>
          </a:p>
        </p:txBody>
      </p:sp>
      <p:sp>
        <p:nvSpPr>
          <p:cNvPr id="7" name="arrow-420"/>
          <p:cNvSpPr/>
          <p:nvPr/>
        </p:nvSpPr>
        <p:spPr>
          <a:xfrm>
            <a:off x="4297680" y="2240280"/>
            <a:ext cx="548640" cy="0"/>
          </a:xfrm>
          <a:prstGeom prst="line">
            <a:avLst/>
          </a:prstGeom>
          <a:noFill/>
          <a:ln w="25400">
            <a:solidFill>
              <a:schemeClr val="accent1"/>
            </a:solidFill>
            <a:prstDash val="solid"/>
            <a:tailEnd type="triangle"/>
          </a:ln>
        </p:spPr>
        <p:txBody>
          <a:bodyPr/>
          <a:p/>
        </p:txBody>
      </p:sp>
      <p:sp>
        <p:nvSpPr>
          <p:cNvPr id="8" name="box-421"/>
          <p:cNvSpPr txBox="1"/>
          <p:nvPr/>
        </p:nvSpPr>
        <p:spPr>
          <a:xfrm>
            <a:off x="4846320" y="178308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MongoDB MCP Server</a:t>
            </a:r>
            <a:endParaRPr lang="en-US" sz="1500" dirty="0"/>
          </a:p>
        </p:txBody>
      </p:sp>
      <p:sp>
        <p:nvSpPr>
          <p:cNvPr id="9" name="label-422"/>
          <p:cNvSpPr txBox="1"/>
          <p:nvPr/>
        </p:nvSpPr>
        <p:spPr>
          <a:xfrm>
            <a:off x="8138160" y="187452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the agent talks to the real database: real schemas, real indexes, no guessing</a:t>
            </a:r>
            <a:endParaRPr lang="en-US" sz="1300" dirty="0"/>
          </a:p>
        </p:txBody>
      </p:sp>
      <p:sp>
        <p:nvSpPr>
          <p:cNvPr id="10" name="box-423"/>
          <p:cNvSpPr txBox="1"/>
          <p:nvPr/>
        </p:nvSpPr>
        <p:spPr>
          <a:xfrm>
            <a:off x="640080" y="297180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Test every tool</a:t>
            </a:r>
            <a:endParaRPr lang="en-US" sz="1600" dirty="0"/>
          </a:p>
        </p:txBody>
      </p:sp>
      <p:sp>
        <p:nvSpPr>
          <p:cNvPr id="11" name="arrow-424"/>
          <p:cNvSpPr/>
          <p:nvPr/>
        </p:nvSpPr>
        <p:spPr>
          <a:xfrm>
            <a:off x="4297680" y="3429000"/>
            <a:ext cx="548640" cy="0"/>
          </a:xfrm>
          <a:prstGeom prst="line">
            <a:avLst/>
          </a:prstGeom>
          <a:noFill/>
          <a:ln w="25400">
            <a:solidFill>
              <a:schemeClr val="accent1"/>
            </a:solidFill>
            <a:prstDash val="solid"/>
            <a:tailEnd type="triangle"/>
          </a:ln>
        </p:spPr>
        <p:txBody>
          <a:bodyPr/>
          <a:p/>
        </p:txBody>
      </p:sp>
      <p:sp>
        <p:nvSpPr>
          <p:cNvPr id="12" name="box-425"/>
          <p:cNvSpPr txBox="1"/>
          <p:nvPr/>
        </p:nvSpPr>
        <p:spPr>
          <a:xfrm>
            <a:off x="4846320" y="297180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Query Optimizer skill</a:t>
            </a:r>
            <a:endParaRPr lang="en-US" sz="1500" dirty="0"/>
          </a:p>
        </p:txBody>
      </p:sp>
      <p:sp>
        <p:nvSpPr>
          <p:cNvPr id="13" name="label-426"/>
          <p:cNvSpPr txBox="1"/>
          <p:nvPr/>
        </p:nvSpPr>
        <p:spPr>
          <a:xfrm>
            <a:off x="8138160" y="306324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checks the index serves the query; finds the equality-sort-range order</a:t>
            </a:r>
            <a:endParaRPr lang="en-US" sz="1300" dirty="0"/>
          </a:p>
        </p:txBody>
      </p:sp>
      <p:sp>
        <p:nvSpPr>
          <p:cNvPr id="14" name="box-427"/>
          <p:cNvSpPr txBox="1"/>
          <p:nvPr/>
        </p:nvSpPr>
        <p:spPr>
          <a:xfrm>
            <a:off x="640080" y="416052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Agent-friendly helpers</a:t>
            </a:r>
            <a:endParaRPr lang="en-US" sz="1600" dirty="0"/>
          </a:p>
        </p:txBody>
      </p:sp>
      <p:sp>
        <p:nvSpPr>
          <p:cNvPr id="15" name="arrow-428"/>
          <p:cNvSpPr/>
          <p:nvPr/>
        </p:nvSpPr>
        <p:spPr>
          <a:xfrm>
            <a:off x="4297680" y="4617720"/>
            <a:ext cx="548640" cy="0"/>
          </a:xfrm>
          <a:prstGeom prst="line">
            <a:avLst/>
          </a:prstGeom>
          <a:noFill/>
          <a:ln w="25400">
            <a:solidFill>
              <a:schemeClr val="accent1"/>
            </a:solidFill>
            <a:prstDash val="solid"/>
            <a:tailEnd type="triangle"/>
          </a:ln>
        </p:spPr>
        <p:txBody>
          <a:bodyPr/>
          <a:p/>
        </p:txBody>
      </p:sp>
      <p:sp>
        <p:nvSpPr>
          <p:cNvPr id="16" name="box-429"/>
          <p:cNvSpPr txBox="1"/>
          <p:nvPr/>
        </p:nvSpPr>
        <p:spPr>
          <a:xfrm>
            <a:off x="4846320" y="416052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Schema Design + NL Querying skills</a:t>
            </a:r>
            <a:endParaRPr lang="en-US" sz="1500" dirty="0"/>
          </a:p>
        </p:txBody>
      </p:sp>
      <p:sp>
        <p:nvSpPr>
          <p:cNvPr id="17" name="label-430"/>
          <p:cNvSpPr txBox="1"/>
          <p:nvPr/>
        </p:nvSpPr>
        <p:spPr>
          <a:xfrm>
            <a:off x="8138160" y="425196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embed vs reference, validation rules, natural language to aggregation</a:t>
            </a:r>
            <a:endParaRPr lang="en-US" sz="1300" dirty="0"/>
          </a:p>
        </p:txBody>
      </p:sp>
      <p:sp>
        <p:nvSpPr>
          <p:cNvPr id="18" name="code-431"/>
          <p:cNvSpPr txBox="1"/>
          <p:nvPr/>
        </p:nvSpPr>
        <p:spPr>
          <a:xfrm>
            <a:off x="640080" y="5440680"/>
            <a:ext cx="5486400" cy="685800"/>
          </a:xfrm>
          <a:prstGeom prst="roundRect">
            <a:avLst>
              <a:gd name="adj" fmla="val 10667"/>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npx skills add mongodb/agent-skills   ·   /schema-design   /query-optimizer</a:t>
            </a:r>
            <a:endParaRPr lang="en-US" sz="1200" dirty="0"/>
          </a:p>
        </p:txBody>
      </p:sp>
      <p:sp>
        <p:nvSpPr>
          <p:cNvPr id="19" name="label-432"/>
          <p:cNvSpPr txBox="1"/>
          <p:nvPr/>
        </p:nvSpPr>
        <p:spPr>
          <a:xfrm>
            <a:off x="6309360" y="5440680"/>
            <a:ext cx="5303520" cy="731520"/>
          </a:xfrm>
          <a:prstGeom prst="rect">
            <a:avLst/>
          </a:prstGeom>
          <a:noFill/>
          <a:ln/>
        </p:spPr>
        <p:txBody>
          <a:bodyPr wrap="square" lIns="0" tIns="0" rIns="0" bIns="0" rtlCol="0" anchor="t"/>
          <a:lstStyle/>
          <a:p>
            <a:pPr algn="l" indent="0" marL="0">
              <a:buNone/>
            </a:pPr>
            <a:r>
              <a:rPr lang="en-US" sz="1300" i="1" dirty="0">
                <a:solidFill>
                  <a:schemeClr val="accent1"/>
                </a:solidFill>
              </a:rPr>
              <a:t>Skills are the curriculum, written for the agent. Bundled with the MCP Server in the Claude, Codex, Cursor and Gemini plugins.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Likely questions</a:t>
            </a:r>
            <a:endParaRPr lang="en-US" sz="3200" dirty="0"/>
          </a:p>
        </p:txBody>
      </p:sp>
      <p:sp>
        <p:nvSpPr>
          <p:cNvPr id="4" name="label-433"/>
          <p:cNvSpPr txBox="1"/>
          <p:nvPr/>
        </p:nvSpPr>
        <p:spPr>
          <a:xfrm>
            <a:off x="822960" y="14630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Schema</a:t>
            </a:r>
            <a:endParaRPr lang="en-US" sz="1600" dirty="0"/>
          </a:p>
        </p:txBody>
      </p:sp>
      <p:sp>
        <p:nvSpPr>
          <p:cNvPr id="5" name="label-434"/>
          <p:cNvSpPr txBox="1"/>
          <p:nvPr/>
        </p:nvSpPr>
        <p:spPr>
          <a:xfrm>
            <a:off x="2926080" y="14630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if jobs grow without bound? When would you split runs / jobs / events? The 16 MB limit and the subset pattern.</a:t>
            </a:r>
            <a:endParaRPr lang="en-US" sz="1400" dirty="0"/>
          </a:p>
        </p:txBody>
      </p:sp>
      <p:sp>
        <p:nvSpPr>
          <p:cNvPr id="6" name="label-435"/>
          <p:cNvSpPr txBox="1"/>
          <p:nvPr/>
        </p:nvSpPr>
        <p:spPr>
          <a:xfrm>
            <a:off x="822960" y="224028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Indexing</a:t>
            </a:r>
            <a:endParaRPr lang="en-US" sz="1600" dirty="0"/>
          </a:p>
        </p:txBody>
      </p:sp>
      <p:sp>
        <p:nvSpPr>
          <p:cNvPr id="7" name="label-436"/>
          <p:cNvSpPr txBox="1"/>
          <p:nvPr/>
        </p:nvSpPr>
        <p:spPr>
          <a:xfrm>
            <a:off x="2926080" y="224028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Why this compound order? What write cost is acceptable for a status field that changes every few seconds? Covered queries.</a:t>
            </a:r>
            <a:endParaRPr lang="en-US" sz="1400" dirty="0"/>
          </a:p>
        </p:txBody>
      </p:sp>
      <p:sp>
        <p:nvSpPr>
          <p:cNvPr id="8" name="label-437"/>
          <p:cNvSpPr txBox="1"/>
          <p:nvPr/>
        </p:nvSpPr>
        <p:spPr>
          <a:xfrm>
            <a:off x="822960" y="301752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Change streams</a:t>
            </a:r>
            <a:endParaRPr lang="en-US" sz="1600" dirty="0"/>
          </a:p>
        </p:txBody>
      </p:sp>
      <p:sp>
        <p:nvSpPr>
          <p:cNvPr id="9" name="label-438"/>
          <p:cNvSpPr txBox="1"/>
          <p:nvPr/>
        </p:nvSpPr>
        <p:spPr>
          <a:xfrm>
            <a:off x="2926080" y="301752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happens when the consumer is down? Resume tokens, at-least-once delivery, idempotent handlers.</a:t>
            </a:r>
            <a:endParaRPr lang="en-US" sz="1400" dirty="0"/>
          </a:p>
        </p:txBody>
      </p:sp>
      <p:sp>
        <p:nvSpPr>
          <p:cNvPr id="10" name="label-439"/>
          <p:cNvSpPr txBox="1"/>
          <p:nvPr/>
        </p:nvSpPr>
        <p:spPr>
          <a:xfrm>
            <a:off x="822960" y="379476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Lifecycle</a:t>
            </a:r>
            <a:endParaRPr lang="en-US" sz="1600" dirty="0"/>
          </a:p>
        </p:txBody>
      </p:sp>
      <p:sp>
        <p:nvSpPr>
          <p:cNvPr id="11" name="label-440"/>
          <p:cNvSpPr txBox="1"/>
          <p:nvPr/>
        </p:nvSpPr>
        <p:spPr>
          <a:xfrm>
            <a:off x="2926080" y="379476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TTL runs roughly once a minute: what does that mean for correctness? What never gets a TTL?</a:t>
            </a:r>
            <a:endParaRPr lang="en-US" sz="1400" dirty="0"/>
          </a:p>
        </p:txBody>
      </p:sp>
      <p:sp>
        <p:nvSpPr>
          <p:cNvPr id="12" name="label-441"/>
          <p:cNvSpPr txBox="1"/>
          <p:nvPr/>
        </p:nvSpPr>
        <p:spPr>
          <a:xfrm>
            <a:off x="822960" y="457200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Vectors</a:t>
            </a:r>
            <a:endParaRPr lang="en-US" sz="1600" dirty="0"/>
          </a:p>
        </p:txBody>
      </p:sp>
      <p:sp>
        <p:nvSpPr>
          <p:cNvPr id="13" name="label-442"/>
          <p:cNvSpPr txBox="1"/>
          <p:nvPr/>
        </p:nvSpPr>
        <p:spPr>
          <a:xfrm>
            <a:off x="2926080" y="457200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to embed, what to filter on metadata, how to evaluate retrieval. Why not a separate vector store?</a:t>
            </a:r>
            <a:endParaRPr lang="en-US" sz="1400" dirty="0"/>
          </a:p>
        </p:txBody>
      </p:sp>
      <p:sp>
        <p:nvSpPr>
          <p:cNvPr id="14" name="label-443"/>
          <p:cNvSpPr txBox="1"/>
          <p:nvPr/>
        </p:nvSpPr>
        <p:spPr>
          <a:xfrm>
            <a:off x="822960" y="53492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Safety</a:t>
            </a:r>
            <a:endParaRPr lang="en-US" sz="1600" dirty="0"/>
          </a:p>
        </p:txBody>
      </p:sp>
      <p:sp>
        <p:nvSpPr>
          <p:cNvPr id="15" name="label-444"/>
          <p:cNvSpPr txBox="1"/>
          <p:nvPr/>
        </p:nvSpPr>
        <p:spPr>
          <a:xfrm>
            <a:off x="2926080" y="53492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How to represent approvals, scopes and destructive actions. Transactions for the approval step.</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runs outgrow one node: sharding</a:t>
            </a:r>
            <a:endParaRPr lang="en-US" sz="3200" dirty="0"/>
          </a:p>
        </p:txBody>
      </p:sp>
      <p:sp>
        <p:nvSpPr>
          <p:cNvPr id="4" name="box-445"/>
          <p:cNvSpPr txBox="1"/>
          <p:nvPr/>
        </p:nvSpPr>
        <p:spPr>
          <a:xfrm>
            <a:off x="822960" y="146304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runId</a:t>
            </a:r>
            <a:endParaRPr lang="en-US" sz="1400" dirty="0"/>
          </a:p>
        </p:txBody>
      </p:sp>
      <p:sp>
        <p:nvSpPr>
          <p:cNvPr id="5" name="label-446"/>
          <p:cNvSpPr txBox="1"/>
          <p:nvPr/>
        </p:nvSpPr>
        <p:spPr>
          <a:xfrm>
            <a:off x="4023360" y="146304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Unique, spreads evenly, but every project query becomes scatter-gather. Wrong key for our questions.</a:t>
            </a:r>
            <a:endParaRPr lang="en-US" sz="1400" dirty="0"/>
          </a:p>
        </p:txBody>
      </p:sp>
      <p:sp>
        <p:nvSpPr>
          <p:cNvPr id="6" name="box-447"/>
          <p:cNvSpPr txBox="1"/>
          <p:nvPr/>
        </p:nvSpPr>
        <p:spPr>
          <a:xfrm>
            <a:off x="822960" y="233172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projectId</a:t>
            </a:r>
            <a:endParaRPr lang="en-US" sz="1400" dirty="0"/>
          </a:p>
        </p:txBody>
      </p:sp>
      <p:sp>
        <p:nvSpPr>
          <p:cNvPr id="7" name="label-448"/>
          <p:cNvSpPr txBox="1"/>
          <p:nvPr/>
        </p:nvSpPr>
        <p:spPr>
          <a:xfrm>
            <a:off x="4023360" y="233172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Targets both hot queries. Risk: one very busy project is a hot shard.</a:t>
            </a:r>
            <a:endParaRPr lang="en-US" sz="1400" dirty="0"/>
          </a:p>
        </p:txBody>
      </p:sp>
      <p:sp>
        <p:nvSpPr>
          <p:cNvPr id="8" name="box-449"/>
          <p:cNvSpPr txBox="1"/>
          <p:nvPr/>
        </p:nvSpPr>
        <p:spPr>
          <a:xfrm>
            <a:off x="822960" y="320040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orgId</a:t>
            </a:r>
            <a:endParaRPr lang="en-US" sz="1400" dirty="0"/>
          </a:p>
        </p:txBody>
      </p:sp>
      <p:sp>
        <p:nvSpPr>
          <p:cNvPr id="9" name="label-450"/>
          <p:cNvSpPr txBox="1"/>
          <p:nvPr/>
        </p:nvSpPr>
        <p:spPr>
          <a:xfrm>
            <a:off x="4023360" y="320040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Even coarser. Fine for isolation, worse for balance.</a:t>
            </a:r>
            <a:endParaRPr lang="en-US" sz="1400" dirty="0"/>
          </a:p>
        </p:txBody>
      </p:sp>
      <p:sp>
        <p:nvSpPr>
          <p:cNvPr id="10" name="box-451"/>
          <p:cNvSpPr txBox="1"/>
          <p:nvPr/>
        </p:nvSpPr>
        <p:spPr>
          <a:xfrm>
            <a:off x="822960" y="4069080"/>
            <a:ext cx="2926080" cy="640080"/>
          </a:xfrm>
          <a:prstGeom prst="roundRect">
            <a:avLst>
              <a:gd name="adj" fmla="val 11429"/>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 projectId, createdAt }</a:t>
            </a:r>
            <a:endParaRPr lang="en-US" sz="1400" dirty="0"/>
          </a:p>
        </p:txBody>
      </p:sp>
      <p:sp>
        <p:nvSpPr>
          <p:cNvPr id="11" name="label-452"/>
          <p:cNvSpPr txBox="1"/>
          <p:nvPr/>
        </p:nvSpPr>
        <p:spPr>
          <a:xfrm>
            <a:off x="4023360" y="406908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Targeted and time-ordered within a project; the usual compromise for append-heavy workflows.</a:t>
            </a:r>
            <a:endParaRPr lang="en-US" sz="1400" dirty="0"/>
          </a:p>
        </p:txBody>
      </p:sp>
      <p:sp>
        <p:nvSpPr>
          <p:cNvPr id="12" name="box-453"/>
          <p:cNvSpPr txBox="1"/>
          <p:nvPr/>
        </p:nvSpPr>
        <p:spPr>
          <a:xfrm>
            <a:off x="822960" y="493776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hashed projectId</a:t>
            </a:r>
            <a:endParaRPr lang="en-US" sz="1400" dirty="0"/>
          </a:p>
        </p:txBody>
      </p:sp>
      <p:sp>
        <p:nvSpPr>
          <p:cNvPr id="13" name="label-454"/>
          <p:cNvSpPr txBox="1"/>
          <p:nvPr/>
        </p:nvSpPr>
        <p:spPr>
          <a:xfrm>
            <a:off x="4023360" y="493776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Best spread, loses range-by-time. Choose when balance matters more than recency scans.</a:t>
            </a:r>
            <a:endParaRPr lang="en-US" sz="1400" dirty="0"/>
          </a:p>
        </p:txBody>
      </p:sp>
      <p:sp>
        <p:nvSpPr>
          <p:cNvPr id="14" name="label-455"/>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Shard by what you query by. Change streams still work across shards; ordering is per-shard.</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server is doing underneath</a:t>
            </a:r>
            <a:endParaRPr lang="en-US" sz="3200" dirty="0"/>
          </a:p>
        </p:txBody>
      </p:sp>
      <p:sp>
        <p:nvSpPr>
          <p:cNvPr id="21" name="label-473"/>
          <p:cNvSpPr txBox="1"/>
          <p:nvPr/>
        </p:nvSpPr>
        <p:spPr>
          <a:xfrm>
            <a:off x="640080" y="3931920"/>
            <a:ext cx="10972800" cy="457200"/>
          </a:xfrm>
          <a:prstGeom prst="rect">
            <a:avLst/>
          </a:prstGeom>
          <a:noFill/>
          <a:ln/>
        </p:spPr>
        <p:txBody>
          <a:bodyPr wrap="square" lIns="0" tIns="0" rIns="0" bIns="0" rtlCol="0" anchor="t"/>
          <a:lstStyle/>
          <a:p>
            <a:pPr algn="l" indent="0" marL="0">
              <a:buNone/>
            </a:pPr>
            <a:r>
              <a:rPr lang="en-US" sz="1800" b="1" dirty="0">
                <a:solidFill>
                  <a:schemeClr val="tx1"/>
                </a:solidFill>
              </a:rPr>
              <a:t>Why it matters for the agent</a:t>
            </a:r>
            <a:endParaRPr lang="en-US" sz="1800" dirty="0"/>
          </a:p>
        </p:txBody>
      </p:sp>
      <p:sp>
        <p:nvSpPr>
          <p:cNvPr id="22" name="label-474"/>
          <p:cNvSpPr txBox="1"/>
          <p:nvPr/>
        </p:nvSpPr>
        <p:spPr>
          <a:xfrm>
            <a:off x="640080" y="4434840"/>
            <a:ext cx="10972800" cy="128016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2"/>
                </a:solidFill>
              </a:rPr>
              <a:t>A status write every few seconds dirties a page every few seconds. Unbounded arrays make that page large and the eviction (80% target, 95% trigger) more expensive.</a:t>
            </a:r>
            <a:endParaRPr lang="en-US" sz="1400" dirty="0"/>
          </a:p>
          <a:p>
            <a:pPr algn="l" marL="342900" indent="-342900">
              <a:spcAft>
                <a:spcPts val="600"/>
              </a:spcAft>
              <a:buSzPct val="100000"/>
              <a:buChar char="•"/>
            </a:pPr>
            <a:r>
              <a:rPr lang="en-US" sz="1400" dirty="0">
                <a:solidFill>
                  <a:schemeClr val="tx2"/>
                </a:solidFill>
              </a:rPr>
              <a:t>Every index is pages in the same cache as the documents, so the write cost on the index slide is cache pressure, not just disk.</a:t>
            </a:r>
            <a:endParaRPr lang="en-US" sz="1400" dirty="0"/>
          </a:p>
          <a:p>
            <a:pPr algn="l" marL="342900" indent="-342900">
              <a:spcAft>
                <a:spcPts val="600"/>
              </a:spcAft>
              <a:buSzPct val="100000"/>
              <a:buChar char="•"/>
            </a:pPr>
            <a:r>
              <a:rPr lang="en-US" sz="1400" dirty="0">
                <a:solidFill>
                  <a:schemeClr val="tx2"/>
                </a:solidFill>
              </a:rPr>
              <a:t>Change streams read the oplog, so the consumer is never on the write path.</a:t>
            </a:r>
            <a:endParaRPr lang="en-US" sz="1400" dirty="0"/>
          </a:p>
        </p:txBody>
      </p:sp>
      <p:sp>
        <p:nvSpPr>
          <p:cNvPr id="23" name="label-475"/>
          <p:cNvSpPr txBox="1"/>
          <p:nvPr/>
        </p:nvSpPr>
        <p:spPr>
          <a:xfrm>
            <a:off x="640080" y="5852160"/>
            <a:ext cx="10515600" cy="365760"/>
          </a:xfrm>
          <a:prstGeom prst="rect">
            <a:avLst/>
          </a:prstGeom>
          <a:noFill/>
          <a:ln/>
        </p:spPr>
        <p:txBody>
          <a:bodyPr wrap="square" lIns="0" tIns="0" rIns="0" bIns="0" rtlCol="0" anchor="t"/>
          <a:lstStyle/>
          <a:p>
            <a:pPr algn="l" indent="0" marL="0">
              <a:buNone/>
            </a:pPr>
            <a:r>
              <a:rPr lang="en-US" sz="1200" i="1" dirty="0">
                <a:solidFill>
                  <a:schemeClr val="accent1"/>
                </a:solidFill>
              </a:rPr>
              <a:t>Live view: eoinjordan.github.io/MongoDBSimCity: illustrative numbers, documented thresholds.</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pic>
        <p:nvPicPr>
          <p:cNvPr id="26" name="drawio-s31-server" descr="image.png"/>
          <p:cNvPicPr>
            <a:picLocks noChangeAspect="1"/>
          </p:cNvPicPr>
          <p:nvPr/>
        </p:nvPicPr>
        <p:blipFill>
          <a:blip r:embed="rId3"/>
          <a:stretch>
            <a:fillRect/>
          </a:stretch>
        </p:blipFill>
        <p:spPr>
          <a:xfrm>
            <a:off x="640080" y="1325880"/>
            <a:ext cx="10972800" cy="11464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database side, live (MongoDBSimCity)</a:t>
            </a:r>
            <a:endParaRPr lang="en-US" sz="3200" dirty="0"/>
          </a:p>
        </p:txBody>
      </p:sp>
      <p:pic>
        <p:nvPicPr>
          <p:cNvPr id="3" name="Picture 2" descr="simcity-vector-rag.png"/>
          <p:cNvPicPr>
            <a:picLocks noChangeAspect="1"/>
          </p:cNvPicPr>
          <p:nvPr/>
        </p:nvPicPr>
        <p:blipFill>
          <a:blip r:embed="rId2"/>
          <a:stretch>
            <a:fillRect/>
          </a:stretch>
        </p:blipFill>
        <p:spPr>
          <a:xfrm>
            <a:off x="1615440" y="1280160"/>
            <a:ext cx="8961120" cy="5040630"/>
          </a:xfrm>
          <a:prstGeom prst="rect">
            <a:avLst/>
          </a:prstGeom>
        </p:spPr>
      </p:pic>
      <p:sp>
        <p:nvSpPr>
          <p:cNvPr id="5" name="capture-marker"/>
          <p:cNvSpPr txBox="1"/>
          <p:nvPr/>
        </p:nvSpPr>
        <p:spPr>
          <a:xfrm>
            <a:off x="640080" y="6430518"/>
            <a:ext cx="10911840" cy="548640"/>
          </a:xfrm>
          <a:prstGeom prst="rect">
            <a:avLst/>
          </a:prstGeom>
          <a:noFill/>
        </p:spPr>
        <p:txBody>
          <a:bodyPr wrap="square">
            <a:spAutoFit/>
          </a:bodyPr>
          <a:lstStyle/>
          <a:p>
            <a:r>
              <a:rPr sz="1300"/>
              <a:t>eoinjordan.github.io/MongoDBSimCity: a mongod as a city. Applications and agents on the left, the query pipeline, the WiredTiger cache, disk and journal, the oplog where change streams read, and mongot for search and vector. Workload: vector search, agent RAG. Illustrative model, not benchmarks.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Sources</a:t>
            </a:r>
            <a:endParaRPr lang="en-US" sz="3200" dirty="0"/>
          </a:p>
        </p:txBody>
      </p:sp>
      <p:sp>
        <p:nvSpPr>
          <p:cNvPr id="4" name="label-476"/>
          <p:cNvSpPr txBox="1"/>
          <p:nvPr/>
        </p:nvSpPr>
        <p:spPr>
          <a:xfrm>
            <a:off x="822960" y="141732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Lessons learned building an agentic MCP server</a:t>
            </a:r>
            <a:endParaRPr lang="en-US" sz="1300" dirty="0"/>
          </a:p>
        </p:txBody>
      </p:sp>
      <p:sp>
        <p:nvSpPr>
          <p:cNvPr id="5" name="label-477"/>
          <p:cNvSpPr txBox="1"/>
          <p:nvPr/>
        </p:nvSpPr>
        <p:spPr>
          <a:xfrm>
            <a:off x="5486400" y="141732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edgeimpulse.com/blog/lessons-learned-from-building-an-agentic-ai-mcp-server-for-edge-impulse/</a:t>
            </a:r>
            <a:endParaRPr lang="en-US" sz="1150" dirty="0"/>
          </a:p>
        </p:txBody>
      </p:sp>
      <p:sp>
        <p:nvSpPr>
          <p:cNvPr id="6" name="label-478"/>
          <p:cNvSpPr txBox="1"/>
          <p:nvPr/>
        </p:nvSpPr>
        <p:spPr>
          <a:xfrm>
            <a:off x="822960" y="189280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data modelling</a:t>
            </a:r>
            <a:endParaRPr lang="en-US" sz="1300" dirty="0"/>
          </a:p>
        </p:txBody>
      </p:sp>
      <p:sp>
        <p:nvSpPr>
          <p:cNvPr id="7" name="label-479"/>
          <p:cNvSpPr txBox="1"/>
          <p:nvPr/>
        </p:nvSpPr>
        <p:spPr>
          <a:xfrm>
            <a:off x="5486400" y="189280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mongodb.com/docs/manual/data-modeling/</a:t>
            </a:r>
            <a:endParaRPr lang="en-US" sz="1150" dirty="0"/>
          </a:p>
        </p:txBody>
      </p:sp>
      <p:sp>
        <p:nvSpPr>
          <p:cNvPr id="8" name="label-480"/>
          <p:cNvSpPr txBox="1"/>
          <p:nvPr/>
        </p:nvSpPr>
        <p:spPr>
          <a:xfrm>
            <a:off x="822960" y="236829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Change streams</a:t>
            </a:r>
            <a:endParaRPr lang="en-US" sz="1300" dirty="0"/>
          </a:p>
        </p:txBody>
      </p:sp>
      <p:sp>
        <p:nvSpPr>
          <p:cNvPr id="9" name="label-481"/>
          <p:cNvSpPr txBox="1"/>
          <p:nvPr/>
        </p:nvSpPr>
        <p:spPr>
          <a:xfrm>
            <a:off x="5486400" y="236829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mongodb.com/docs/manual/changeStreams/</a:t>
            </a:r>
            <a:endParaRPr lang="en-US" sz="1150" dirty="0"/>
          </a:p>
        </p:txBody>
      </p:sp>
      <p:sp>
        <p:nvSpPr>
          <p:cNvPr id="10" name="label-482"/>
          <p:cNvSpPr txBox="1"/>
          <p:nvPr/>
        </p:nvSpPr>
        <p:spPr>
          <a:xfrm>
            <a:off x="822960" y="284378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TTL indexes</a:t>
            </a:r>
            <a:endParaRPr lang="en-US" sz="1300" dirty="0"/>
          </a:p>
        </p:txBody>
      </p:sp>
      <p:sp>
        <p:nvSpPr>
          <p:cNvPr id="11" name="label-483"/>
          <p:cNvSpPr txBox="1"/>
          <p:nvPr/>
        </p:nvSpPr>
        <p:spPr>
          <a:xfrm>
            <a:off x="5486400" y="284378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mongodb.com/docs/manual/core/index-ttl/</a:t>
            </a:r>
            <a:endParaRPr lang="en-US" sz="1150" dirty="0"/>
          </a:p>
        </p:txBody>
      </p:sp>
      <p:sp>
        <p:nvSpPr>
          <p:cNvPr id="12" name="label-484"/>
          <p:cNvSpPr txBox="1"/>
          <p:nvPr/>
        </p:nvSpPr>
        <p:spPr>
          <a:xfrm>
            <a:off x="822960" y="331927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Atlas Vector Search overview</a:t>
            </a:r>
            <a:endParaRPr lang="en-US" sz="1300" dirty="0"/>
          </a:p>
        </p:txBody>
      </p:sp>
      <p:sp>
        <p:nvSpPr>
          <p:cNvPr id="13" name="label-485"/>
          <p:cNvSpPr txBox="1"/>
          <p:nvPr/>
        </p:nvSpPr>
        <p:spPr>
          <a:xfrm>
            <a:off x="5486400" y="331927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mongodb.com/docs/atlas/atlas-vector-search/vector-search-overview/</a:t>
            </a:r>
            <a:endParaRPr lang="en-US" sz="1150" dirty="0"/>
          </a:p>
        </p:txBody>
      </p:sp>
      <p:sp>
        <p:nvSpPr>
          <p:cNvPr id="14" name="label-486"/>
          <p:cNvSpPr txBox="1"/>
          <p:nvPr/>
        </p:nvSpPr>
        <p:spPr>
          <a:xfrm>
            <a:off x="822960" y="379476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LangGraph + MongoDB (checkpointer, store)</a:t>
            </a:r>
            <a:endParaRPr lang="en-US" sz="1300" dirty="0"/>
          </a:p>
        </p:txBody>
      </p:sp>
      <p:sp>
        <p:nvSpPr>
          <p:cNvPr id="15" name="label-487"/>
          <p:cNvSpPr txBox="1"/>
          <p:nvPr/>
        </p:nvSpPr>
        <p:spPr>
          <a:xfrm>
            <a:off x="5486400" y="379476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mongodb.com/docs/atlas/ai-integrations/langgraph/</a:t>
            </a:r>
            <a:endParaRPr lang="en-US" sz="1150" dirty="0"/>
          </a:p>
        </p:txBody>
      </p:sp>
      <p:sp>
        <p:nvSpPr>
          <p:cNvPr id="16" name="label-488"/>
          <p:cNvSpPr txBox="1"/>
          <p:nvPr/>
        </p:nvSpPr>
        <p:spPr>
          <a:xfrm>
            <a:off x="822960" y="427024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IDC: Your database just became your AI control point</a:t>
            </a:r>
            <a:endParaRPr lang="en-US" sz="1300" dirty="0"/>
          </a:p>
        </p:txBody>
      </p:sp>
      <p:sp>
        <p:nvSpPr>
          <p:cNvPr id="17" name="label-489"/>
          <p:cNvSpPr txBox="1"/>
          <p:nvPr/>
        </p:nvSpPr>
        <p:spPr>
          <a:xfrm>
            <a:off x="5486400" y="427024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mongodb.com/company/blog/news/your-database-just-became-your-ai-control-point</a:t>
            </a:r>
            <a:endParaRPr lang="en-US" sz="1150" dirty="0"/>
          </a:p>
        </p:txBody>
      </p:sp>
      <p:sp>
        <p:nvSpPr>
          <p:cNvPr id="18" name="label-490"/>
          <p:cNvSpPr txBox="1"/>
          <p:nvPr/>
        </p:nvSpPr>
        <p:spPr>
          <a:xfrm>
            <a:off x="822960" y="474573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Agent Skills</a:t>
            </a:r>
            <a:endParaRPr lang="en-US" sz="1300" dirty="0"/>
          </a:p>
        </p:txBody>
      </p:sp>
      <p:sp>
        <p:nvSpPr>
          <p:cNvPr id="19" name="label-491"/>
          <p:cNvSpPr txBox="1"/>
          <p:nvPr/>
        </p:nvSpPr>
        <p:spPr>
          <a:xfrm>
            <a:off x="5486400" y="474573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mongodb.com/docs/agent-skills/ · github.com/mongodb/agent-skills</a:t>
            </a:r>
            <a:endParaRPr lang="en-US" sz="1150" dirty="0"/>
          </a:p>
        </p:txBody>
      </p:sp>
      <p:sp>
        <p:nvSpPr>
          <p:cNvPr id="20" name="label-492"/>
          <p:cNvSpPr txBox="1"/>
          <p:nvPr/>
        </p:nvSpPr>
        <p:spPr>
          <a:xfrm>
            <a:off x="822960" y="522122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From Systems of Record to Agentic Systems of Action (Packt, 2026)</a:t>
            </a:r>
            <a:endParaRPr lang="en-US" sz="1300" dirty="0"/>
          </a:p>
        </p:txBody>
      </p:sp>
      <p:sp>
        <p:nvSpPr>
          <p:cNvPr id="21" name="label-493"/>
          <p:cNvSpPr txBox="1"/>
          <p:nvPr/>
        </p:nvSpPr>
        <p:spPr>
          <a:xfrm>
            <a:off x="5486400" y="522122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mongodb.com/books</a:t>
            </a:r>
            <a:endParaRPr lang="en-US" sz="1150" dirty="0"/>
          </a:p>
        </p:txBody>
      </p:sp>
      <p:sp>
        <p:nvSpPr>
          <p:cNvPr id="22" name="label-494"/>
          <p:cNvSpPr txBox="1"/>
          <p:nvPr/>
        </p:nvSpPr>
        <p:spPr>
          <a:xfrm>
            <a:off x="822960" y="569671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GB Studio MCP server (skills vs tools, education)</a:t>
            </a:r>
            <a:endParaRPr lang="en-US" sz="1300" dirty="0"/>
          </a:p>
        </p:txBody>
      </p:sp>
      <p:sp>
        <p:nvSpPr>
          <p:cNvPr id="23" name="label-495"/>
          <p:cNvSpPr txBox="1"/>
          <p:nvPr/>
        </p:nvSpPr>
        <p:spPr>
          <a:xfrm>
            <a:off x="5486400" y="569671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github.com/eoinjordan/gb-studio-agent</a:t>
            </a:r>
            <a:endParaRPr lang="en-US" sz="11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first document, live (slide 10)</a:t>
            </a:r>
            <a:endParaRPr lang="en-US" sz="3200" dirty="0"/>
          </a:p>
        </p:txBody>
      </p:sp>
      <p:pic>
        <p:nvPicPr>
          <p:cNvPr id="3" name="Picture 2" descr="s10-first-document.png"/>
          <p:cNvPicPr>
            <a:picLocks noChangeAspect="1"/>
          </p:cNvPicPr>
          <p:nvPr/>
        </p:nvPicPr>
        <p:blipFill>
          <a:blip r:embed="rId2"/>
          <a:stretch>
            <a:fillRect/>
          </a:stretch>
        </p:blipFill>
        <p:spPr>
          <a:xfrm>
            <a:off x="640080" y="1417320"/>
            <a:ext cx="4955666" cy="4206240"/>
          </a:xfrm>
          <a:prstGeom prst="rect">
            <a:avLst/>
          </a:prstGeom>
        </p:spPr>
      </p:pic>
      <p:pic>
        <p:nvPicPr>
          <p:cNvPr id="4" name="Picture 3" descr="s12-index-explain.png"/>
          <p:cNvPicPr>
            <a:picLocks noChangeAspect="1"/>
          </p:cNvPicPr>
          <p:nvPr/>
        </p:nvPicPr>
        <p:blipFill>
          <a:blip r:embed="rId3"/>
          <a:stretch>
            <a:fillRect/>
          </a:stretch>
        </p:blipFill>
        <p:spPr>
          <a:xfrm>
            <a:off x="5870066" y="1417320"/>
            <a:ext cx="5318760" cy="2470977"/>
          </a:xfrm>
          <a:prstGeom prst="rect">
            <a:avLst/>
          </a:prstGeom>
        </p:spPr>
      </p:pic>
      <p:sp>
        <p:nvSpPr>
          <p:cNvPr id="5" name="capture-marker"/>
          <p:cNvSpPr txBox="1"/>
          <p:nvPr/>
        </p:nvSpPr>
        <p:spPr>
          <a:xfrm>
            <a:off x="640080" y="5760720"/>
            <a:ext cx="10911840" cy="457200"/>
          </a:xfrm>
          <a:prstGeom prst="rect">
            <a:avLst/>
          </a:prstGeom>
          <a:noFill/>
        </p:spPr>
        <p:txBody>
          <a:bodyPr wrap="square">
            <a:spAutoFit/>
          </a:bodyPr>
          <a:lstStyle/>
          <a:p>
            <a:r>
              <a:rPr sz="1300"/>
              <a:t>Left: db.runs.findOne() for run-1842 on the RUBIK Pi. Right: the two slide-12 questions with explain(): each hits its index, one key examined.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from polling to events, live (slide 14)</a:t>
            </a:r>
            <a:endParaRPr lang="en-US" sz="3200" dirty="0"/>
          </a:p>
        </p:txBody>
      </p:sp>
      <p:pic>
        <p:nvPicPr>
          <p:cNvPr id="3" name="Picture 2" descr="s14-change-stream.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complete.js updates the run; the change stream fires; the consumer resumes the agent by thread_id and saves its resume token.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consumer survives a restart (slide 25)</a:t>
            </a:r>
            <a:endParaRPr lang="en-US" sz="3200" dirty="0"/>
          </a:p>
        </p:txBody>
      </p:sp>
      <p:pic>
        <p:nvPicPr>
          <p:cNvPr id="3" name="Picture 2" descr="s14-resume-token.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The consumer is killed, the run fails while it is down, and the restarted consumer receives the missed event from the saved resume token.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memory has a half-life, live (slide 15)</a:t>
            </a:r>
            <a:endParaRPr lang="en-US" sz="3200" dirty="0"/>
          </a:p>
        </p:txBody>
      </p:sp>
      <p:sp>
        <p:nvSpPr>
          <p:cNvPr id="6" name="capture-marker"/>
          <p:cNvSpPr txBox="1"/>
          <p:nvPr/>
        </p:nvSpPr>
        <p:spPr>
          <a:xfrm>
            <a:off x="640080" y="6109662"/>
            <a:ext cx="10911840" cy="457200"/>
          </a:xfrm>
          <a:prstGeom prst="rect">
            <a:avLst/>
          </a:prstGeom>
          <a:noFill/>
        </p:spPr>
        <p:txBody>
          <a:bodyPr wrap="square">
            <a:spAutoFit/>
          </a:bodyPr>
          <a:lstStyle/>
          <a:p>
            <a:r>
              <a:rPr sz="1300"/>
              <a:t>Two sessions written with per-document expiresAt; a minute later the short one is gone and audit has no TTL. Right: the slide-17 structured query, embedding stored beside the fields.</a:t>
            </a:r>
          </a:p>
        </p:txBody>
      </p:sp>
      <p:pic>
        <p:nvPicPr>
          <p:cNvPr id="7" name="Picture 6" descr="image.png"/>
          <p:cNvPicPr>
            <a:picLocks noChangeAspect="1"/>
          </p:cNvPicPr>
          <p:nvPr/>
        </p:nvPicPr>
        <p:blipFill>
          <a:blip r:embed="rId2"/>
          <a:stretch>
            <a:fillRect/>
          </a:stretch>
        </p:blipFill>
        <p:spPr>
          <a:xfrm>
            <a:off x="640080" y="1371600"/>
            <a:ext cx="4754880" cy="2209011"/>
          </a:xfrm>
          <a:prstGeom prst="rect">
            <a:avLst/>
          </a:prstGeom>
        </p:spPr>
      </p:pic>
      <p:pic>
        <p:nvPicPr>
          <p:cNvPr id="8" name="Picture 7" descr="image.png"/>
          <p:cNvPicPr>
            <a:picLocks noChangeAspect="1"/>
          </p:cNvPicPr>
          <p:nvPr/>
        </p:nvPicPr>
        <p:blipFill>
          <a:blip r:embed="rId3"/>
          <a:stretch>
            <a:fillRect/>
          </a:stretch>
        </p:blipFill>
        <p:spPr>
          <a:xfrm>
            <a:off x="640080" y="3763491"/>
            <a:ext cx="4754880" cy="2209011"/>
          </a:xfrm>
          <a:prstGeom prst="rect">
            <a:avLst/>
          </a:prstGeom>
        </p:spPr>
      </p:pic>
      <p:pic>
        <p:nvPicPr>
          <p:cNvPr id="9" name="Picture 8" descr="image.png"/>
          <p:cNvPicPr>
            <a:picLocks noChangeAspect="1"/>
          </p:cNvPicPr>
          <p:nvPr/>
        </p:nvPicPr>
        <p:blipFill>
          <a:blip r:embed="rId4"/>
          <a:stretch>
            <a:fillRect/>
          </a:stretch>
        </p:blipFill>
        <p:spPr>
          <a:xfrm>
            <a:off x="5669280" y="1371600"/>
            <a:ext cx="5852160" cy="3367977"/>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guardrails are data, live (slide 18)</a:t>
            </a:r>
            <a:endParaRPr lang="en-US" sz="3200" dirty="0"/>
          </a:p>
        </p:txBody>
      </p:sp>
      <p:pic>
        <p:nvPicPr>
          <p:cNvPr id="3" name="Picture 2" descr="s18-guardrails.gif"/>
          <p:cNvPicPr>
            <a:picLocks noChangeAspect="1"/>
          </p:cNvPicPr>
          <p:nvPr/>
        </p:nvPicPr>
        <p:blipFill>
          <a:blip r:embed="rId2"/>
          <a:stretch>
            <a:fillRect/>
          </a:stretch>
        </p:blipFill>
        <p:spPr>
          <a:xfrm>
            <a:off x="640080" y="1417320"/>
            <a:ext cx="8666733" cy="4206240"/>
          </a:xfrm>
          <a:prstGeom prst="rect">
            <a:avLst/>
          </a:prstGeom>
        </p:spPr>
      </p:pic>
      <p:sp>
        <p:nvSpPr>
          <p:cNvPr id="4" name="capture-marker"/>
          <p:cNvSpPr txBox="1"/>
          <p:nvPr/>
        </p:nvSpPr>
        <p:spPr>
          <a:xfrm>
            <a:off x="640080" y="5760720"/>
            <a:ext cx="10911840" cy="457200"/>
          </a:xfrm>
          <a:prstGeom prst="rect">
            <a:avLst/>
          </a:prstGeom>
          <a:noFill/>
        </p:spPr>
        <p:txBody>
          <a:bodyPr wrap="square">
            <a:spAutoFit/>
          </a:bodyPr>
          <a:lstStyle/>
          <a:p>
            <a:r>
              <a:rPr sz="1300"/>
              <a:t>The agent proposes three actions. start_training is approved by policy, deploy_model is rejected because no policy permits it, delete_project is refused by the schema before any decision. Every decision is in audit.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toolbox, learned for this talk</a:t>
            </a:r>
            <a:endParaRPr lang="en-US" sz="3200" dirty="0"/>
          </a:p>
        </p:txBody>
      </p:sp>
      <p:sp>
        <p:nvSpPr>
          <p:cNvPr id="3" name="card-mongosh,"/>
          <p:cNvSpPr/>
          <p:nvPr/>
        </p:nvSpPr>
        <p:spPr>
          <a:xfrm>
            <a:off x="64008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abel-mongosh,"/>
          <p:cNvSpPr txBox="1"/>
          <p:nvPr/>
        </p:nvSpPr>
        <p:spPr>
          <a:xfrm>
            <a:off x="822960" y="1508760"/>
            <a:ext cx="3246120" cy="411480"/>
          </a:xfrm>
          <a:prstGeom prst="rect">
            <a:avLst/>
          </a:prstGeom>
          <a:noFill/>
        </p:spPr>
        <p:txBody>
          <a:bodyPr wrap="none">
            <a:spAutoFit/>
          </a:bodyPr>
          <a:lstStyle/>
          <a:p>
            <a:r>
              <a:rPr sz="1600" b="1">
                <a:solidFill>
                  <a:srgbClr val="00684A"/>
                </a:solidFill>
              </a:rPr>
              <a:t>mongosh, the shell</a:t>
            </a:r>
          </a:p>
        </p:txBody>
      </p:sp>
      <p:sp>
        <p:nvSpPr>
          <p:cNvPr id="5" name="lines-mongosh,"/>
          <p:cNvSpPr txBox="1"/>
          <p:nvPr/>
        </p:nvSpPr>
        <p:spPr>
          <a:xfrm>
            <a:off x="822960" y="2011680"/>
            <a:ext cx="3246120" cy="3474720"/>
          </a:xfrm>
          <a:prstGeom prst="rect">
            <a:avLst/>
          </a:prstGeom>
          <a:noFill/>
        </p:spPr>
        <p:txBody>
          <a:bodyPr wrap="square">
            <a:spAutoFit/>
          </a:bodyPr>
          <a:lstStyle/>
          <a:p>
            <a:pPr>
              <a:spcAft>
                <a:spcPts val="400"/>
              </a:spcAft>
            </a:pPr>
            <a:r>
              <a:rPr sz="1100">
                <a:solidFill>
                  <a:srgbClr val="1A1A1A"/>
                </a:solidFill>
                <a:latin typeface="Consolas"/>
              </a:rPr>
              <a:t>db.runs.findOne({ runId })</a:t>
            </a:r>
          </a:p>
          <a:p>
            <a:pPr>
              <a:spcAft>
                <a:spcPts val="400"/>
              </a:spcAft>
            </a:pPr>
            <a:r>
              <a:rPr sz="1100">
                <a:solidFill>
                  <a:srgbClr val="1A1A1A"/>
                </a:solidFill>
                <a:latin typeface="Consolas"/>
              </a:rPr>
              <a:t>createIndex({ projectId: 1, status: 1 })</a:t>
            </a:r>
          </a:p>
          <a:p>
            <a:pPr>
              <a:spcAft>
                <a:spcPts val="400"/>
              </a:spcAft>
            </a:pPr>
            <a:r>
              <a:rPr sz="1100">
                <a:solidFill>
                  <a:srgbClr val="1A1A1A"/>
                </a:solidFill>
                <a:latin typeface="Consolas"/>
              </a:rPr>
              <a:t>find(...).explain("executionStats")</a:t>
            </a:r>
          </a:p>
          <a:p>
            <a:pPr>
              <a:spcAft>
                <a:spcPts val="400"/>
              </a:spcAft>
            </a:pPr>
            <a:r>
              <a:rPr sz="1100">
                <a:solidFill>
                  <a:srgbClr val="1A1A1A"/>
                </a:solidFill>
                <a:latin typeface="Consolas"/>
              </a:rPr>
              <a:t>updateOne({ _id }, { $set: { status } })</a:t>
            </a:r>
          </a:p>
          <a:p>
            <a:pPr>
              <a:spcAft>
                <a:spcPts val="400"/>
              </a:spcAft>
            </a:pPr>
            <a:r>
              <a:rPr sz="1100">
                <a:solidFill>
                  <a:srgbClr val="1A1A1A"/>
                </a:solidFill>
                <a:latin typeface="Consolas"/>
              </a:rPr>
              <a:t>createCollection + expireAfterSeconds</a:t>
            </a:r>
          </a:p>
          <a:p>
            <a:pPr>
              <a:spcAft>
                <a:spcPts val="400"/>
              </a:spcAft>
            </a:pPr>
            <a:r>
              <a:rPr sz="1100">
                <a:solidFill>
                  <a:srgbClr val="1A1A1A"/>
                </a:solidFill>
                <a:latin typeface="Consolas"/>
              </a:rPr>
              <a:t>runs.watch([{ $match: ... }])</a:t>
            </a:r>
          </a:p>
          <a:p>
            <a:pPr>
              <a:spcAft>
                <a:spcPts val="400"/>
              </a:spcAft>
            </a:pPr>
            <a:r>
              <a:rPr sz="1100">
                <a:solidFill>
                  <a:srgbClr val="1A1A1A"/>
                </a:solidFill>
                <a:latin typeface="Consolas"/>
              </a:rPr>
              <a:t>aggregate([...]) over stored vectors</a:t>
            </a:r>
          </a:p>
        </p:txBody>
      </p:sp>
      <p:sp>
        <p:nvSpPr>
          <p:cNvPr id="6" name="card-python"/>
          <p:cNvSpPr/>
          <p:nvPr/>
        </p:nvSpPr>
        <p:spPr>
          <a:xfrm>
            <a:off x="438912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abel-python"/>
          <p:cNvSpPr txBox="1"/>
          <p:nvPr/>
        </p:nvSpPr>
        <p:spPr>
          <a:xfrm>
            <a:off x="4572000" y="1508760"/>
            <a:ext cx="3246120" cy="411480"/>
          </a:xfrm>
          <a:prstGeom prst="rect">
            <a:avLst/>
          </a:prstGeom>
          <a:noFill/>
        </p:spPr>
        <p:txBody>
          <a:bodyPr wrap="none">
            <a:spAutoFit/>
          </a:bodyPr>
          <a:lstStyle/>
          <a:p>
            <a:r>
              <a:rPr sz="1600" b="1">
                <a:solidFill>
                  <a:srgbClr val="00684A"/>
                </a:solidFill>
              </a:rPr>
              <a:t>Python</a:t>
            </a:r>
          </a:p>
        </p:txBody>
      </p:sp>
      <p:sp>
        <p:nvSpPr>
          <p:cNvPr id="8" name="lines-python"/>
          <p:cNvSpPr txBox="1"/>
          <p:nvPr/>
        </p:nvSpPr>
        <p:spPr>
          <a:xfrm>
            <a:off x="4572000" y="2011680"/>
            <a:ext cx="3246120" cy="3474720"/>
          </a:xfrm>
          <a:prstGeom prst="rect">
            <a:avLst/>
          </a:prstGeom>
          <a:noFill/>
        </p:spPr>
        <p:txBody>
          <a:bodyPr wrap="square">
            <a:spAutoFit/>
          </a:bodyPr>
          <a:lstStyle/>
          <a:p>
            <a:pPr>
              <a:spcAft>
                <a:spcPts val="400"/>
              </a:spcAft>
            </a:pPr>
            <a:r>
              <a:rPr sz="1100">
                <a:solidFill>
                  <a:srgbClr val="1A1A1A"/>
                </a:solidFill>
                <a:latin typeface="Consolas"/>
              </a:rPr>
              <a:t>pymongo: MongoClient, find_one, insert_one, update_one</a:t>
            </a:r>
          </a:p>
          <a:p>
            <a:pPr>
              <a:spcAft>
                <a:spcPts val="400"/>
              </a:spcAft>
            </a:pPr>
            <a:r>
              <a:rPr sz="1100">
                <a:solidFill>
                  <a:srgbClr val="1A1A1A"/>
                </a:solidFill>
                <a:latin typeface="Consolas"/>
              </a:rPr>
              <a:t>watch(pipeline, full_document="updateLookup",</a:t>
            </a:r>
          </a:p>
          <a:p>
            <a:pPr>
              <a:spcAft>
                <a:spcPts val="400"/>
              </a:spcAft>
            </a:pPr>
            <a:r>
              <a:rPr sz="1100">
                <a:solidFill>
                  <a:srgbClr val="1A1A1A"/>
                </a:solidFill>
                <a:latin typeface="Consolas"/>
              </a:rPr>
              <a:t>      resume_after=token)</a:t>
            </a:r>
          </a:p>
          <a:p>
            <a:pPr>
              <a:spcAft>
                <a:spcPts val="400"/>
              </a:spcAft>
            </a:pPr>
            <a:r>
              <a:rPr sz="1100">
                <a:solidFill>
                  <a:srgbClr val="1A1A1A"/>
                </a:solidFill>
                <a:latin typeface="Consolas"/>
              </a:rPr>
              <a:t>DuplicateKeyError as the idempotency check</a:t>
            </a:r>
          </a:p>
          <a:p>
            <a:pPr>
              <a:spcAft>
                <a:spcPts val="400"/>
              </a:spcAft>
            </a:pPr>
            <a:r>
              <a:rPr sz="1100">
                <a:solidFill>
                  <a:srgbClr val="1A1A1A"/>
                </a:solidFill>
                <a:latin typeface="Consolas"/>
              </a:rPr>
              <a:t>langgraph-checkpoint-mongodb: MongoDBSaver(thread_id),</a:t>
            </a:r>
          </a:p>
          <a:p>
            <a:pPr>
              <a:spcAft>
                <a:spcPts val="400"/>
              </a:spcAft>
            </a:pPr>
            <a:r>
              <a:rPr sz="1100">
                <a:solidFill>
                  <a:srgbClr val="1A1A1A"/>
                </a:solidFill>
                <a:latin typeface="Consolas"/>
              </a:rPr>
              <a:t>      MongoDBStore(namespace)</a:t>
            </a:r>
          </a:p>
          <a:p>
            <a:pPr>
              <a:spcAft>
                <a:spcPts val="400"/>
              </a:spcAft>
            </a:pPr>
            <a:r>
              <a:rPr sz="1100">
                <a:solidFill>
                  <a:srgbClr val="1A1A1A"/>
                </a:solidFill>
                <a:latin typeface="Consolas"/>
              </a:rPr>
              <a:t>langchain_openai: ChatOpenAI(base_url=local server)</a:t>
            </a:r>
          </a:p>
          <a:p>
            <a:pPr>
              <a:spcAft>
                <a:spcPts val="400"/>
              </a:spcAft>
            </a:pPr>
            <a:r>
              <a:rPr sz="1100">
                <a:solidFill>
                  <a:srgbClr val="1A1A1A"/>
                </a:solidFill>
                <a:latin typeface="Consolas"/>
              </a:rPr>
              <a:t>embeddings: voyage-3-lite, or bge-small on the Pi</a:t>
            </a:r>
          </a:p>
        </p:txBody>
      </p:sp>
      <p:sp>
        <p:nvSpPr>
          <p:cNvPr id="9" name="card-around"/>
          <p:cNvSpPr/>
          <p:nvPr/>
        </p:nvSpPr>
        <p:spPr>
          <a:xfrm>
            <a:off x="813816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label-around"/>
          <p:cNvSpPr txBox="1"/>
          <p:nvPr/>
        </p:nvSpPr>
        <p:spPr>
          <a:xfrm>
            <a:off x="8321040" y="1508760"/>
            <a:ext cx="3246120" cy="411480"/>
          </a:xfrm>
          <a:prstGeom prst="rect">
            <a:avLst/>
          </a:prstGeom>
          <a:noFill/>
        </p:spPr>
        <p:txBody>
          <a:bodyPr wrap="none">
            <a:spAutoFit/>
          </a:bodyPr>
          <a:lstStyle/>
          <a:p>
            <a:r>
              <a:rPr sz="1600" b="1">
                <a:solidFill>
                  <a:srgbClr val="00684A"/>
                </a:solidFill>
              </a:rPr>
              <a:t>Around it</a:t>
            </a:r>
          </a:p>
        </p:txBody>
      </p:sp>
      <p:sp>
        <p:nvSpPr>
          <p:cNvPr id="11" name="lines-around"/>
          <p:cNvSpPr txBox="1"/>
          <p:nvPr/>
        </p:nvSpPr>
        <p:spPr>
          <a:xfrm>
            <a:off x="8321040" y="2011680"/>
            <a:ext cx="3246120" cy="3474720"/>
          </a:xfrm>
          <a:prstGeom prst="rect">
            <a:avLst/>
          </a:prstGeom>
          <a:noFill/>
        </p:spPr>
        <p:txBody>
          <a:bodyPr wrap="square">
            <a:spAutoFit/>
          </a:bodyPr>
          <a:lstStyle/>
          <a:p>
            <a:pPr>
              <a:spcAft>
                <a:spcPts val="400"/>
              </a:spcAft>
            </a:pPr>
            <a:r>
              <a:rPr sz="1200">
                <a:solidFill>
                  <a:srgbClr val="1A1A1A"/>
                </a:solidFill>
              </a:rPr>
              <a:t>MongoDB MCP server + Agent Skills</a:t>
            </a:r>
          </a:p>
          <a:p>
            <a:pPr>
              <a:spcAft>
                <a:spcPts val="400"/>
              </a:spcAft>
            </a:pPr>
            <a:r>
              <a:rPr sz="1200">
                <a:solidFill>
                  <a:srgbClr val="1A1A1A"/>
                </a:solidFill>
              </a:rPr>
              <a:t>      npx skills add mongodb/agent-skills</a:t>
            </a:r>
          </a:p>
          <a:p>
            <a:pPr>
              <a:spcAft>
                <a:spcPts val="400"/>
              </a:spcAft>
            </a:pPr>
            <a:r>
              <a:rPr sz="1200">
                <a:solidFill>
                  <a:srgbClr val="1A1A1A"/>
                </a:solidFill>
              </a:rPr>
              <a:t>llama.cpp server on the Pi: OpenAI-compatible,</a:t>
            </a:r>
          </a:p>
          <a:p>
            <a:pPr>
              <a:spcAft>
                <a:spcPts val="400"/>
              </a:spcAft>
            </a:pPr>
            <a:r>
              <a:rPr sz="1200">
                <a:solidFill>
                  <a:srgbClr val="1A1A1A"/>
                </a:solidFill>
              </a:rPr>
              <a:t>      json_schema responses</a:t>
            </a:r>
          </a:p>
          <a:p>
            <a:pPr>
              <a:spcAft>
                <a:spcPts val="400"/>
              </a:spcAft>
            </a:pPr>
            <a:r>
              <a:rPr sz="1200">
                <a:solidFill>
                  <a:srgbClr val="1A1A1A"/>
                </a:solidFill>
              </a:rPr>
              <a:t>MongoDBSimCity: what the server does underneath</a:t>
            </a:r>
          </a:p>
          <a:p>
            <a:pPr>
              <a:spcAft>
                <a:spcPts val="400"/>
              </a:spcAft>
            </a:pPr>
            <a:r>
              <a:rPr sz="1200">
                <a:solidFill>
                  <a:srgbClr val="1A1A1A"/>
                </a:solidFill>
              </a:rPr>
              <a:t>mongosh scripts in demo/, Python consumers beside them</a:t>
            </a:r>
          </a:p>
        </p:txBody>
      </p:sp>
      <p:sp>
        <p:nvSpPr>
          <p:cNvPr id="12" name="label-foot"/>
          <p:cNvSpPr txBox="1"/>
          <p:nvPr/>
        </p:nvSpPr>
        <p:spPr>
          <a:xfrm>
            <a:off x="640080" y="5715000"/>
            <a:ext cx="10881360" cy="548640"/>
          </a:xfrm>
          <a:prstGeom prst="rect">
            <a:avLst/>
          </a:prstGeom>
          <a:noFill/>
        </p:spPr>
        <p:txBody>
          <a:bodyPr wrap="square">
            <a:spAutoFit/>
          </a:bodyPr>
          <a:lstStyle/>
          <a:p>
            <a:r>
              <a:rPr sz="1300" i="1">
                <a:solidFill>
                  <a:srgbClr val="5C6670"/>
                </a:solidFill>
              </a:rPr>
              <a:t>New to me three weeks before this talk: mongosh, PyMongo, the LangGraph MongoDB checkpointer. Every demo is the first thing I wrote with each of them.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same design on a bottling line</a:t>
            </a:r>
            <a:endParaRPr lang="en-US" sz="3200" dirty="0"/>
          </a:p>
        </p:txBody>
      </p:sp>
      <p:pic>
        <p:nvPicPr>
          <p:cNvPr id="3" name="shot-factory-dashboard" descr="dashboard.png"/>
          <p:cNvPicPr>
            <a:picLocks noChangeAspect="1"/>
          </p:cNvPicPr>
          <p:nvPr/>
        </p:nvPicPr>
        <p:blipFill>
          <a:blip r:embed="rId2"/>
          <a:stretch>
            <a:fillRect/>
          </a:stretch>
        </p:blipFill>
        <p:spPr>
          <a:xfrm>
            <a:off x="640080" y="1325880"/>
            <a:ext cx="7589520" cy="3605022"/>
          </a:xfrm>
          <a:prstGeom prst="rect">
            <a:avLst/>
          </a:prstGeom>
        </p:spPr>
      </p:pic>
      <p:pic>
        <p:nvPicPr>
          <p:cNvPr id="4" name="shot-factory-belt" descr="unity-belt.png"/>
          <p:cNvPicPr>
            <a:picLocks noChangeAspect="1"/>
          </p:cNvPicPr>
          <p:nvPr/>
        </p:nvPicPr>
        <p:blipFill>
          <a:blip r:embed="rId3"/>
          <a:stretch>
            <a:fillRect/>
          </a:stretch>
        </p:blipFill>
        <p:spPr>
          <a:xfrm>
            <a:off x="8412480" y="1325880"/>
            <a:ext cx="3291840" cy="1851660"/>
          </a:xfrm>
          <a:prstGeom prst="rect">
            <a:avLst/>
          </a:prstGeom>
        </p:spPr>
      </p:pic>
      <p:sp>
        <p:nvSpPr>
          <p:cNvPr id="5" name="label-factory"/>
          <p:cNvSpPr txBox="1"/>
          <p:nvPr/>
        </p:nvSpPr>
        <p:spPr>
          <a:xfrm>
            <a:off x="8412480" y="3314700"/>
            <a:ext cx="3291840" cy="2194560"/>
          </a:xfrm>
          <a:prstGeom prst="rect">
            <a:avLst/>
          </a:prstGeom>
          <a:noFill/>
        </p:spPr>
        <p:txBody>
          <a:bodyPr wrap="square">
            <a:spAutoFit/>
          </a:bodyPr>
          <a:lstStyle/>
          <a:p>
            <a:pPr>
              <a:spcAft>
                <a:spcPts val="600"/>
              </a:spcAft>
            </a:pPr>
            <a:r>
              <a:rPr sz="1300">
                <a:solidFill>
                  <a:srgbClr val="1A1A1A"/>
                </a:solidFill>
              </a:rPr>
              <a:t>Camera and model write events. The agent proposes. The governor decides from the device's own evidence. The executor fires only on an approval.</a:t>
            </a:r>
          </a:p>
          <a:p>
            <a:pPr>
              <a:spcAft>
                <a:spcPts val="600"/>
              </a:spcAft>
            </a:pPr>
            <a:r>
              <a:rPr sz="1300">
                <a:solidFill>
                  <a:srgbClr val="1A1A1A"/>
                </a:solidFill>
              </a:rPr>
              <a:t>Same collections, same policy gate, hardware on the end: a reject gate instead of a training job.</a:t>
            </a:r>
          </a:p>
        </p:txBody>
      </p:sp>
      <p:sp>
        <p:nvSpPr>
          <p:cNvPr id="5" name="capture-marker"/>
          <p:cNvSpPr txBox="1"/>
          <p:nvPr/>
        </p:nvSpPr>
        <p:spPr>
          <a:xfrm>
            <a:off x="640080" y="5068062"/>
            <a:ext cx="10911840" cy="457200"/>
          </a:xfrm>
          <a:prstGeom prst="rect">
            <a:avLst/>
          </a:prstGeom>
          <a:noFill/>
        </p:spPr>
        <p:txBody>
          <a:bodyPr wrap="square">
            <a:spAutoFit/>
          </a:bodyPr>
          <a:lstStyle/>
          <a:p>
            <a:r>
              <a:rPr sz="1300"/>
              <a:t>The factory version of this talk, running on the same RUBIK Pi: bottles with a bad cap on the Unity factory-floor belt, a 3B model proposing, MongoDB deciding. Repo on request.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full disclosure</a:t>
            </a:r>
            <a:endParaRPr lang="en-US" sz="3200" dirty="0"/>
          </a:p>
        </p:txBody>
      </p:sp>
      <p:sp>
        <p:nvSpPr>
          <p:cNvPr id="3" name="card-what"/>
          <p:cNvSpPr/>
          <p:nvPr/>
        </p:nvSpPr>
        <p:spPr>
          <a:xfrm>
            <a:off x="640080" y="1371600"/>
            <a:ext cx="3611880" cy="356616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abel-what"/>
          <p:cNvSpPr txBox="1"/>
          <p:nvPr/>
        </p:nvSpPr>
        <p:spPr>
          <a:xfrm>
            <a:off x="822960" y="1481328"/>
            <a:ext cx="3246120" cy="411480"/>
          </a:xfrm>
          <a:prstGeom prst="rect">
            <a:avLst/>
          </a:prstGeom>
          <a:noFill/>
        </p:spPr>
        <p:txBody>
          <a:bodyPr wrap="none">
            <a:spAutoFit/>
          </a:bodyPr>
          <a:lstStyle/>
          <a:p>
            <a:r>
              <a:rPr sz="1600" b="1">
                <a:solidFill>
                  <a:srgbClr val="00684A"/>
                </a:solidFill>
              </a:rPr>
              <a:t>What I know well</a:t>
            </a:r>
          </a:p>
        </p:txBody>
      </p:sp>
      <p:sp>
        <p:nvSpPr>
          <p:cNvPr id="5" name="lines-what"/>
          <p:cNvSpPr txBox="1"/>
          <p:nvPr/>
        </p:nvSpPr>
        <p:spPr>
          <a:xfrm>
            <a:off x="822960" y="1965960"/>
            <a:ext cx="3246120" cy="2926080"/>
          </a:xfrm>
          <a:prstGeom prst="rect">
            <a:avLst/>
          </a:prstGeom>
          <a:noFill/>
        </p:spPr>
        <p:txBody>
          <a:bodyPr wrap="square">
            <a:spAutoFit/>
          </a:bodyPr>
          <a:lstStyle/>
          <a:p>
            <a:pPr>
              <a:spcAft>
                <a:spcPts val="500"/>
              </a:spcAft>
            </a:pPr>
            <a:r>
              <a:rPr sz="1200">
                <a:solidFill>
                  <a:srgbClr val="1A1A1A"/>
                </a:solidFill>
              </a:rPr>
              <a:t>Agents that call tools, and MCP servers: the write-up this talk started from</a:t>
            </a:r>
          </a:p>
          <a:p>
            <a:pPr>
              <a:spcAft>
                <a:spcPts val="500"/>
              </a:spcAft>
            </a:pPr>
            <a:r>
              <a:rPr sz="1200">
                <a:solidFill>
                  <a:srgbClr val="1A1A1A"/>
                </a:solidFill>
              </a:rPr>
              <a:t>ML on small devices: four years at Edge Impulse, now Qualcomm, on this very board</a:t>
            </a:r>
          </a:p>
          <a:p>
            <a:pPr>
              <a:spcAft>
                <a:spcPts val="500"/>
              </a:spcAft>
            </a:pPr>
            <a:r>
              <a:rPr sz="1200">
                <a:solidFill>
                  <a:srgbClr val="1A1A1A"/>
                </a:solidFill>
              </a:rPr>
              <a:t>Distributed systems: eight years at IBM Galway, five as technical lead</a:t>
            </a:r>
          </a:p>
          <a:p>
            <a:pPr>
              <a:spcAft>
                <a:spcPts val="500"/>
              </a:spcAft>
            </a:pPr>
            <a:r>
              <a:rPr sz="1200">
                <a:solidFill>
                  <a:srgbClr val="1A1A1A"/>
                </a:solidFill>
              </a:rPr>
              <a:t>Semantics and knowledge graphs: the PhD, and why slide 17 matters to me</a:t>
            </a:r>
          </a:p>
        </p:txBody>
      </p:sp>
      <p:sp>
        <p:nvSpPr>
          <p:cNvPr id="6" name="card-three"/>
          <p:cNvSpPr/>
          <p:nvPr/>
        </p:nvSpPr>
        <p:spPr>
          <a:xfrm>
            <a:off x="4389120" y="1371600"/>
            <a:ext cx="3611880" cy="356616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abel-three"/>
          <p:cNvSpPr txBox="1"/>
          <p:nvPr/>
        </p:nvSpPr>
        <p:spPr>
          <a:xfrm>
            <a:off x="4572000" y="1481328"/>
            <a:ext cx="3246120" cy="411480"/>
          </a:xfrm>
          <a:prstGeom prst="rect">
            <a:avLst/>
          </a:prstGeom>
          <a:noFill/>
        </p:spPr>
        <p:txBody>
          <a:bodyPr wrap="none">
            <a:spAutoFit/>
          </a:bodyPr>
          <a:lstStyle/>
          <a:p>
            <a:r>
              <a:rPr sz="1600" b="1">
                <a:solidFill>
                  <a:srgbClr val="00684A"/>
                </a:solidFill>
              </a:rPr>
              <a:t>Three weeks old</a:t>
            </a:r>
          </a:p>
        </p:txBody>
      </p:sp>
      <p:sp>
        <p:nvSpPr>
          <p:cNvPr id="8" name="lines-three"/>
          <p:cNvSpPr txBox="1"/>
          <p:nvPr/>
        </p:nvSpPr>
        <p:spPr>
          <a:xfrm>
            <a:off x="4572000" y="1965960"/>
            <a:ext cx="3246120" cy="2926080"/>
          </a:xfrm>
          <a:prstGeom prst="rect">
            <a:avLst/>
          </a:prstGeom>
          <a:noFill/>
        </p:spPr>
        <p:txBody>
          <a:bodyPr wrap="square">
            <a:spAutoFit/>
          </a:bodyPr>
          <a:lstStyle/>
          <a:p>
            <a:pPr>
              <a:spcAft>
                <a:spcPts val="500"/>
              </a:spcAft>
            </a:pPr>
            <a:r>
              <a:rPr sz="1200">
                <a:solidFill>
                  <a:srgbClr val="1A1A1A"/>
                </a:solidFill>
              </a:rPr>
              <a:t>mongosh and PyMongo, first used for this talk</a:t>
            </a:r>
          </a:p>
          <a:p>
            <a:pPr>
              <a:spcAft>
                <a:spcPts val="500"/>
              </a:spcAft>
            </a:pPr>
            <a:r>
              <a:rPr sz="1200">
                <a:solidFill>
                  <a:srgbClr val="1A1A1A"/>
                </a:solidFill>
              </a:rPr>
              <a:t>Change streams with resume tokens, in anger rather than in the docs</a:t>
            </a:r>
          </a:p>
          <a:p>
            <a:pPr>
              <a:spcAft>
                <a:spcPts val="500"/>
              </a:spcAft>
            </a:pPr>
            <a:r>
              <a:rPr sz="1200">
                <a:solidFill>
                  <a:srgbClr val="1A1A1A"/>
                </a:solidFill>
              </a:rPr>
              <a:t>Time series, TTL, schema validation and roles as a working set</a:t>
            </a:r>
          </a:p>
          <a:p>
            <a:pPr>
              <a:spcAft>
                <a:spcPts val="500"/>
              </a:spcAft>
            </a:pPr>
            <a:r>
              <a:rPr sz="1200">
                <a:solidFill>
                  <a:srgbClr val="1A1A1A"/>
                </a:solidFill>
              </a:rPr>
              <a:t>The LangGraph MongoDB checkpointer and store</a:t>
            </a:r>
          </a:p>
          <a:p>
            <a:pPr>
              <a:spcAft>
                <a:spcPts val="500"/>
              </a:spcAft>
            </a:pPr>
            <a:r>
              <a:rPr sz="1200">
                <a:solidFill>
                  <a:srgbClr val="1A1A1A"/>
                </a:solidFill>
              </a:rPr>
              <a:t>Two skill badges this month; Schema Design Patterns in progress</a:t>
            </a:r>
          </a:p>
        </p:txBody>
      </p:sp>
      <p:sp>
        <p:nvSpPr>
          <p:cNvPr id="9" name="card-what"/>
          <p:cNvSpPr/>
          <p:nvPr/>
        </p:nvSpPr>
        <p:spPr>
          <a:xfrm>
            <a:off x="8138160" y="1371600"/>
            <a:ext cx="3611880" cy="356616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label-what"/>
          <p:cNvSpPr txBox="1"/>
          <p:nvPr/>
        </p:nvSpPr>
        <p:spPr>
          <a:xfrm>
            <a:off x="8321040" y="1481328"/>
            <a:ext cx="3246120" cy="411480"/>
          </a:xfrm>
          <a:prstGeom prst="rect">
            <a:avLst/>
          </a:prstGeom>
          <a:noFill/>
        </p:spPr>
        <p:txBody>
          <a:bodyPr wrap="none">
            <a:spAutoFit/>
          </a:bodyPr>
          <a:lstStyle/>
          <a:p>
            <a:r>
              <a:rPr sz="1600" b="1">
                <a:solidFill>
                  <a:srgbClr val="00684A"/>
                </a:solidFill>
              </a:rPr>
              <a:t>What I have not done</a:t>
            </a:r>
          </a:p>
        </p:txBody>
      </p:sp>
      <p:sp>
        <p:nvSpPr>
          <p:cNvPr id="11" name="lines-what"/>
          <p:cNvSpPr txBox="1"/>
          <p:nvPr/>
        </p:nvSpPr>
        <p:spPr>
          <a:xfrm>
            <a:off x="8321040" y="1965960"/>
            <a:ext cx="3246120" cy="2926080"/>
          </a:xfrm>
          <a:prstGeom prst="rect">
            <a:avLst/>
          </a:prstGeom>
          <a:noFill/>
        </p:spPr>
        <p:txBody>
          <a:bodyPr wrap="square">
            <a:spAutoFit/>
          </a:bodyPr>
          <a:lstStyle/>
          <a:p>
            <a:pPr>
              <a:spcAft>
                <a:spcPts val="500"/>
              </a:spcAft>
            </a:pPr>
            <a:r>
              <a:rPr sz="1200">
                <a:solidFill>
                  <a:srgbClr val="1A1A1A"/>
                </a:solidFill>
              </a:rPr>
              <a:t>Run this beyond one board: no fleet, no sharded cluster in production</a:t>
            </a:r>
          </a:p>
          <a:p>
            <a:pPr>
              <a:spcAft>
                <a:spcPts val="500"/>
              </a:spcAft>
            </a:pPr>
            <a:r>
              <a:rPr sz="1200">
                <a:solidFill>
                  <a:srgbClr val="1A1A1A"/>
                </a:solidFill>
              </a:rPr>
              <a:t>Atlas Vector Search with mongot; on the Pi similarity is an aggregation</a:t>
            </a:r>
          </a:p>
          <a:p>
            <a:pPr>
              <a:spcAft>
                <a:spcPts val="500"/>
              </a:spcAft>
            </a:pPr>
            <a:r>
              <a:rPr sz="1200">
                <a:solidFill>
                  <a:srgbClr val="1A1A1A"/>
                </a:solidFill>
              </a:rPr>
              <a:t>Tuned WiredTiger for real load; SimCity is a model, not a benchmark</a:t>
            </a:r>
          </a:p>
          <a:p>
            <a:pPr>
              <a:spcAft>
                <a:spcPts val="500"/>
              </a:spcAft>
            </a:pPr>
            <a:r>
              <a:rPr sz="1200">
                <a:solidFill>
                  <a:srgbClr val="1A1A1A"/>
                </a:solidFill>
              </a:rPr>
              <a:t>Where any of this matters to your question, I will say so</a:t>
            </a:r>
          </a:p>
        </p:txBody>
      </p:sp>
      <p:sp>
        <p:nvSpPr>
          <p:cNvPr id="12" name="label-purpose"/>
          <p:cNvSpPr txBox="1"/>
          <p:nvPr/>
        </p:nvSpPr>
        <p:spPr>
          <a:xfrm>
            <a:off x="640080" y="5120640"/>
            <a:ext cx="10881360" cy="1097280"/>
          </a:xfrm>
          <a:prstGeom prst="rect">
            <a:avLst/>
          </a:prstGeom>
          <a:noFill/>
        </p:spPr>
        <p:txBody>
          <a:bodyPr wrap="square">
            <a:spAutoFit/>
          </a:bodyPr>
          <a:lstStyle/>
          <a:p>
            <a:pPr>
              <a:spcAft>
                <a:spcPts val="300"/>
              </a:spcAft>
            </a:pPr>
            <a:r>
              <a:rPr sz="1300" b="1">
                <a:solidFill>
                  <a:srgbClr val="5C6670"/>
                </a:solidFill>
              </a:rPr>
              <a:t>Why this exercise: </a:t>
            </a:r>
            <a:r>
              <a:rPr sz="1300" b="0">
                <a:solidFill>
                  <a:srgbClr val="5C6670"/>
                </a:solidFill>
              </a:rPr>
              <a:t>the brief asked for a teaching session on an advanced database topic, connected to MongoDB, for engineers new to it. I picked the problem I actually hit, an agent that could not say what it did five minutes ago, and learned the MongoDB side to answer it. Everything shown runs on the Pi on the desk and is in the repo; the claims are the ones I could test.</a:t>
            </a:r>
          </a:p>
        </p:txBody>
      </p:sp>
    </p:spTree>
  </p:cSld>
  <p:clrMapOvr>
    <a:masterClrMapping/>
  </p:clrMapOvr>
</p:sld>
</file>

<file path=ppt/theme/theme1.xml><?xml version="1.0" encoding="utf-8"?>
<a:theme xmlns:a="http://schemas.openxmlformats.org/drawingml/2006/main" name="Restrained Duarte">
  <a:themeElements>
    <a:clrScheme name="Restrained Duarte">
      <a:dk1>
        <a:srgbClr val="1A1A1A"/>
      </a:dk1>
      <a:lt1>
        <a:srgbClr val="FFFFFF"/>
      </a:lt1>
      <a:dk2>
        <a:srgbClr val="5C6670"/>
      </a:dk2>
      <a:lt2>
        <a:srgbClr val="F3F6F4"/>
      </a:lt2>
      <a:accent1>
        <a:srgbClr val="00684A"/>
      </a:accent1>
      <a:accent2>
        <a:srgbClr val="00ED64"/>
      </a:accent2>
      <a:accent3>
        <a:srgbClr val="E3FCF0"/>
      </a:accent3>
      <a:accent4>
        <a:srgbClr val="C9CFCD"/>
      </a:accent4>
      <a:accent5>
        <a:srgbClr val="8A949A"/>
      </a:accent5>
      <a:accent6>
        <a:srgbClr val="001E2B"/>
      </a:accent6>
      <a:hlink>
        <a:srgbClr val="00684A"/>
      </a:hlink>
      <a:folHlink>
        <a:srgbClr val="5C6670"/>
      </a:folHlink>
    </a:clrScheme>
    <a:fontScheme name="Restrained Duar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 Can Call the API. Now What?</dc:title>
  <dc:subject>PptxGenJS Presentation</dc:subject>
  <dc:creator>Eoin Jordan</dc:creator>
  <cp:lastModifiedBy>Eoin Jordan</cp:lastModifiedBy>
  <cp:revision>1</cp:revision>
  <dcterms:created xsi:type="dcterms:W3CDTF">2026-10-14T12:41:37Z</dcterms:created>
  <dcterms:modified xsi:type="dcterms:W3CDTF">2026-10-14T12:41:37Z</dcterms:modified>
</cp:coreProperties>
</file>